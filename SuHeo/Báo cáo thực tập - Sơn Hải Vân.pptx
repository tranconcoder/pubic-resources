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c_additive_w.svg" ContentType="image/svg+xml"/>
  <Override PartName="/ppt/media/ic_adhesion_w.svg" ContentType="image/svg+xml"/>
  <Override PartName="/ppt/media/ic_chemical_glove_g.svg" ContentType="image/svg+xml"/>
  <Override PartName="/ppt/media/ic_company_w.svg" ContentType="image/svg+xml"/>
  <Override PartName="/ppt/media/ic_customers_w.svg" ContentType="image/svg+xml"/>
  <Override PartName="/ppt/media/ic_danh_paste_g.svg" ContentType="image/svg+xml"/>
  <Override PartName="/ppt/media/ic_danh_paste_w.svg" ContentType="image/svg+xml"/>
  <Override PartName="/ppt/media/ic_dinh_luong_g.svg" ContentType="image/svg+xml"/>
  <Override PartName="/ppt/media/ic_dinh_luong_w.svg" ContentType="image/svg+xml"/>
  <Override PartName="/ppt/media/ic_factory_g.svg" ContentType="image/svg+xml"/>
  <Override PartName="/ppt/media/ic_flame_g.svg" ContentType="image/svg+xml"/>
  <Override PartName="/ppt/media/ic_gasmask_g.svg" ContentType="image/svg+xml"/>
  <Override PartName="/ppt/media/ic_gear_proc_g.svg" ContentType="image/svg+xml"/>
  <Override PartName="/ppt/media/ic_gear_proc_w.svg" ContentType="image/svg+xml"/>
  <Override PartName="/ppt/media/ic_grad_check_g.svg" ContentType="image/svg+xml"/>
  <Override PartName="/ppt/media/ic_history_clock_g.svg" ContentType="image/svg+xml"/>
  <Override PartName="/ppt/media/ic_loc_donggoi_g.svg" ContentType="image/svg+xml"/>
  <Override PartName="/ppt/media/ic_loc_donggoi_w.svg" ContentType="image/svg+xml"/>
  <Override PartName="/ppt/media/ic_materials_w.svg" ContentType="image/svg+xml"/>
  <Override PartName="/ppt/media/ic_microscope_w.svg" ContentType="image/svg+xml"/>
  <Override PartName="/ppt/media/ic_ngam_u_g.svg" ContentType="image/svg+xml"/>
  <Override PartName="/ppt/media/ic_ngam_u_w.svg" ContentType="image/svg+xml"/>
  <Override PartName="/ppt/media/ic_nghien_min_g.svg" ContentType="image/svg+xml"/>
  <Override PartName="/ppt/media/ic_nghien_min_w.svg" ContentType="image/svg+xml"/>
  <Override PartName="/ppt/media/ic_org_chart_w.svg" ContentType="image/svg+xml"/>
  <Override PartName="/ppt/media/ic_paint_can_g.svg" ContentType="image/svg+xml"/>
  <Override PartName="/ppt/media/ic_palette_g.svg" ContentType="image/svg+xml"/>
  <Override PartName="/ppt/media/ic_pha_loang_g.svg" ContentType="image/svg+xml"/>
  <Override PartName="/ppt/media/ic_pha_loang_w.svg" ContentType="image/svg+xml"/>
  <Override PartName="/ppt/media/ic_pigment_g.svg" ContentType="image/svg+xml"/>
  <Override PartName="/ppt/media/ic_qr_code_g.svg" ContentType="image/svg+xml"/>
  <Override PartName="/ppt/media/ic_quality_check_w.svg" ContentType="image/svg+xml"/>
  <Override PartName="/ppt/media/ic_resin_w.svg" ContentType="image/svg+xml"/>
  <Override PartName="/ppt/media/ic_safety_shield_w.svg" ContentType="image/svg+xml"/>
  <Override PartName="/ppt/media/ic_salt_spray_w.svg" ContentType="image/svg+xml"/>
  <Override PartName="/ppt/media/ic_smoke_air_w.svg" ContentType="image/svg+xml"/>
  <Override PartName="/ppt/media/ic_solid_waste_w.svg" ContentType="image/svg+xml"/>
  <Override PartName="/ppt/media/ic_solvent_w.svg" ContentType="image/svg+xml"/>
  <Override PartName="/ppt/media/ic_stopwatch_w.svg" ContentType="image/svg+xml"/>
  <Override PartName="/ppt/media/ic_sun_uv_w.svg" ContentType="image/svg+xml"/>
  <Override PartName="/ppt/media/ic_target_w.svg" ContentType="image/svg+xml"/>
  <Override PartName="/ppt/media/ic_warning_tri_g.svg" ContentType="image/svg+xml"/>
  <Override PartName="/ppt/media/ic_water_waste_w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c_company_w.svg"/><Relationship Id="rId10" Type="http://schemas.openxmlformats.org/officeDocument/2006/relationships/image" Target="../media/ic_gear_proc_w.svg"/><Relationship Id="rId11" Type="http://schemas.openxmlformats.org/officeDocument/2006/relationships/image" Target="../media/ic_materials_w.svg"/><Relationship Id="rId12" Type="http://schemas.openxmlformats.org/officeDocument/2006/relationships/image" Target="../media/ic_quality_check_w.svg"/><Relationship Id="rId13" Type="http://schemas.openxmlformats.org/officeDocument/2006/relationships/image" Target="../media/ic_safety_shield_w.svg"/><Relationship Id="rId14" Type="http://schemas.openxmlformats.org/officeDocument/2006/relationships/image" Target="../media/ic_warning_tri_g.svg"/><Relationship Id="rId15" Type="http://schemas.openxmlformats.org/officeDocument/2006/relationships/image" Target="../media/ic_company_w.svg"/><Relationship Id="rId16" Type="http://schemas.openxmlformats.org/officeDocument/2006/relationships/image" Target="../media/ic_gear_proc_w.svg"/><Relationship Id="rId17" Type="http://schemas.openxmlformats.org/officeDocument/2006/relationships/image" Target="../media/ic_materials_w.svg"/><Relationship Id="rId18" Type="http://schemas.openxmlformats.org/officeDocument/2006/relationships/image" Target="../media/ic_quality_check_w.svg"/><Relationship Id="rId19" Type="http://schemas.openxmlformats.org/officeDocument/2006/relationships/image" Target="../media/ic_safety_shield_w.svg"/><Relationship Id="rId20" Type="http://schemas.openxmlformats.org/officeDocument/2006/relationships/image" Target="../media/ic_warning_tri_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c_factory_g.svg"/><Relationship Id="rId7" Type="http://schemas.openxmlformats.org/officeDocument/2006/relationships/image" Target="../media/ic_history_clock_g.svg"/><Relationship Id="rId8" Type="http://schemas.openxmlformats.org/officeDocument/2006/relationships/image" Target="../media/ic_paint_can_g.svg"/><Relationship Id="rId9" Type="http://schemas.openxmlformats.org/officeDocument/2006/relationships/image" Target="../media/ic_factory_g.svg"/><Relationship Id="rId10" Type="http://schemas.openxmlformats.org/officeDocument/2006/relationships/image" Target="../media/ic_history_clock_g.svg"/><Relationship Id="rId11" Type="http://schemas.openxmlformats.org/officeDocument/2006/relationships/image" Target="../media/ic_paint_can_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c_customers_w.svg"/><Relationship Id="rId6" Type="http://schemas.openxmlformats.org/officeDocument/2006/relationships/image" Target="../media/ic_org_chart_w.svg"/><Relationship Id="rId7" Type="http://schemas.openxmlformats.org/officeDocument/2006/relationships/image" Target="../media/ic_target_w.svg"/><Relationship Id="rId8" Type="http://schemas.openxmlformats.org/officeDocument/2006/relationships/image" Target="../media/ic_customers_w.svg"/><Relationship Id="rId9" Type="http://schemas.openxmlformats.org/officeDocument/2006/relationships/image" Target="../media/ic_org_chart_w.svg"/><Relationship Id="rId10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c_additive_w.svg"/><Relationship Id="rId7" Type="http://schemas.openxmlformats.org/officeDocument/2006/relationships/image" Target="../media/ic_pigment_g.svg"/><Relationship Id="rId8" Type="http://schemas.openxmlformats.org/officeDocument/2006/relationships/image" Target="../media/ic_resin_w.svg"/><Relationship Id="rId9" Type="http://schemas.openxmlformats.org/officeDocument/2006/relationships/image" Target="../media/ic_solvent_w.sv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c_additive_w.svg"/><Relationship Id="rId15" Type="http://schemas.openxmlformats.org/officeDocument/2006/relationships/image" Target="../media/ic_chart7_bot.svg"/><Relationship Id="rId16" Type="http://schemas.openxmlformats.org/officeDocument/2006/relationships/image" Target="../media/ic_chart7_dungmoi.svg"/><Relationship Id="rId17" Type="http://schemas.openxmlformats.org/officeDocument/2006/relationships/image" Target="../media/ic_chart7_nhua.svg"/><Relationship Id="rId18" Type="http://schemas.openxmlformats.org/officeDocument/2006/relationships/image" Target="../media/ic_chart7_phugia.svg"/><Relationship Id="rId19" Type="http://schemas.openxmlformats.org/officeDocument/2006/relationships/image" Target="../media/ic_pigment_g.svg"/><Relationship Id="rId20" Type="http://schemas.openxmlformats.org/officeDocument/2006/relationships/image" Target="../media/ic_resin_w.svg"/><Relationship Id="rId21" Type="http://schemas.openxmlformats.org/officeDocument/2006/relationships/image" Target="../media/ic_solven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c_chart8_beo.svg"/><Relationship Id="rId6" Type="http://schemas.openxmlformats.org/officeDocument/2006/relationships/image" Target="../media/ic_chart8_gay.svg"/><Relationship Id="rId7" Type="http://schemas.openxmlformats.org/officeDocument/2006/relationships/image" Target="../media/ic_chart8_trung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c_danh_paste_g.svg"/><Relationship Id="rId9" Type="http://schemas.openxmlformats.org/officeDocument/2006/relationships/image" Target="../media/ic_dinh_luong_g.svg"/><Relationship Id="rId10" Type="http://schemas.openxmlformats.org/officeDocument/2006/relationships/image" Target="../media/ic_loc_donggoi_g.svg"/><Relationship Id="rId11" Type="http://schemas.openxmlformats.org/officeDocument/2006/relationships/image" Target="../media/ic_ngam_u_g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g.svg"/><Relationship Id="rId14" Type="http://schemas.openxmlformats.org/officeDocument/2006/relationships/image" Target="../media/ic_danh_paste_g.svg"/><Relationship Id="rId15" Type="http://schemas.openxmlformats.org/officeDocument/2006/relationships/image" Target="../media/ic_dinh_luong_g.svg"/><Relationship Id="rId16" Type="http://schemas.openxmlformats.org/officeDocument/2006/relationships/image" Target="../media/ic_loc_donggoi_g.svg"/><Relationship Id="rId17" Type="http://schemas.openxmlformats.org/officeDocument/2006/relationships/image" Target="../media/ic_ngam_u_g.svg"/><Relationship Id="rId18" Type="http://schemas.openxmlformats.org/officeDocument/2006/relationships/image" Target="../media/ic_nghien_min_g.svg"/><Relationship Id="rId19" Type="http://schemas.openxmlformats.org/officeDocument/2006/relationships/image" Target="../media/ic_pha_loang_g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c_danh_paste_w.svg"/><Relationship Id="rId9" Type="http://schemas.openxmlformats.org/officeDocument/2006/relationships/image" Target="../media/ic_dinh_luong_w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nghien_min_g.svg"/><Relationship Id="rId13" Type="http://schemas.openxmlformats.org/officeDocument/2006/relationships/image" Target="../media/ic_pha_loang_w.svg"/><Relationship Id="rId14" Type="http://schemas.openxmlformats.org/officeDocument/2006/relationships/image" Target="../media/ic_danh_paste_w.svg"/><Relationship Id="rId15" Type="http://schemas.openxmlformats.org/officeDocument/2006/relationships/image" Target="../media/ic_dinh_luong_w.svg"/><Relationship Id="rId16" Type="http://schemas.openxmlformats.org/officeDocument/2006/relationships/image" Target="../media/ic_loc_donggoi_w.svg"/><Relationship Id="rId17" Type="http://schemas.openxmlformats.org/officeDocument/2006/relationships/image" Target="../media/ic_ngam_u_w.svg"/><Relationship Id="rId18" Type="http://schemas.openxmlformats.org/officeDocument/2006/relationships/image" Target="../media/ic_nghien_min_g.svg"/><Relationship Id="rId19" Type="http://schemas.openxmlformats.org/officeDocument/2006/relationships/image" Target="../media/ic_pha_loang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22.png"/><Relationship Id="rId6" Type="http://schemas.openxmlformats.org/officeDocument/2006/relationships/image" Target="../media/image48.png"/><Relationship Id="rId7" Type="http://schemas.openxmlformats.org/officeDocument/2006/relationships/image" Target="../media/image25.png"/><Relationship Id="rId8" Type="http://schemas.openxmlformats.org/officeDocument/2006/relationships/image" Target="../media/ic_danh_paste_w.svg"/><Relationship Id="rId9" Type="http://schemas.openxmlformats.org/officeDocument/2006/relationships/image" Target="../media/ic_nghien_min_w.svg"/><Relationship Id="rId10" Type="http://schemas.openxmlformats.org/officeDocument/2006/relationships/image" Target="../media/ic_pha_loang_w.svg"/><Relationship Id="rId11" Type="http://schemas.openxmlformats.org/officeDocument/2006/relationships/image" Target="../media/ic_danh_paste_w.svg"/><Relationship Id="rId12" Type="http://schemas.openxmlformats.org/officeDocument/2006/relationships/image" Target="../media/ic_nghien_min_w.svg"/><Relationship Id="rId13" Type="http://schemas.openxmlformats.org/officeDocument/2006/relationships/image" Target="../media/ic_pha_loang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c_microscope_w.svg"/><Relationship Id="rId5" Type="http://schemas.openxmlformats.org/officeDocument/2006/relationships/image" Target="../media/ic_stopwatch_w.svg"/><Relationship Id="rId6" Type="http://schemas.openxmlformats.org/officeDocument/2006/relationships/image" Target="../media/ic_microscope_w.svg"/><Relationship Id="rId7" Type="http://schemas.openxmlformats.org/officeDocument/2006/relationships/image" Target="../media/ic_stopwatch_w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c_adhesion_w.svg"/><Relationship Id="rId6" Type="http://schemas.openxmlformats.org/officeDocument/2006/relationships/image" Target="../media/ic_salt_spray_w.svg"/><Relationship Id="rId7" Type="http://schemas.openxmlformats.org/officeDocument/2006/relationships/image" Target="../media/ic_sun_uv_w.svg"/><Relationship Id="rId8" Type="http://schemas.openxmlformats.org/officeDocument/2006/relationships/image" Target="../media/ic_adhesion_w.svg"/><Relationship Id="rId9" Type="http://schemas.openxmlformats.org/officeDocument/2006/relationships/image" Target="../media/ic_salt_spray_w.svg"/><Relationship Id="rId10" Type="http://schemas.openxmlformats.org/officeDocument/2006/relationships/image" Target="../media/ic_sun_uv_w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c_chemical_glove_g.svg"/><Relationship Id="rId7" Type="http://schemas.openxmlformats.org/officeDocument/2006/relationships/image" Target="../media/ic_flame_g.svg"/><Relationship Id="rId8" Type="http://schemas.openxmlformats.org/officeDocument/2006/relationships/image" Target="../media/ic_gasmask_g.svg"/><Relationship Id="rId9" Type="http://schemas.openxmlformats.org/officeDocument/2006/relationships/image" Target="../media/ic_gear_proc_g.svg"/><Relationship Id="rId10" Type="http://schemas.openxmlformats.org/officeDocument/2006/relationships/image" Target="../media/ic_chemical_glove_g.svg"/><Relationship Id="rId11" Type="http://schemas.openxmlformats.org/officeDocument/2006/relationships/image" Target="../media/ic_flame_g.svg"/><Relationship Id="rId12" Type="http://schemas.openxmlformats.org/officeDocument/2006/relationships/image" Target="../media/ic_gasmask_g.svg"/><Relationship Id="rId13" Type="http://schemas.openxmlformats.org/officeDocument/2006/relationships/image" Target="../media/ic_gear_proc_g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c_smoke_air_w.svg"/><Relationship Id="rId6" Type="http://schemas.openxmlformats.org/officeDocument/2006/relationships/image" Target="../media/ic_solid_waste_w.svg"/><Relationship Id="rId7" Type="http://schemas.openxmlformats.org/officeDocument/2006/relationships/image" Target="../media/ic_water_waste_w.svg"/><Relationship Id="rId8" Type="http://schemas.openxmlformats.org/officeDocument/2006/relationships/image" Target="../media/ic_smoke_air_w.svg"/><Relationship Id="rId9" Type="http://schemas.openxmlformats.org/officeDocument/2006/relationships/image" Target="../media/ic_solid_waste_w.svg"/><Relationship Id="rId10" Type="http://schemas.openxmlformats.org/officeDocument/2006/relationships/image" Target="../media/ic_water_waste_w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c_grad_check_g.svg"/><Relationship Id="rId6" Type="http://schemas.openxmlformats.org/officeDocument/2006/relationships/image" Target="../media/ic_palette_g.svg"/><Relationship Id="rId7" Type="http://schemas.openxmlformats.org/officeDocument/2006/relationships/image" Target="../media/ic_qr_code_g.svg"/><Relationship Id="rId8" Type="http://schemas.openxmlformats.org/officeDocument/2006/relationships/image" Target="../media/ic_grad_check_g.svg"/><Relationship Id="rId9" Type="http://schemas.openxmlformats.org/officeDocument/2006/relationships/image" Target="../media/ic_palette_g.svg"/><Relationship Id="rId10" Type="http://schemas.openxmlformats.org/officeDocument/2006/relationships/image" Target="../media/ic_qr_code_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81160" y="-274320"/>
            <a:ext cx="502920" cy="2377440"/>
          </a:xfrm>
          <a:prstGeom prst="roundRect">
            <a:avLst/>
          </a:prstGeom>
          <a:solidFill>
            <a:srgbClr val="8C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56648" y="-274320"/>
            <a:ext cx="502920" cy="2697480"/>
          </a:xfrm>
          <a:prstGeom prst="roundRect">
            <a:avLst/>
          </a:prstGeom>
          <a:solidFill>
            <a:srgbClr val="B5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32136" y="-274320"/>
            <a:ext cx="502920" cy="301752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07624" y="-274320"/>
            <a:ext cx="502920" cy="237744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83112" y="-274320"/>
            <a:ext cx="502920" cy="2697480"/>
          </a:xfrm>
          <a:prstGeom prst="round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658600" y="-274320"/>
            <a:ext cx="502920" cy="3017520"/>
          </a:xfrm>
          <a:prstGeom prst="roundRect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0" y="5394960"/>
            <a:ext cx="1645920" cy="164592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6035040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>TRƯỜNG ĐẠI HỌC CÔNG NGHIỆP TP. HỒ CHÍ MINH  ·  KHOA CÔNG NGHỆ HÓA HỌC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C88A2E"/>
                </a:solidFill>
                <a:latin typeface="Cambria"/>
              </a:rPr>
              <a:t>BÁO CÁO THỰC TẬP TỐT NGHIỆP</a:t>
            </a:r>
          </a:p>
          <a:p>
            <a:pPr algn="l">
              <a:lnSpc>
                <a:spcPct val="104000"/>
              </a:lnSpc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sản xuất và kiểm soát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chất lượng sơn</a:t>
            </a:r>
          </a:p>
          <a:p>
            <a:pPr algn="l">
              <a:lnSpc>
                <a:spcPct val="102000"/>
              </a:lnSpc>
            </a:pPr>
            <a:r>
              <a:rPr sz="2600" b="1" i="0">
                <a:solidFill>
                  <a:srgbClr val="E9F2EC"/>
                </a:solidFill>
                <a:latin typeface="Cambria"/>
              </a:rPr>
              <a:t>tại Công ty TNHH Sơn Hải Vân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138928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Doanh nghiệp: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Công ty TNHH Sơn Hải Vân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Sinh viên: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Nhóm 8 SV thực tập</a:t>
            </a:r>
          </a:p>
          <a:p>
            <a:pPr algn="l"/>
            <a:r>
              <a:rPr sz="1450" b="1" i="0">
                <a:solidFill>
                  <a:srgbClr val="6FA287"/>
                </a:solidFill>
                <a:latin typeface="Calibri"/>
              </a:rPr>
              <a:t>Lớp: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DHHO18A–D  ·  Năm học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3892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GVHD: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Nhất Thống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6FA287"/>
                </a:solidFill>
                <a:latin typeface="Calibri"/>
              </a:rPr>
              <a:t>CBHD: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Lê Quốc</a:t>
            </a:r>
          </a:p>
          <a:p>
            <a:pPr algn="l"/>
            <a:r>
              <a:rPr sz="1350" b="0" i="1">
                <a:solidFill>
                  <a:srgbClr val="6FA287"/>
                </a:solidFill>
                <a:latin typeface="Calibri"/>
              </a:rPr>
              <a:t>TP. Hồ Chí Minh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12064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-731520"/>
            <a:ext cx="1463040" cy="146304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C88A2E"/>
                </a:solidFill>
                <a:latin typeface="Calibri"/>
              </a:rPr>
              <a:t>NỘI DUNG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Báo cáo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gồm 6 phần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Từ tổng quan doanh nghiệp đến quy trình, chất lượng, sự cố và an toàn – môi trường.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70916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640080" y="4846320"/>
            <a:ext cx="2651760" cy="132588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ectangle 8"/>
          <p:cNvSpPr/>
          <p:nvPr/>
        </p:nvSpPr>
        <p:spPr>
          <a:xfrm>
            <a:off x="4828032" y="868680"/>
            <a:ext cx="54864" cy="5212080"/>
          </a:xfrm>
          <a:prstGeom prst="rect">
            <a:avLst/>
          </a:prstGeom>
          <a:solidFill>
            <a:srgbClr val="D5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62272" y="76809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76809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731520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Tổng quan về công 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1887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14" name="Oval 13"/>
          <p:cNvSpPr/>
          <p:nvPr/>
        </p:nvSpPr>
        <p:spPr>
          <a:xfrm>
            <a:off x="4462272" y="1655064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655064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618488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Nguyên vật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07568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4462272" y="2542032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54203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50545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Quy trình công nghệ &amp; thiết bị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962656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Trình tự · thời gian · thiết bị chính</a:t>
            </a:r>
          </a:p>
        </p:txBody>
      </p:sp>
      <p:sp>
        <p:nvSpPr>
          <p:cNvPr id="22" name="Oval 21"/>
          <p:cNvSpPr/>
          <p:nvPr/>
        </p:nvSpPr>
        <p:spPr>
          <a:xfrm>
            <a:off x="4462272" y="3429000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42900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3392424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Kiểm soát chất lượng (KCS)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849624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26" name="Oval 25"/>
          <p:cNvSpPr/>
          <p:nvPr/>
        </p:nvSpPr>
        <p:spPr>
          <a:xfrm>
            <a:off x="4462272" y="4315968"/>
            <a:ext cx="768096" cy="768096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4315968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4279392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Những sự cố thường gặp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30" name="Oval 29"/>
          <p:cNvSpPr/>
          <p:nvPr/>
        </p:nvSpPr>
        <p:spPr>
          <a:xfrm>
            <a:off x="4462272" y="5202936"/>
            <a:ext cx="768096" cy="768096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5202936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5166359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4E3D"/>
                </a:solidFill>
                <a:latin typeface="Calibri"/>
              </a:rPr>
              <a:t>An toàn lao động &amp; môi trường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2120" y="562356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64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</a:t>
            </a:r>
          </a:p>
        </p:txBody>
      </p:sp>
      <p:pic>
        <p:nvPicPr>
          <p:cNvPr id="124" name="Picture 123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38935" y="944759"/>
            <a:ext cx="414771" cy="414771"/>
          </a:xfrm>
          <a:prstGeom prst="rect">
            <a:avLst/>
          </a:prstGeom>
        </p:spPr>
      </p:pic>
      <p:pic>
        <p:nvPicPr>
          <p:cNvPr id="125" name="Picture 124" descr="material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38935" y="1831727"/>
            <a:ext cx="414771" cy="414771"/>
          </a:xfrm>
          <a:prstGeom prst="rect">
            <a:avLst/>
          </a:prstGeom>
        </p:spPr>
      </p:pic>
      <p:pic>
        <p:nvPicPr>
          <p:cNvPr id="126" name="Picture 125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8935" y="2718695"/>
            <a:ext cx="414771" cy="414771"/>
          </a:xfrm>
          <a:prstGeom prst="rect">
            <a:avLst/>
          </a:prstGeom>
        </p:spPr>
      </p:pic>
      <p:pic>
        <p:nvPicPr>
          <p:cNvPr id="127" name="Picture 126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38935" y="3605663"/>
            <a:ext cx="414771" cy="414771"/>
          </a:xfrm>
          <a:prstGeom prst="rect">
            <a:avLst/>
          </a:prstGeom>
        </p:spPr>
      </p:pic>
      <p:pic>
        <p:nvPicPr>
          <p:cNvPr id="128" name="Picture 127" descr="warning_tr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38935" y="4492631"/>
            <a:ext cx="414771" cy="414771"/>
          </a:xfrm>
          <a:prstGeom prst="rect">
            <a:avLst/>
          </a:prstGeom>
        </p:spPr>
      </p:pic>
      <p:pic>
        <p:nvPicPr>
          <p:cNvPr id="129" name="Picture 128" descr="safety_shield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638935" y="5379599"/>
            <a:ext cx="414771" cy="414771"/>
          </a:xfrm>
          <a:prstGeom prst="rect">
            <a:avLst/>
          </a:prstGeom>
        </p:spPr>
      </p:pic>
      <p:pic>
        <p:nvPicPr>
          <p:cNvPr id="130" name="Picture 129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638935" y="944759"/>
            <a:ext cx="414771" cy="414771"/>
          </a:xfrm>
          <a:prstGeom prst="rect">
            <a:avLst/>
          </a:prstGeom>
        </p:spPr>
      </p:pic>
      <p:pic>
        <p:nvPicPr>
          <p:cNvPr id="131" name="Picture 130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38935" y="1831727"/>
            <a:ext cx="414771" cy="414771"/>
          </a:xfrm>
          <a:prstGeom prst="rect">
            <a:avLst/>
          </a:prstGeom>
        </p:spPr>
      </p:pic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38935" y="2718695"/>
            <a:ext cx="414771" cy="414771"/>
          </a:xfrm>
          <a:prstGeom prst="rect">
            <a:avLst/>
          </a:prstGeom>
        </p:spPr>
      </p:pic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638935" y="3605663"/>
            <a:ext cx="414771" cy="414771"/>
          </a:xfrm>
          <a:prstGeom prst="rect">
            <a:avLst/>
          </a:prstGeom>
        </p:spPr>
      </p:pic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38935" y="4492631"/>
            <a:ext cx="414771" cy="414771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638935" y="5379599"/>
            <a:ext cx="414771" cy="4147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270"/>
                      </p:stCondLst>
                      <p:childTnLst>
                        <p:par>
                          <p:cTn id="1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23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1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Tổng quan về công ty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Giới thiệu · sản phẩm · thị trường · quy mô · khách hàng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rine_hull.jpg"/>
          <p:cNvPicPr>
            <a:picLocks noChangeAspect="1"/>
          </p:cNvPicPr>
          <p:nvPr/>
        </p:nvPicPr>
        <p:blipFill>
          <a:blip r:embed="rId2"/>
          <a:srcRect l="17500" r="17500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U.S. Navy (Public Domain) — minh họa sơn tàu biển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21208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83280" y="-731520"/>
            <a:ext cx="1371600" cy="13716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1. TỔNG QUAN</a:t>
            </a:r>
          </a:p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Công ty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Sơn Hải Vân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6FA287"/>
                </a:solidFill>
                <a:latin typeface="Calibri"/>
              </a:rPr>
              <a:t>Sản xuất sơn công nghiệp &amp; sơn tàu biển bảo vệ chuyên dụng.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3200400" cy="21488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t="2031" b="2031"/>
          <a:stretch>
            <a:fillRect/>
          </a:stretch>
        </p:blipFill>
        <p:spPr>
          <a:xfrm>
            <a:off x="640080" y="4297680"/>
            <a:ext cx="2926080" cy="1874519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Rounded Rectangle 8"/>
          <p:cNvSpPr/>
          <p:nvPr/>
        </p:nvSpPr>
        <p:spPr>
          <a:xfrm>
            <a:off x="4663440" y="1417320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1417320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49200" y="1600200"/>
            <a:ext cx="528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4E3D"/>
                </a:solidFill>
                <a:latin typeface="Calibri"/>
              </a:rPr>
              <a:t>Lịch sử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9200" y="2057400"/>
            <a:ext cx="528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Thành lập 2008, chính thức sản xuất từ 2009 (ĐKKD Sở KH&amp;ĐT TP.HCM).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999232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999232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9200" y="3182112"/>
            <a:ext cx="528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C88A2E"/>
                </a:solidFill>
                <a:latin typeface="Calibri"/>
              </a:rPr>
              <a:t>Sản phẩm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9200" y="3639312"/>
            <a:ext cx="528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chống ăn mòn, chống cháy, bảo vệ công trình &amp; hàng hải; kèm hóa chất, chất phủ.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4581144"/>
            <a:ext cx="6949440" cy="14173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63440" y="4581144"/>
            <a:ext cx="146304" cy="141732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9200" y="4764024"/>
            <a:ext cx="528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C7A5A"/>
                </a:solidFill>
                <a:latin typeface="Calibri"/>
              </a:rPr>
              <a:t>Quy mô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9200" y="5221224"/>
            <a:ext cx="528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Doanh nghiệp sản xuất vừa (SME) · mô hình B2B · nhà máy tại Long 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4</a:t>
            </a:r>
          </a:p>
        </p:txBody>
      </p:sp>
      <p:pic>
        <p:nvPicPr>
          <p:cNvPr id="64" name="Picture 63" descr="history_clock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13440" y="1905980"/>
            <a:ext cx="440000" cy="440000"/>
          </a:xfrm>
          <a:prstGeom prst="rect">
            <a:avLst/>
          </a:prstGeom>
        </p:spPr>
      </p:pic>
      <p:pic>
        <p:nvPicPr>
          <p:cNvPr id="65" name="Picture 64" descr="paint_ca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13440" y="3487892"/>
            <a:ext cx="440000" cy="440000"/>
          </a:xfrm>
          <a:prstGeom prst="rect">
            <a:avLst/>
          </a:prstGeom>
        </p:spPr>
      </p:pic>
      <p:pic>
        <p:nvPicPr>
          <p:cNvPr id="66" name="Picture 65" descr="factory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13440" y="5069804"/>
            <a:ext cx="440000" cy="440000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13440" y="1905980"/>
            <a:ext cx="440000" cy="440000"/>
          </a:xfrm>
          <a:prstGeom prst="rect">
            <a:avLst/>
          </a:prstGeom>
        </p:spPr>
      </p:pic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13440" y="3487892"/>
            <a:ext cx="440000" cy="440000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13440" y="5069804"/>
            <a:ext cx="440000" cy="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1. TỔNG QUAN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Thị trường, quy mô &amp; khách hàng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611880" cy="32004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4672" y="1554480"/>
            <a:ext cx="211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Phân khúc thị trường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B2B kỹ thuật — không phải sơn trang trí dân dụng đại trà.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công nghiệp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Đơn vị đóng / sửa chữa tàu biển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C88A2E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phân phối sơn bảo vệ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2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2" y="2011680"/>
            <a:ext cx="3611880" cy="32004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2584" y="1554480"/>
            <a:ext cx="211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Quy mô doanh nghiệp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Doanh nghiệp sản xuất vừa (SME), bộ máy quản lý gọn.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01 nhà máy sản xuất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Giám đốc → Phó GĐ / TP. Kỹ thuật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2C7A5A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Các phòng ban chức năng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55448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4464" y="1554480"/>
            <a:ext cx="3611880" cy="77724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011680"/>
            <a:ext cx="3611880" cy="32004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0496" y="1554480"/>
            <a:ext cx="211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Khách hàng chính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514600"/>
            <a:ext cx="30998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5C6B64"/>
                </a:solidFill>
                <a:latin typeface="Calibri"/>
              </a:rPr>
              <a:t>Tập trung nhóm khách kỹ thuật, mua theo dự án / hợp đồng.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3611880"/>
            <a:ext cx="30998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Xưởng đóng &amp; sửa chữa tàu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Chủ đầu tư công trình thép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0" i="0">
                <a:solidFill>
                  <a:srgbClr val="1F4E3D"/>
                </a:solidFill>
                <a:latin typeface="Calibri"/>
              </a:rPr>
              <a:t>▪ 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Đại lý sơn chuyên dụng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5</a:t>
            </a:r>
          </a:p>
        </p:txBody>
      </p:sp>
      <p:pic>
        <p:nvPicPr>
          <p:cNvPr id="94" name="Picture 93" descr="target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1728100"/>
            <a:ext cx="430000" cy="430000"/>
          </a:xfrm>
          <a:prstGeom prst="rect">
            <a:avLst/>
          </a:prstGeom>
        </p:spPr>
      </p:pic>
      <p:pic>
        <p:nvPicPr>
          <p:cNvPr id="95" name="Picture 94" descr="org_char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66552" y="1728100"/>
            <a:ext cx="430000" cy="430000"/>
          </a:xfrm>
          <a:prstGeom prst="rect">
            <a:avLst/>
          </a:prstGeom>
        </p:spPr>
      </p:pic>
      <p:pic>
        <p:nvPicPr>
          <p:cNvPr id="96" name="Picture 95" descr="customer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4464" y="1728100"/>
            <a:ext cx="430000" cy="430000"/>
          </a:xfrm>
          <a:prstGeom prst="rect">
            <a:avLst/>
          </a:prstGeom>
        </p:spPr>
      </p:pic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640" y="1728100"/>
            <a:ext cx="430000" cy="430000"/>
          </a:xfrm>
          <a:prstGeom prst="rect">
            <a:avLst/>
          </a:prstGeom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66552" y="1728100"/>
            <a:ext cx="430000" cy="430000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34464" y="1728100"/>
            <a:ext cx="430000" cy="43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2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Nguyên vật liệu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Thành phần · tỷ lệ · cấu trúc hệ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int_can.jpg"/>
          <p:cNvPicPr>
            <a:picLocks noChangeAspect="1"/>
          </p:cNvPicPr>
          <p:nvPr/>
        </p:nvPicPr>
        <p:blipFill>
          <a:blip r:embed="rId2"/>
          <a:srcRect l="16666" r="16666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Ảnh: Wikimedia Commons (CC BY 2.0) — lọ sơn thành phẩm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nhóm nguyên liệu cấu thành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1673352"/>
            <a:ext cx="640080" cy="6400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09344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Nhựa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1783080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783080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40–60%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572768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“Khung xương” tạo màng liên tục — quyết định độ bám dính, độ bóng và độ bền cơ học.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15184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2807208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2549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743200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Dung môi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2916936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916936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20–40%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706624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Hòa tan và phân tán các thành phần, điều chỉnh độ nhớt để dễ thi công; bay hơi khi sơn khô.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4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3941064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593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77056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Bột màu / bột độn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4050792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4050792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15–35%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840480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Bột màu tạo quang tính &amp; chức năng hóa lý; bột độn tối ưu thể tích, cải thiện cơ tính, giảm chi phí.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8289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09320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010912"/>
            <a:ext cx="2377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4E3D"/>
                </a:solidFill>
                <a:latin typeface="Calibri"/>
              </a:rPr>
              <a:t>Phụ gia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1920" y="5184648"/>
            <a:ext cx="1234440" cy="457200"/>
          </a:xfrm>
          <a:prstGeom prst="roundRect">
            <a:avLst>
              <a:gd name="adj" fmla="val 6000"/>
            </a:avLst>
          </a:prstGeom>
          <a:solidFill>
            <a:srgbClr val="5C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5184648"/>
            <a:ext cx="1234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≤ 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974336"/>
            <a:ext cx="6172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Tỷ lệ rất nhỏ nhưng thiết yếu — nâng cao chất lượng và ngoại quan của màng sơn.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Tỷ lệ thay đổi theo loại sơn; sơn tàu biển thường giàu nhựa và bột độn chống ăn mòn hơn sơn trang trí.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7</a:t>
            </a:r>
          </a:p>
        </p:txBody>
      </p:sp>
      <p:pic>
        <p:nvPicPr>
          <p:cNvPr id="84" name="Picture 83" descr="resi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8058" y="1814170"/>
            <a:ext cx="358444" cy="358444"/>
          </a:xfrm>
          <a:prstGeom prst="rect">
            <a:avLst/>
          </a:prstGeom>
        </p:spPr>
      </p:pic>
      <p:pic>
        <p:nvPicPr>
          <p:cNvPr id="85" name="Picture 84" descr="solven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8058" y="2948026"/>
            <a:ext cx="358444" cy="358444"/>
          </a:xfrm>
          <a:prstGeom prst="rect">
            <a:avLst/>
          </a:prstGeom>
        </p:spPr>
      </p:pic>
      <p:pic>
        <p:nvPicPr>
          <p:cNvPr id="86" name="Picture 85" descr="pigment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8058" y="4081882"/>
            <a:ext cx="358444" cy="358444"/>
          </a:xfrm>
          <a:prstGeom prst="rect">
            <a:avLst/>
          </a:prstGeom>
        </p:spPr>
      </p:pic>
      <p:pic>
        <p:nvPicPr>
          <p:cNvPr id="87" name="Picture 86" descr="additi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8058" y="5215738"/>
            <a:ext cx="358444" cy="358444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18058" y="1814170"/>
            <a:ext cx="358444" cy="358444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18058" y="2948026"/>
            <a:ext cx="358444" cy="358444"/>
          </a:xfrm>
          <a:prstGeom prst="rect">
            <a:avLst/>
          </a:prstGeom>
        </p:spPr>
      </p:pic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18058" y="4081882"/>
            <a:ext cx="358444" cy="358444"/>
          </a:xfrm>
          <a:prstGeom prst="rect">
            <a:avLst/>
          </a:prstGeom>
        </p:spPr>
      </p:pic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18058" y="5215738"/>
            <a:ext cx="358444" cy="358444"/>
          </a:xfrm>
          <a:prstGeom prst="rect">
            <a:avLst/>
          </a:prstGeom>
        </p:spPr>
      </p:pic>
      <p:pic>
        <p:nvPicPr>
          <p:cNvPr id="92" name="Picture 91" descr="chart7_nhua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4:svgBlip xmlns:ns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931920" y="2264280"/>
            <a:ext cx="1234440" cy="145890"/>
          </a:xfrm>
          <a:prstGeom prst="rect">
            <a:avLst/>
          </a:prstGeom>
        </p:spPr>
      </p:pic>
      <p:pic>
        <p:nvPicPr>
          <p:cNvPr id="93" name="Picture 92" descr="chart7_dungmoi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ns5:svgBlip xmlns:ns5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31920" y="3398136"/>
            <a:ext cx="1234440" cy="145890"/>
          </a:xfrm>
          <a:prstGeom prst="rect">
            <a:avLst/>
          </a:prstGeom>
        </p:spPr>
      </p:pic>
      <p:pic>
        <p:nvPicPr>
          <p:cNvPr id="94" name="Picture 93" descr="chart7_bot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ns6:svgBlip xmlns:ns6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31920" y="4531992"/>
            <a:ext cx="1234440" cy="145890"/>
          </a:xfrm>
          <a:prstGeom prst="rect">
            <a:avLst/>
          </a:prstGeom>
        </p:spPr>
      </p:pic>
      <p:pic>
        <p:nvPicPr>
          <p:cNvPr id="95" name="Picture 94" descr="chart7_phugia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931920" y="5665848"/>
            <a:ext cx="1234440" cy="1458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Nhựa Alkyd phân loại theo hàm lượng dầu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1109960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Loại nhựa Alkyd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Hàm lượng dầu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554480"/>
            <a:ext cx="5486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Đặc điểm &amp; ứng dụng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33172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19456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gầy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19456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FA287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19456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hóa dẻo, độ nhớt cao — thi công nhúng / phun.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040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33756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20040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trung bình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20040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C7A5A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0040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Dùng phổ biến nhất — cọ / lăn / súng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343400"/>
            <a:ext cx="128016" cy="64008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06240"/>
            <a:ext cx="2926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4E3D"/>
                </a:solidFill>
                <a:latin typeface="Calibri"/>
              </a:rPr>
              <a:t>Nhựa béo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206240"/>
            <a:ext cx="1828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4E3D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206240"/>
            <a:ext cx="5486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Chất tạo màng chính cho sơn tàu biển &amp; kết cấu thép.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C88A2E"/>
                </a:solidFill>
                <a:latin typeface="Calibri"/>
              </a:rPr>
              <a:t>→ </a:t>
            </a:r>
            <a:r>
              <a:rPr sz="1400" b="0" i="1">
                <a:solidFill>
                  <a:srgbClr val="5C6B64"/>
                </a:solidFill>
                <a:latin typeface="Calibri"/>
              </a:rPr>
              <a:t>Sơn tàu biển &amp; kết cấu thép ưu tiên nhựa béo (56–70%) nhờ khả năng tạo màng dày, bám dính và chịu môi trường khắc nghiệt.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8</a:t>
            </a:r>
          </a:p>
        </p:txBody>
      </p:sp>
      <p:pic>
        <p:nvPicPr>
          <p:cNvPr id="64" name="Picture 63" descr="chart8_ga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1920" y="2416310"/>
            <a:ext cx="2100000" cy="470900"/>
          </a:xfrm>
          <a:prstGeom prst="rect">
            <a:avLst/>
          </a:prstGeom>
        </p:spPr>
      </p:pic>
      <p:pic>
        <p:nvPicPr>
          <p:cNvPr id="65" name="Picture 64" descr="chart8_trun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31920" y="3422150"/>
            <a:ext cx="2100000" cy="470900"/>
          </a:xfrm>
          <a:prstGeom prst="rect">
            <a:avLst/>
          </a:prstGeom>
        </p:spPr>
      </p:pic>
      <p:pic>
        <p:nvPicPr>
          <p:cNvPr id="66" name="Picture 65" descr="chart8_be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31920" y="4427990"/>
            <a:ext cx="2100000" cy="4709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2. NGUYÊN VẬT LIỆU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Cấu trúc hệ sơn 3 lớp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43B53"/>
                </a:solidFill>
                <a:latin typeface="Calibri"/>
              </a:rPr>
              <a:t>↑ Môi trường biển (UV · muối · sóng)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5120640" cy="9144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3 — Phủ hoàn thiện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Polyurethan / Alkyd béo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52344"/>
            <a:ext cx="5120640" cy="10515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52344"/>
            <a:ext cx="4572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2 — Trung gian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MIO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858768"/>
            <a:ext cx="5120640" cy="9144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58768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Lớp 1 — Lót chống rỉ</a:t>
            </a:r>
          </a:p>
          <a:p>
            <a:pPr algn="l"/>
            <a:r>
              <a:rPr sz="1300" b="0" i="1">
                <a:solidFill>
                  <a:srgbClr val="ECF3EE"/>
                </a:solidFill>
                <a:latin typeface="Calibri"/>
              </a:rPr>
              <a:t>Epoxy giàu kẽm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28031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THÉP NỀN (đã xử lý bề mặt)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8308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C8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56248" y="2002536"/>
            <a:ext cx="365760" cy="3657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1929384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phủ (Topcoat)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350008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Chịu tia UV, giữ màu và giữ độ bóng khi tiếp xúc nắng, gió biển.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3136391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2C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56248" y="3355848"/>
            <a:ext cx="365760" cy="3657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3282696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trung gian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03320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Tăng chiều dày màng, chắn ẩm và ion clorua xâm nhập vào trong.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489704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1F4E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56248" y="4709160"/>
            <a:ext cx="365760" cy="36576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Lớp lót (Primer)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5056632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28"/>
                </a:solidFill>
                <a:latin typeface="Calibri"/>
              </a:rPr>
              <a:t>Bám trực tiếp lên thép, bảo vệ điện hóa chống ăn mòn từ gốc.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Lưu ý: số lớp / độ dày thực tế của Sơn Hải Vân cần đối chiếu — đây là cấu trúc theo nguyên lý chung ngành sơn bảo vệ tàu biển.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9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35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90"/>
                      </p:stCondLst>
                      <p:childTnLst>
                        <p:par>
                          <p:cTn id="3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6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90"/>
                      </p:stCondLst>
                      <p:childTnLst>
                        <p:par>
                          <p:cTn id="4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1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6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270"/>
                      </p:stCondLst>
                      <p:childTnLst>
                        <p:par>
                          <p:cTn id="5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1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6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90"/>
                      </p:stCondLst>
                      <p:childTnLst>
                        <p:par>
                          <p:cTn id="6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1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6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270"/>
                      </p:stCondLst>
                      <p:childTnLst>
                        <p:par>
                          <p:cTn id="7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1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0"/>
                      </p:stCondLst>
                      <p:childTnLst>
                        <p:par>
                          <p:cTn id="83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6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"/>
                      </p:stCondLst>
                      <p:childTnLst>
                        <p:par>
                          <p:cTn id="8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1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80"/>
                      </p:stCondLst>
                      <p:childTnLst>
                        <p:par>
                          <p:cTn id="93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5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6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270"/>
                      </p:stCondLst>
                      <p:childTnLst>
                        <p:par>
                          <p:cTn id="98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0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1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3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Quy trình công nghệ &amp; thiết bị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Trình tự công đoạn · thời gian · thiết bị chính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CÔNG NGHỆ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Sáu công đoạn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864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64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Chevron 9"/>
          <p:cNvSpPr/>
          <p:nvPr/>
        </p:nvSpPr>
        <p:spPr>
          <a:xfrm>
            <a:off x="2130552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04872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64872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64872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6312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5" name="Chevron 14"/>
          <p:cNvSpPr/>
          <p:nvPr/>
        </p:nvSpPr>
        <p:spPr>
          <a:xfrm>
            <a:off x="3986784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61104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12700">
            <a:solidFill>
              <a:srgbClr val="E7D5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21104" y="2236000"/>
            <a:ext cx="330000" cy="33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1104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0" name="Chevron 19"/>
          <p:cNvSpPr/>
          <p:nvPr/>
        </p:nvSpPr>
        <p:spPr>
          <a:xfrm>
            <a:off x="5843016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17336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77336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7336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8776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25" name="Chevron 24"/>
          <p:cNvSpPr/>
          <p:nvPr/>
        </p:nvSpPr>
        <p:spPr>
          <a:xfrm>
            <a:off x="7699248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73568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33568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3568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30" name="Chevron 29"/>
          <p:cNvSpPr/>
          <p:nvPr/>
        </p:nvSpPr>
        <p:spPr>
          <a:xfrm>
            <a:off x="9555480" y="2834640"/>
            <a:ext cx="292608" cy="457200"/>
          </a:xfrm>
          <a:prstGeom prst="chevron">
            <a:avLst/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829800" y="2286000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9800" y="2236000"/>
            <a:ext cx="330000" cy="33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89800" y="2236000"/>
            <a:ext cx="330000" cy="3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170000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297680"/>
            <a:ext cx="11109960" cy="155448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Nguyên tắc thứ tự: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Định lượng → phân tán (paste) → nghiền → ủ → pha loãng → lọc. Không thể đảo bước vì mỗi công đoạn là đầu vào của công đoạn sau.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9A661E"/>
                </a:solidFill>
                <a:latin typeface="Calibri"/>
              </a:rPr>
              <a:t>Bước có thể bỏ qua (màu cam): </a:t>
            </a:r>
            <a:r>
              <a:rPr sz="1400" b="0" i="0">
                <a:solidFill>
                  <a:srgbClr val="222B28"/>
                </a:solidFill>
                <a:latin typeface="Calibri"/>
              </a:rPr>
              <a:t>Nghiền mịn — nếu mẻ đã đạt độ mịn Hegman ngay sau khi đánh paste thì bỏ qua để tiết kiệm thời gian &amp; năng lượng.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11</a:t>
            </a:r>
          </a:p>
        </p:txBody>
      </p:sp>
      <p:pic>
        <p:nvPicPr>
          <p:cNvPr id="119" name="Picture 118" descr="dinh_luong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8740" y="2496000"/>
            <a:ext cx="660000" cy="660000"/>
          </a:xfrm>
          <a:prstGeom prst="rect">
            <a:avLst/>
          </a:prstGeom>
        </p:spPr>
      </p:pic>
      <p:pic>
        <p:nvPicPr>
          <p:cNvPr id="120" name="Picture 119" descr="danh_pas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74972" y="2496000"/>
            <a:ext cx="660000" cy="660000"/>
          </a:xfrm>
          <a:prstGeom prst="rect">
            <a:avLst/>
          </a:prstGeom>
        </p:spPr>
      </p:pic>
      <p:pic>
        <p:nvPicPr>
          <p:cNvPr id="121" name="Picture 120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31204" y="2496000"/>
            <a:ext cx="660000" cy="660000"/>
          </a:xfrm>
          <a:prstGeom prst="rect">
            <a:avLst/>
          </a:prstGeom>
        </p:spPr>
      </p:pic>
      <p:pic>
        <p:nvPicPr>
          <p:cNvPr id="122" name="Picture 121" descr="ngam_u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87436" y="2496000"/>
            <a:ext cx="660000" cy="660000"/>
          </a:xfrm>
          <a:prstGeom prst="rect">
            <a:avLst/>
          </a:prstGeom>
        </p:spPr>
      </p:pic>
      <p:pic>
        <p:nvPicPr>
          <p:cNvPr id="123" name="Picture 122" descr="pha_loang_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43668" y="2496000"/>
            <a:ext cx="660000" cy="660000"/>
          </a:xfrm>
          <a:prstGeom prst="rect">
            <a:avLst/>
          </a:prstGeom>
        </p:spPr>
      </p:pic>
      <p:pic>
        <p:nvPicPr>
          <p:cNvPr id="124" name="Picture 123" descr="loc_donggoi_g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99900" y="2496000"/>
            <a:ext cx="660000" cy="660000"/>
          </a:xfrm>
          <a:prstGeom prst="rect">
            <a:avLst/>
          </a:prstGeom>
        </p:spPr>
      </p:pic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18740" y="2496000"/>
            <a:ext cx="660000" cy="660000"/>
          </a:xfrm>
          <a:prstGeom prst="rect">
            <a:avLst/>
          </a:prstGeom>
        </p:spPr>
      </p:pic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74972" y="2496000"/>
            <a:ext cx="660000" cy="660000"/>
          </a:xfrm>
          <a:prstGeom prst="rect">
            <a:avLst/>
          </a:prstGeom>
        </p:spPr>
      </p:pic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31204" y="2496000"/>
            <a:ext cx="660000" cy="660000"/>
          </a:xfrm>
          <a:prstGeom prst="rect">
            <a:avLst/>
          </a:prstGeom>
        </p:spPr>
      </p:pic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87436" y="2496000"/>
            <a:ext cx="660000" cy="660000"/>
          </a:xfrm>
          <a:prstGeom prst="rect">
            <a:avLst/>
          </a:prstGeom>
        </p:spPr>
      </p:pic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443668" y="2496000"/>
            <a:ext cx="660000" cy="660000"/>
          </a:xfrm>
          <a:prstGeom prst="rect">
            <a:avLst/>
          </a:prstGeom>
        </p:spPr>
      </p:pic>
      <p:pic>
        <p:nvPicPr>
          <p:cNvPr id="130" name="Picture 129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299900" y="2496000"/>
            <a:ext cx="660000" cy="6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18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7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0"/>
                      </p:stCondLst>
                      <p:childTnLst>
                        <p:par>
                          <p:cTn id="10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90"/>
                      </p:stCondLst>
                      <p:childTnLst>
                        <p:par>
                          <p:cTn id="1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180"/>
                      </p:stCondLst>
                      <p:childTnLst>
                        <p:par>
                          <p:cTn id="1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QUY TRÌNH — CHI TIẾT TỪNG BƯỚC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Vai trò · thời gian · có bỏ qua được không?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159105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9105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5389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Định lượng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49961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đúng tỷ lệ nhựa / dung môi / phụ gia / bột màu.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0" y="160020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160020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83794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Theo công thức R&amp;D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8541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359152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35915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22199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Đánh paste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267712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Khuấy phân tán 900–1200 v/p, hòa bột màu/độn vào nhựa.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6960" y="2368296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2368296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6060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chục phút/mẻ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535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232" y="3127248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12724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29900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Nghiền mịn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35808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Bi nghiền tạo va đập, đưa hạt xuống 10–20 µm.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136392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3136392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Có thể bỏ qua¹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374136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mịn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72160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3232" y="3895344"/>
            <a:ext cx="411480" cy="411480"/>
          </a:xfrm>
          <a:prstGeom prst="ellipse">
            <a:avLst/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389534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375818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Ngâm 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3803904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Giữ yên cho hệ ổn định, giảm bọt khí (sơn Epoxy/PU).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66960" y="3904488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3904488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Linh hoạt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414223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Vài giờ tùy loại sơn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48970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3232" y="4663440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466344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452628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Pha loãng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4572000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Chỉnh độ nhớt (KU) về thông số — quyết định độ phủ.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66960" y="4672584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4672584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491032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Đến khi đạt độ nhớt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57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3232" y="5431536"/>
            <a:ext cx="411480" cy="41148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4315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29437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4E3D"/>
                </a:solidFill>
                <a:latin typeface="Calibri"/>
              </a:rPr>
              <a:t>Lọc &amp; đóng gói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6120" y="534009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Loại tạp chất/hạt vón trước khi xuất xưởng.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5440680"/>
            <a:ext cx="1508760" cy="39319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6960" y="5440680"/>
            <a:ext cx="1508760" cy="393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Bắt buộc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46120" y="5678424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C7A5A"/>
                </a:solidFill>
                <a:latin typeface="Calibri"/>
              </a:rPr>
              <a:t>Thời gian: </a:t>
            </a:r>
            <a:r>
              <a:rPr sz="1250" b="0" i="0">
                <a:solidFill>
                  <a:srgbClr val="5C6B64"/>
                </a:solidFill>
                <a:latin typeface="Calibri"/>
              </a:rPr>
              <a:t>Bước cuối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5C6B64"/>
                </a:solidFill>
                <a:latin typeface="Calibri"/>
              </a:rPr>
              <a:t>(1) Bỏ qua nghiền mịn khi kiểm tra Hegman cho thấy mẻ đã đạt độ mịn chuẩn ngay sau bước đánh paste.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12</a:t>
            </a:r>
          </a:p>
        </p:txBody>
      </p:sp>
      <p:pic>
        <p:nvPicPr>
          <p:cNvPr id="172" name="Picture 171" descr="dinh_luong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5528" y="1673352"/>
            <a:ext cx="246888" cy="246888"/>
          </a:xfrm>
          <a:prstGeom prst="rect">
            <a:avLst/>
          </a:prstGeom>
        </p:spPr>
      </p:pic>
      <p:pic>
        <p:nvPicPr>
          <p:cNvPr id="173" name="Picture 172" descr="danh_p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528" y="2441448"/>
            <a:ext cx="246888" cy="246888"/>
          </a:xfrm>
          <a:prstGeom prst="rect">
            <a:avLst/>
          </a:prstGeom>
        </p:spPr>
      </p:pic>
      <p:pic>
        <p:nvPicPr>
          <p:cNvPr id="174" name="Picture 173" descr="nghien_min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5528" y="3209544"/>
            <a:ext cx="246888" cy="246888"/>
          </a:xfrm>
          <a:prstGeom prst="rect">
            <a:avLst/>
          </a:prstGeom>
        </p:spPr>
      </p:pic>
      <p:pic>
        <p:nvPicPr>
          <p:cNvPr id="175" name="Picture 17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95528" y="3977640"/>
            <a:ext cx="246888" cy="246888"/>
          </a:xfrm>
          <a:prstGeom prst="rect">
            <a:avLst/>
          </a:prstGeom>
        </p:spPr>
      </p:pic>
      <p:pic>
        <p:nvPicPr>
          <p:cNvPr id="176" name="Picture 175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5528" y="4745736"/>
            <a:ext cx="246888" cy="246888"/>
          </a:xfrm>
          <a:prstGeom prst="rect">
            <a:avLst/>
          </a:prstGeom>
        </p:spPr>
      </p:pic>
      <p:pic>
        <p:nvPicPr>
          <p:cNvPr id="177" name="Picture 176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95528" y="5513832"/>
            <a:ext cx="246888" cy="246888"/>
          </a:xfrm>
          <a:prstGeom prst="rect">
            <a:avLst/>
          </a:prstGeom>
        </p:spPr>
      </p:pic>
      <p:pic>
        <p:nvPicPr>
          <p:cNvPr id="178" name="Picture 177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95528" y="1673352"/>
            <a:ext cx="246888" cy="246888"/>
          </a:xfrm>
          <a:prstGeom prst="rect">
            <a:avLst/>
          </a:prstGeom>
        </p:spPr>
      </p:pic>
      <p:pic>
        <p:nvPicPr>
          <p:cNvPr id="179" name="Picture 178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5528" y="2441448"/>
            <a:ext cx="246888" cy="246888"/>
          </a:xfrm>
          <a:prstGeom prst="rect">
            <a:avLst/>
          </a:prstGeom>
        </p:spPr>
      </p:pic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95528" y="3209544"/>
            <a:ext cx="246888" cy="246888"/>
          </a:xfrm>
          <a:prstGeom prst="rect">
            <a:avLst/>
          </a:prstGeom>
        </p:spPr>
      </p:pic>
      <p:pic>
        <p:nvPicPr>
          <p:cNvPr id="181" name="Picture 180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95528" y="3977640"/>
            <a:ext cx="246888" cy="246888"/>
          </a:xfrm>
          <a:prstGeom prst="rect">
            <a:avLst/>
          </a:prstGeom>
        </p:spPr>
      </p:pic>
      <p:pic>
        <p:nvPicPr>
          <p:cNvPr id="182" name="Picture 181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95528" y="4745736"/>
            <a:ext cx="246888" cy="246888"/>
          </a:xfrm>
          <a:prstGeom prst="rect">
            <a:avLst/>
          </a:prstGeom>
        </p:spPr>
      </p:pic>
      <p:pic>
        <p:nvPicPr>
          <p:cNvPr id="183" name="Picture 182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95528" y="5513832"/>
            <a:ext cx="246888" cy="2468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54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9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18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36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45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54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90"/>
                      </p:stCondLst>
                      <p:childTnLst>
                        <p:par>
                          <p:cTn id="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18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27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36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45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540"/>
                      </p:stCondLst>
                      <p:childTnLst>
                        <p:par>
                          <p:cTn id="8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7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90"/>
                      </p:stCondLst>
                      <p:childTnLst>
                        <p:par>
                          <p:cTn id="9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5" dur="55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80"/>
                      </p:stCondLst>
                      <p:childTnLst>
                        <p:par>
                          <p:cTn id="9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9" dur="5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270"/>
                      </p:stCondLst>
                      <p:childTnLst>
                        <p:par>
                          <p:cTn id="10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3" dur="5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360"/>
                      </p:stCondLst>
                      <p:childTnLst>
                        <p:par>
                          <p:cTn id="10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7" dur="55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450"/>
                      </p:stCondLst>
                      <p:childTnLst>
                        <p:par>
                          <p:cTn id="10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540"/>
                      </p:stCondLst>
                      <p:childTnLst>
                        <p:par>
                          <p:cTn id="1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5" dur="5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9" dur="5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90"/>
                      </p:stCondLst>
                      <p:childTnLst>
                        <p:par>
                          <p:cTn id="1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3" dur="55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180"/>
                      </p:stCondLst>
                      <p:childTnLst>
                        <p:par>
                          <p:cTn id="12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7" dur="550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270"/>
                      </p:stCondLst>
                      <p:childTnLst>
                        <p:par>
                          <p:cTn id="1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5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360"/>
                      </p:stCondLst>
                      <p:childTnLst>
                        <p:par>
                          <p:cTn id="1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5" dur="550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450"/>
                      </p:stCondLst>
                      <p:childTnLst>
                        <p:par>
                          <p:cTn id="1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9" dur="550"/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540"/>
                      </p:stCondLst>
                      <p:childTnLst>
                        <p:par>
                          <p:cTn id="1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3" dur="55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7" dur="550"/>
                                  <p:tgtEl>
                                    <p:spTgt spid="4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90"/>
                      </p:stCondLst>
                      <p:childTnLst>
                        <p:par>
                          <p:cTn id="1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50"/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80"/>
                      </p:stCondLst>
                      <p:childTnLst>
                        <p:par>
                          <p:cTn id="1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5" dur="550"/>
                                  <p:tgtEl>
                                    <p:spTgt spid="4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270"/>
                      </p:stCondLst>
                      <p:childTnLst>
                        <p:par>
                          <p:cTn id="1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9" dur="55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360"/>
                      </p:stCondLst>
                      <p:childTnLst>
                        <p:par>
                          <p:cTn id="1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3" dur="550"/>
                                  <p:tgtEl>
                                    <p:spTgt spid="5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450"/>
                      </p:stCondLst>
                      <p:childTnLst>
                        <p:par>
                          <p:cTn id="165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7" dur="550"/>
                                  <p:tgtEl>
                                    <p:spTgt spid="5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540"/>
                      </p:stCondLst>
                      <p:childTnLst>
                        <p:par>
                          <p:cTn id="1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50"/>
                                  <p:tgtEl>
                                    <p:spTgt spid="5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3. THIẾT BỊ SẢN XUẤT CHÍNH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Cấu tạo · nguyên lý · vận hành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11880" cy="82296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611880" cy="3657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77240" y="1463040"/>
            <a:ext cx="2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Máy đánh paste</a:t>
            </a:r>
          </a:p>
          <a:p>
            <a:pPr algn="l"/>
            <a:r>
              <a:rPr sz="1300" b="0" i="0">
                <a:solidFill>
                  <a:srgbClr val="E9F2EC"/>
                </a:solidFill>
                <a:latin typeface="Calibri"/>
              </a:rPr>
              <a:t>Mã: ĐP01B</a:t>
            </a:r>
          </a:p>
        </p:txBody>
      </p:sp>
      <p:pic>
        <p:nvPicPr>
          <p:cNvPr id="10" name="Picture 9" descr="eq_mixer.jpg"/>
          <p:cNvPicPr>
            <a:picLocks noChangeAspect="1"/>
          </p:cNvPicPr>
          <p:nvPr/>
        </p:nvPicPr>
        <p:blipFill>
          <a:blip r:embed="rId2"/>
          <a:srcRect t="33020" b="33020"/>
          <a:stretch>
            <a:fillRect/>
          </a:stretch>
        </p:blipFill>
        <p:spPr>
          <a:xfrm>
            <a:off x="713232" y="2395728"/>
            <a:ext cx="3282696" cy="12801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749808" y="3794760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Cấu tạo: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Động cơ 5–20 HP, trục &amp; cánh khuấy inox 304, bồn inox.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553712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Nguyên lý: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Quay 900–1200 v/p tạo lực cắt, phân tán bột màu/độn vào nhựa.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312664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Thao tác: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Hạ cánh khuấy ngập paste, tăng tốc dần, kiểm soát nhiệt.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46304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463040"/>
            <a:ext cx="3611880" cy="82296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920240"/>
            <a:ext cx="3611880" cy="36576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45152" y="1463040"/>
            <a:ext cx="2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Máy nghiền mịn</a:t>
            </a:r>
          </a:p>
          <a:p>
            <a:pPr algn="l"/>
            <a:r>
              <a:rPr sz="1300" b="0" i="0">
                <a:solidFill>
                  <a:srgbClr val="E9F2EC"/>
                </a:solidFill>
                <a:latin typeface="Calibri"/>
              </a:rPr>
              <a:t>Mã: NM06</a:t>
            </a:r>
          </a:p>
        </p:txBody>
      </p:sp>
      <p:pic>
        <p:nvPicPr>
          <p:cNvPr id="18" name="Picture 17" descr="eq_mill.jpg"/>
          <p:cNvPicPr>
            <a:picLocks noChangeAspect="1"/>
          </p:cNvPicPr>
          <p:nvPr/>
        </p:nvPicPr>
        <p:blipFill>
          <a:blip r:embed="rId3"/>
          <a:srcRect t="25041" b="25041"/>
          <a:stretch>
            <a:fillRect/>
          </a:stretch>
        </p:blipFill>
        <p:spPr>
          <a:xfrm>
            <a:off x="4581144" y="2395728"/>
            <a:ext cx="3282696" cy="12801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9" name="TextBox 18"/>
          <p:cNvSpPr txBox="1"/>
          <p:nvPr/>
        </p:nvSpPr>
        <p:spPr>
          <a:xfrm>
            <a:off x="4617720" y="3794760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4E3D"/>
                </a:solidFill>
                <a:latin typeface="Calibri"/>
              </a:rPr>
              <a:t>Cấu tạo: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Động cơ 30–60 HP, rổ nghiền inox chứa bi sứ/thủy tinh.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553712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4E3D"/>
                </a:solidFill>
                <a:latin typeface="Calibri"/>
              </a:rPr>
              <a:t>Nguyên lý: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Va đập + ma sát của bi nghiền, giảm hạt xuống 10–20 µm.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312664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4E3D"/>
                </a:solidFill>
                <a:latin typeface="Calibri"/>
              </a:rPr>
              <a:t>Thao tác: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Tuần hoàn paste qua rổ đến khi đạt độ mịn Hegman.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84464" y="1463040"/>
            <a:ext cx="3611880" cy="461772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84464" y="1463040"/>
            <a:ext cx="3611880" cy="82296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4464" y="1920240"/>
            <a:ext cx="3611880" cy="3657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13064" y="1463040"/>
            <a:ext cx="2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Máy pha loãng</a:t>
            </a:r>
          </a:p>
          <a:p>
            <a:pPr algn="l"/>
            <a:r>
              <a:rPr sz="1300" b="0" i="0">
                <a:solidFill>
                  <a:srgbClr val="E9F2EC"/>
                </a:solidFill>
                <a:latin typeface="Calibri"/>
              </a:rPr>
              <a:t>Mã: PL01–03</a:t>
            </a:r>
          </a:p>
        </p:txBody>
      </p:sp>
      <p:pic>
        <p:nvPicPr>
          <p:cNvPr id="26" name="Picture 25" descr="eq_line.jpg"/>
          <p:cNvPicPr>
            <a:picLocks noChangeAspect="1"/>
          </p:cNvPicPr>
          <p:nvPr/>
        </p:nvPicPr>
        <p:blipFill>
          <a:blip r:embed="rId4"/>
          <a:srcRect t="24000" b="24000"/>
          <a:stretch>
            <a:fillRect/>
          </a:stretch>
        </p:blipFill>
        <p:spPr>
          <a:xfrm>
            <a:off x="8449056" y="2395728"/>
            <a:ext cx="3282696" cy="12801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27" name="TextBox 26"/>
          <p:cNvSpPr txBox="1"/>
          <p:nvPr/>
        </p:nvSpPr>
        <p:spPr>
          <a:xfrm>
            <a:off x="8485632" y="3794760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88A2E"/>
                </a:solidFill>
                <a:latin typeface="Calibri"/>
              </a:rPr>
              <a:t>Cấu tạo: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Bồn inox, cánh khuấy thủy lực 4 cánh, van xả đáy côn.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4553712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88A2E"/>
                </a:solidFill>
                <a:latin typeface="Calibri"/>
              </a:rPr>
              <a:t>Nguyên lý: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Khuấy tạo dòng đối lưu, chỉnh độ nhớt bằng dung môi.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5312664"/>
            <a:ext cx="320954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C88A2E"/>
                </a:solidFill>
                <a:latin typeface="Calibri"/>
              </a:rPr>
              <a:t>Thao tác: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Bổ sung dung môi từ từ, đo KU đến thông số đích.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13</a:t>
            </a:r>
          </a:p>
        </p:txBody>
      </p:sp>
      <p:pic>
        <p:nvPicPr>
          <p:cNvPr id="124" name="Picture 123" descr="danh_past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8640" y="1664520"/>
            <a:ext cx="420000" cy="420000"/>
          </a:xfrm>
          <a:prstGeom prst="rect">
            <a:avLst/>
          </a:prstGeom>
        </p:spPr>
      </p:pic>
      <p:pic>
        <p:nvPicPr>
          <p:cNvPr id="125" name="Picture 124" descr="nghien_min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66552" y="1664520"/>
            <a:ext cx="420000" cy="420000"/>
          </a:xfrm>
          <a:prstGeom prst="rect">
            <a:avLst/>
          </a:prstGeom>
        </p:spPr>
      </p:pic>
      <p:pic>
        <p:nvPicPr>
          <p:cNvPr id="126" name="Picture 125" descr="pha_loang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34464" y="1664520"/>
            <a:ext cx="420000" cy="420000"/>
          </a:xfrm>
          <a:prstGeom prst="rect">
            <a:avLst/>
          </a:prstGeom>
        </p:spPr>
      </p:pic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8640" y="1664520"/>
            <a:ext cx="420000" cy="420000"/>
          </a:xfrm>
          <a:prstGeom prst="rect">
            <a:avLst/>
          </a:prstGeom>
        </p:spPr>
      </p:pic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66552" y="1664520"/>
            <a:ext cx="420000" cy="420000"/>
          </a:xfrm>
          <a:prstGeom prst="rect">
            <a:avLst/>
          </a:prstGeom>
        </p:spPr>
      </p:pic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2:svgBlip xmlns:ns2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34464" y="1664520"/>
            <a:ext cx="420000" cy="42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54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63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9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80"/>
                      </p:stCondLst>
                      <p:childTnLst>
                        <p:par>
                          <p:cTn id="5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27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36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45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54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630"/>
                      </p:stCondLst>
                      <p:childTnLst>
                        <p:par>
                          <p:cTn id="8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0"/>
                      </p:stCondLst>
                      <p:childTnLst>
                        <p:par>
                          <p:cTn id="8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9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18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27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360"/>
                      </p:stCondLst>
                      <p:childTnLst>
                        <p:par>
                          <p:cTn id="10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8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450"/>
                      </p:stCondLst>
                      <p:childTnLst>
                        <p:par>
                          <p:cTn id="1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3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540"/>
                      </p:stCondLst>
                      <p:childTnLst>
                        <p:par>
                          <p:cTn id="1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18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630"/>
                      </p:stCondLst>
                      <p:childTnLst>
                        <p:par>
                          <p:cTn id="1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23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60120"/>
            <a:ext cx="1234440" cy="12344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2344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6692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4</a:t>
            </a:r>
          </a:p>
          <a:p>
            <a:pPr algn="l">
              <a:lnSpc>
                <a:spcPct val="103000"/>
              </a:lnSpc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Kiểm soát chất lượng (KCS)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FA287"/>
                </a:solidFill>
                <a:latin typeface="Calibri"/>
              </a:rPr>
              <a:t>Kiểm tra tại xưởng · phòng lab · sơn tàu biển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960120"/>
            <a:ext cx="4937760" cy="4937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c_uv.jpg"/>
          <p:cNvPicPr>
            <a:picLocks noChangeAspect="1"/>
          </p:cNvPicPr>
          <p:nvPr/>
        </p:nvPicPr>
        <p:blipFill>
          <a:blip r:embed="rId2"/>
          <a:srcRect t="71" b="71"/>
          <a:stretch>
            <a:fillRect/>
          </a:stretch>
        </p:blipFill>
        <p:spPr>
          <a:xfrm>
            <a:off x="6858000" y="1097280"/>
            <a:ext cx="4663440" cy="466344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720840" y="6035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6FA287"/>
                </a:solidFill>
                <a:latin typeface="Calibri"/>
              </a:rPr>
              <a:t>Ảnh chụp tại xưởng — buồng thử lão hóa UV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KIỂM SOÁT CHẤT LƯỢNG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Hai cấp kiểm tra chất lượng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40680" cy="36576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2960" y="1554480"/>
            <a:ext cx="3897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Kiểm tra NHANH tại xưởng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 i="1">
                <a:solidFill>
                  <a:srgbClr val="5C6B64"/>
                </a:solidFill>
                <a:latin typeface="Calibri"/>
              </a:rPr>
              <a:t>Theo dõi từng mẻ, quyết định cho qua công đoạn — dùng dụng cụ đo nhanh cầm tay.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Tỷ trọng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Màu sắc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phủ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mịn (Hegman)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Thời gian khô</a:t>
            </a:r>
          </a:p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C7A5A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nhớt (Stormer)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F6EEDF"/>
          </a:solidFill>
          <a:ln w="12700">
            <a:solidFill>
              <a:srgbClr val="E7D5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440680" cy="3657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2240" y="1554480"/>
            <a:ext cx="3897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Kiểm tra SÂU tại phòng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06040"/>
            <a:ext cx="49377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0" i="1">
                <a:solidFill>
                  <a:srgbClr val="5C6B64"/>
                </a:solidFill>
                <a:latin typeface="Calibri"/>
              </a:rPr>
              <a:t>Đánh giá độ bền dài hạn của màng sơn — cơ sở nghiệm thu &amp; phát triển sản phẩm.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bám dính (Pull-off / Cross-cut)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Bền uốn · bền va đập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Độ bóng · hàm lượng rắn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Phun sương muối (salt-spray)</a:t>
            </a:r>
          </a:p>
          <a:p>
            <a:pPr algn="l">
              <a:spcAft>
                <a:spcPts val="900"/>
              </a:spcAft>
            </a:pPr>
            <a:r>
              <a:rPr sz="1450" b="1" i="0">
                <a:solidFill>
                  <a:srgbClr val="C88A2E"/>
                </a:solidFill>
                <a:latin typeface="Calibri"/>
              </a:rPr>
              <a:t>✔  </a:t>
            </a:r>
            <a:r>
              <a:rPr sz="1500" b="0" i="0">
                <a:solidFill>
                  <a:srgbClr val="222B28"/>
                </a:solidFill>
                <a:latin typeface="Calibri"/>
              </a:rPr>
              <a:t>Lão hóa màng sơn — UV/QUV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15</a:t>
            </a:r>
          </a:p>
        </p:txBody>
      </p:sp>
      <p:pic>
        <p:nvPicPr>
          <p:cNvPr id="54" name="Picture 53" descr="stopwatch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640" y="1750960"/>
            <a:ext cx="430000" cy="430000"/>
          </a:xfrm>
          <a:prstGeom prst="rect">
            <a:avLst/>
          </a:prstGeom>
        </p:spPr>
      </p:pic>
      <p:pic>
        <p:nvPicPr>
          <p:cNvPr id="55" name="Picture 54" descr="microscop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7920" y="1750960"/>
            <a:ext cx="430000" cy="430000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1750960"/>
            <a:ext cx="430000" cy="430000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67920" y="1750960"/>
            <a:ext cx="430000" cy="43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2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SƠN TÀU BIỂN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Ba phép thử bắt buộc cho sơn tàu biển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Tàu biển ngâm liên tục trong nước muối + độ ẩm cao + va đập sóng</a:t>
            </a:r>
            <a:r>
              <a:rPr sz="1450" b="0" i="0">
                <a:solidFill>
                  <a:srgbClr val="222B28"/>
                </a:solidFill>
                <a:latin typeface="Calibri"/>
              </a:rPr>
              <a:t> → ba phép thử sau là bắt buộc, khác hẳn sơn trang trí thông thường: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2148840"/>
            <a:ext cx="457200" cy="1170432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313432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Độ bám dính (Pull-off)</a:t>
            </a:r>
          </a:p>
          <a:p>
            <a:pPr algn="l"/>
            <a:r>
              <a:rPr sz="1300" b="1" i="0">
                <a:solidFill>
                  <a:srgbClr val="2C7A5A"/>
                </a:solidFill>
                <a:latin typeface="Calibri"/>
              </a:rPr>
              <a:t>ISO 4624 / ASTM D4541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313432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Kéo đứt màng sơn bằng lực thủy lực, đo bằng MPa. Bám dính yếu thì nước biển len vào, ăn mòn lan ngầm dưới lớp sơn.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47288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447288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3447288"/>
            <a:ext cx="457200" cy="1170432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47288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611880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Phun sương muối 1000 giờ</a:t>
            </a:r>
          </a:p>
          <a:p>
            <a:pPr algn="l"/>
            <a:r>
              <a:rPr sz="1300" b="1" i="0">
                <a:solidFill>
                  <a:srgbClr val="1F4E3D"/>
                </a:solidFill>
                <a:latin typeface="Calibri"/>
              </a:rPr>
              <a:t>ISO 7253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611880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Phun sương NaCl 5% liên tục ở 35°C trong 1000 giờ, mô phỏng khí hậu biển tăng tốc để đánh giá độ gỉ và lan rỉ.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170432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745736"/>
            <a:ext cx="1371600" cy="1170432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63040" y="4745736"/>
            <a:ext cx="457200" cy="117043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745736"/>
            <a:ext cx="1371600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910327"/>
            <a:ext cx="3566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650" b="1" i="0">
                <a:solidFill>
                  <a:srgbClr val="1F4E3D"/>
                </a:solidFill>
                <a:latin typeface="Calibri"/>
              </a:rPr>
              <a:t>Lão hóa nhanh QUV</a:t>
            </a:r>
          </a:p>
          <a:p>
            <a:pPr algn="l"/>
            <a:r>
              <a:rPr sz="1300" b="1" i="0">
                <a:solidFill>
                  <a:srgbClr val="C88A2E"/>
                </a:solidFill>
                <a:latin typeface="Calibri"/>
              </a:rPr>
              <a:t>Chu trình UV-A / UV-B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910327"/>
            <a:ext cx="5486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B28"/>
                </a:solidFill>
                <a:latin typeface="Calibri"/>
              </a:rPr>
              <a:t>Mô phỏng nhiều tháng nắng – mưa chỉ trong vài tuần, kiểm tra hiện tượng phấn hóa, phai màu và nứt màng.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16</a:t>
            </a:r>
          </a:p>
        </p:txBody>
      </p:sp>
      <p:pic>
        <p:nvPicPr>
          <p:cNvPr id="94" name="Picture 93" descr="adhesion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4440" y="2454056"/>
            <a:ext cx="560000" cy="560000"/>
          </a:xfrm>
          <a:prstGeom prst="rect">
            <a:avLst/>
          </a:prstGeom>
        </p:spPr>
      </p:pic>
      <p:pic>
        <p:nvPicPr>
          <p:cNvPr id="95" name="Picture 94" descr="salt_spra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4440" y="3752504"/>
            <a:ext cx="560000" cy="560000"/>
          </a:xfrm>
          <a:prstGeom prst="rect">
            <a:avLst/>
          </a:prstGeom>
        </p:spPr>
      </p:pic>
      <p:pic>
        <p:nvPicPr>
          <p:cNvPr id="96" name="Picture 95" descr="sun_uv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440" y="5050952"/>
            <a:ext cx="560000" cy="560000"/>
          </a:xfrm>
          <a:prstGeom prst="rect">
            <a:avLst/>
          </a:prstGeom>
        </p:spPr>
      </p:pic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4440" y="2454056"/>
            <a:ext cx="560000" cy="560000"/>
          </a:xfrm>
          <a:prstGeom prst="rect">
            <a:avLst/>
          </a:prstGeom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4440" y="3752504"/>
            <a:ext cx="560000" cy="560000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4440" y="5050952"/>
            <a:ext cx="560000" cy="56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450"/>
                      </p:stCondLst>
                      <p:childTnLst>
                        <p:par>
                          <p:cTn id="3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27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360"/>
                      </p:stCondLst>
                      <p:childTnLst>
                        <p:par>
                          <p:cTn id="5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45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9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18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270"/>
                      </p:stCondLst>
                      <p:childTnLst>
                        <p:par>
                          <p:cTn id="8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36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45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4. KCS — HÌNH ẢNH THỰC TẾ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Dụng cụ &amp; thiết bị kiểm tra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c_pulloff.jpg"/>
          <p:cNvPicPr>
            <a:picLocks noChangeAspect="1"/>
          </p:cNvPicPr>
          <p:nvPr/>
        </p:nvPicPr>
        <p:blipFill>
          <a:blip r:embed="rId2"/>
          <a:srcRect l="32200" r="32200"/>
          <a:stretch>
            <a:fillRect/>
          </a:stretch>
        </p:blipFill>
        <p:spPr>
          <a:xfrm>
            <a:off x="62179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8" name="Rounded Rectangle 7"/>
          <p:cNvSpPr/>
          <p:nvPr/>
        </p:nvSpPr>
        <p:spPr>
          <a:xfrm>
            <a:off x="54864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Bộ đo độ bám dính Pull-off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c_hegman.jpg"/>
          <p:cNvPicPr>
            <a:picLocks noChangeAspect="1"/>
          </p:cNvPicPr>
          <p:nvPr/>
        </p:nvPicPr>
        <p:blipFill>
          <a:blip r:embed="rId3"/>
          <a:srcRect l="12595" r="12595"/>
          <a:stretch>
            <a:fillRect/>
          </a:stretch>
        </p:blipFill>
        <p:spPr>
          <a:xfrm>
            <a:off x="345643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3" name="Rounded Rectangle 12"/>
          <p:cNvSpPr/>
          <p:nvPr/>
        </p:nvSpPr>
        <p:spPr>
          <a:xfrm>
            <a:off x="338328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Thước đo độ mịn Hegman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qc_lab.jpg"/>
          <p:cNvPicPr>
            <a:picLocks noChangeAspect="1"/>
          </p:cNvPicPr>
          <p:nvPr/>
        </p:nvPicPr>
        <p:blipFill>
          <a:blip r:embed="rId4"/>
          <a:srcRect l="32627" r="32627"/>
          <a:stretch>
            <a:fillRect/>
          </a:stretch>
        </p:blipFill>
        <p:spPr>
          <a:xfrm>
            <a:off x="629107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18" name="Rounded Rectangle 17"/>
          <p:cNvSpPr/>
          <p:nvPr/>
        </p:nvSpPr>
        <p:spPr>
          <a:xfrm>
            <a:off x="621792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754880"/>
            <a:ext cx="2670048" cy="27432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Thiết bị phòng thí nghiệm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600200"/>
            <a:ext cx="26700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qc_cup.jpg"/>
          <p:cNvPicPr>
            <a:picLocks noChangeAspect="1"/>
          </p:cNvPicPr>
          <p:nvPr/>
        </p:nvPicPr>
        <p:blipFill>
          <a:blip r:embed="rId5"/>
          <a:srcRect l="25390" r="25390"/>
          <a:stretch>
            <a:fillRect/>
          </a:stretch>
        </p:blipFill>
        <p:spPr>
          <a:xfrm>
            <a:off x="9125712" y="1673352"/>
            <a:ext cx="2523744" cy="3337560"/>
          </a:xfrm>
          <a:prstGeom prst="rect">
            <a:avLst/>
          </a:prstGeom>
          <a:ln w="25400">
            <a:solidFill>
              <a:srgbClr val="FFFFFF"/>
            </a:solidFill>
          </a:ln>
          <a:effectLst/>
        </p:spPr>
      </p:pic>
      <p:sp>
        <p:nvSpPr>
          <p:cNvPr id="23" name="Rounded Rectangle 22"/>
          <p:cNvSpPr/>
          <p:nvPr/>
        </p:nvSpPr>
        <p:spPr>
          <a:xfrm>
            <a:off x="9052560" y="4919472"/>
            <a:ext cx="2670048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560" y="4754880"/>
            <a:ext cx="2670048" cy="27432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4901184"/>
            <a:ext cx="2450591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Cốc/thùng chứa mẫu sơn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Các dụng cụ đo nhanh (Pull-off, Hegman, Stormer, Pfund) cho phép đánh giá tại chỗ theo khung TCVN / ASTM mà không cần thiết bị phân tích chuyên sâu.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7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7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7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7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7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7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7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7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7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7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7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7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7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7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7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7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7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7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7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7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4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7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5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Những sự cố thường gặp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Nhận diện · nguyên nhân · biện pháp xử lý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THƯỜNG GẶP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Bốn sự cố điển hình trong sản xuất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109960" cy="47548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1109960" cy="24688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6517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Sự cố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508760"/>
            <a:ext cx="3200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Nguyên nhân chính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6634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Biện pháp xử lý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231136"/>
            <a:ext cx="118872" cy="676656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157984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Sốc nhựa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vón cục, kết tủa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57984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Dung môi thay thế có chỉ số hòa tan (Kauri-Butanol) thấp, mất cân bằng phân cực.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157984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Châm dung môi phân cực mạnh (Butyl Acetate / Xylene) + khuấy nghiền rổ 1200–1500 v/p phá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18104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46120"/>
            <a:ext cx="118872" cy="676656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72968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Chảy xệ màng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Sơn chảy khi thi công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172968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Tốc độ bay hơi dung môi chậm; độ nhớt/cân bằng KB không đạt.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172968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Hiệu chỉnh hệ dung môi, cân bằng chỉ số Kauri–Butanol, kiểm soát độ nhớt trước khi phun.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33088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261104"/>
            <a:ext cx="118872" cy="676656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87952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Lắng cứng đáy bồn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Bột lắng, khó khuấy lại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187952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Chênh lệch “độ hút dầu” của bột mới vượt giới hạn PVC.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187952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Tính lại tỷ lệ nhựa–dung môi theo độ hút dầu; bổ sung chất độn cấu trúc vảy/kim chống lắng.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48072"/>
            <a:ext cx="1110996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5276088"/>
            <a:ext cx="118872" cy="676656"/>
          </a:xfrm>
          <a:prstGeom prst="roundRect">
            <a:avLst>
              <a:gd name="adj" fmla="val 6000"/>
            </a:avLst>
          </a:prstGeom>
          <a:solidFill>
            <a:srgbClr val="6FA2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202936"/>
            <a:ext cx="2697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F4E3D"/>
                </a:solidFill>
                <a:latin typeface="Calibri"/>
              </a:rPr>
              <a:t>Mất bóng / nứt giòn</a:t>
            </a:r>
          </a:p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C6B64"/>
                </a:solidFill>
                <a:latin typeface="Calibri"/>
              </a:rPr>
              <a:t>Màng bong tróc, nứt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5202936"/>
            <a:ext cx="3154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Vượt nồng độ thể tích bột màu (PVC), thiếu nhựa liên kết.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202936"/>
            <a:ext cx="4663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0" i="0">
                <a:solidFill>
                  <a:srgbClr val="222B28"/>
                </a:solidFill>
                <a:latin typeface="Calibri"/>
              </a:rPr>
              <a:t>Cân đối lại PVC, tăng chất tạo màng dẻo dai; kiểm tra Hegman &amp; độ phủ trước khi đóng gói.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7" dur="5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90"/>
                      </p:stCondLst>
                      <p:childTnLst>
                        <p:par>
                          <p:cTn id="6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80"/>
                      </p:stCondLst>
                      <p:childTnLst>
                        <p:par>
                          <p:cTn id="7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5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270"/>
                      </p:stCondLst>
                      <p:childTnLst>
                        <p:par>
                          <p:cTn id="7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9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360"/>
                      </p:stCondLst>
                      <p:childTnLst>
                        <p:par>
                          <p:cTn id="8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3" dur="55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5. SỰ CỐ TIÊU ĐIỂM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“Sốc nhựa” khi thay thế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554480"/>
            <a:ext cx="137160" cy="102412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Hiện tượng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554480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Sơn vón cục, kết tủa; màng sơn chảy xệ khi thi công.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88336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688336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688336"/>
            <a:ext cx="137160" cy="1024128"/>
          </a:xfrm>
          <a:prstGeom prst="rect">
            <a:avLst/>
          </a:prstGeom>
          <a:solidFill>
            <a:srgbClr val="9A6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688336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Nguyên nhân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688336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Dung môi mới có chỉ số hòa tan (Kauri-Butanol) thấp → mất cân bằng phân cực; tốc độ bay hơi chậm khiến hệ nhựa keo tụ.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822191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3822191"/>
            <a:ext cx="137160" cy="1024128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22191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Xử lý tại xưởng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822191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Châm bổ sung dung môi phân cực mạnh — Butyl Acetate hoặc Xylene — rồi khuấy nghiền rổ ở 1200–1500 v/p để phá vỡ keo tụ.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56048"/>
            <a:ext cx="11109960" cy="1024128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4956048"/>
            <a:ext cx="2331720" cy="1024128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0" y="4956048"/>
            <a:ext cx="137160" cy="1024128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956048"/>
            <a:ext cx="2103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Phòng ngừa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956048"/>
            <a:ext cx="832104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222B28"/>
                </a:solidFill>
                <a:latin typeface="Calibri"/>
              </a:rPr>
              <a:t>Kiểm tra chỉ số KB của dung môi đầu vào; thử mẻ nhỏ trước khi thay thế đại trà; hiệu chỉnh công thức theo độ hút dầu bột mới.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Ảnh thực tế mẻ sơn bị sốc nhựa sẽ được bổ sung khi chụp được tại xưởng.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0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+-0.4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937760"/>
            <a:ext cx="3108960" cy="310896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-1005840"/>
            <a:ext cx="2743200" cy="274320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011680"/>
            <a:ext cx="1371600" cy="13716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0"/>
            <a:ext cx="8778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FA287"/>
                </a:solidFill>
                <a:latin typeface="Calibri"/>
              </a:rPr>
              <a:t>PHẦN 6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  <a:latin typeface="Cambria"/>
              </a:rPr>
              <a:t>An toàn lao động &amp; môi trường</a:t>
            </a:r>
          </a:p>
          <a:p>
            <a:pPr algn="l"/>
            <a:r>
              <a:rPr sz="1500" b="0" i="0">
                <a:solidFill>
                  <a:srgbClr val="6FA287"/>
                </a:solidFill>
                <a:latin typeface="Calibri"/>
              </a:rPr>
              <a:t>PCCC · dung môi/VOC · xử lý khí thải – nước thải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3E8C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C7A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6404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F4E3D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12680" y="4160520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1433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61320" y="4306824"/>
            <a:ext cx="548640" cy="1417320"/>
          </a:xfrm>
          <a:prstGeom prst="roundRect">
            <a:avLst>
              <a:gd name="adj" fmla="val 12000"/>
            </a:avLst>
          </a:prstGeom>
          <a:solidFill>
            <a:srgbClr val="2E6E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4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450"/>
                      </p:stCondLst>
                      <p:childTnLst>
                        <p:par>
                          <p:cTn id="25" presetID="22" presetClass="entr" presetSubtype="4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6. AN TOÀN LAO ĐỘNG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Nhận diện nguy cơ &amp; biện pháp phòng ngừa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181051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105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1051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Cháy nổ dung môi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Dung môi hữu cơ (Xylene, Butyl Acetate) dễ bay hơi, bắt lửa.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97180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Khu vực chống tĩnh điện, thiết bị phòng nổ, PCCC tại chỗ, cấm nguồn nhiệt/lửa hở.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8232" y="181051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105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81051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Hơi dung môi độc hại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46888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Hít hơi VOC gây hại hô hấp, thần kinh khi tiếp xúc lâu.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97180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Thông gió cưỡng bức, mặt nạ phòng độc, giới hạn thời gian phơi nhiễm, quan trắc không khí.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405079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0507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050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Hóa chất &amp; bột màu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70916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Tiếp xúc da/mắt với hóa chất, bụi bột màu vô cơ.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21208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PPE đầy đủ (găng, kính, khẩu trang), rửa mắt khẩn cấp, ghi nhãn &amp; MSDS đầy đủ.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94760"/>
            <a:ext cx="5486400" cy="20574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28232" y="4050792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0507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050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F4E3D"/>
                </a:solidFill>
                <a:latin typeface="Calibri"/>
              </a:rPr>
              <a:t>Cơ khí — máy khuấy/nghiền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70916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9A661E"/>
                </a:solidFill>
                <a:latin typeface="Calibri"/>
              </a:rPr>
              <a:t>Nguy cơ: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Cuốn kẹt, văng bắn ở máy tốc độ cao.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212080"/>
            <a:ext cx="4937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C7A5A"/>
                </a:solidFill>
                <a:latin typeface="Calibri"/>
              </a:rPr>
              <a:t>Biện pháp: </a:t>
            </a:r>
            <a:r>
              <a:rPr sz="1300" b="0" i="0">
                <a:solidFill>
                  <a:srgbClr val="222B28"/>
                </a:solidFill>
                <a:latin typeface="Calibri"/>
              </a:rPr>
              <a:t>Che chắn bộ truyền động, nút dừng khẩn, quy trình khóa–treo (LOTO) khi bảo trì.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64"/>
                </a:solidFill>
                <a:latin typeface="Calibri"/>
              </a:rPr>
              <a:t>Báo cáo thực tập  ·  Công ty TNHH Sơn Hải Vân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22</a:t>
            </a:r>
          </a:p>
        </p:txBody>
      </p:sp>
      <p:pic>
        <p:nvPicPr>
          <p:cNvPr id="104" name="Picture 103" descr="flame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5373" y="1931213"/>
            <a:ext cx="307238" cy="307238"/>
          </a:xfrm>
          <a:prstGeom prst="rect">
            <a:avLst/>
          </a:prstGeom>
        </p:spPr>
      </p:pic>
      <p:pic>
        <p:nvPicPr>
          <p:cNvPr id="105" name="Picture 104" descr="gasmask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8933" y="1931213"/>
            <a:ext cx="307238" cy="307238"/>
          </a:xfrm>
          <a:prstGeom prst="rect">
            <a:avLst/>
          </a:prstGeom>
        </p:spPr>
      </p:pic>
      <p:pic>
        <p:nvPicPr>
          <p:cNvPr id="106" name="Picture 105" descr="chemical_glove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5373" y="4171493"/>
            <a:ext cx="307238" cy="307238"/>
          </a:xfrm>
          <a:prstGeom prst="rect">
            <a:avLst/>
          </a:prstGeom>
        </p:spPr>
      </p:pic>
      <p:pic>
        <p:nvPicPr>
          <p:cNvPr id="107" name="Picture 106" descr="gear_proc_g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8933" y="4171493"/>
            <a:ext cx="307238" cy="307238"/>
          </a:xfrm>
          <a:prstGeom prst="rect">
            <a:avLst/>
          </a:prstGeom>
        </p:spPr>
      </p:pic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373" y="1931213"/>
            <a:ext cx="307238" cy="307238"/>
          </a:xfrm>
          <a:prstGeom prst="rect">
            <a:avLst/>
          </a:prstGeom>
        </p:spPr>
      </p:pic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48933" y="1931213"/>
            <a:ext cx="307238" cy="307238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373" y="4171493"/>
            <a:ext cx="307238" cy="307238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548933" y="4171493"/>
            <a:ext cx="307238" cy="3072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270"/>
                      </p:stCondLst>
                      <p:childTnLst>
                        <p:par>
                          <p:cTn id="2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36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90"/>
                      </p:stCondLst>
                      <p:childTnLst>
                        <p:par>
                          <p:cTn id="3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8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27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360"/>
                      </p:stCondLst>
                      <p:childTnLst>
                        <p:par>
                          <p:cTn id="5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3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58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90"/>
                      </p:stCondLst>
                      <p:childTnLst>
                        <p:par>
                          <p:cTn id="6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3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180"/>
                      </p:stCondLst>
                      <p:childTnLst>
                        <p:par>
                          <p:cTn id="6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68" dur="5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270"/>
                      </p:stCondLst>
                      <p:childTnLst>
                        <p:par>
                          <p:cTn id="7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3" dur="5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360"/>
                      </p:stCondLst>
                      <p:childTnLst>
                        <p:par>
                          <p:cTn id="7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8" dur="5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3" dur="5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90"/>
                      </p:stCondLst>
                      <p:childTnLst>
                        <p:par>
                          <p:cTn id="8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8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8" dur="5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180"/>
                      </p:stCondLst>
                      <p:childTnLst>
                        <p:par>
                          <p:cTn id="9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3" dur="5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270"/>
                      </p:stCondLst>
                      <p:childTnLst>
                        <p:par>
                          <p:cTn id="9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9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98" dur="5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360"/>
                      </p:stCondLst>
                      <p:childTnLst>
                        <p:par>
                          <p:cTn id="10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0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03" dur="5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C7A5A"/>
                </a:solidFill>
                <a:latin typeface="Calibri"/>
              </a:rPr>
              <a:t>6. VẤN ĐỀ MÔI TRƯỜNG</a:t>
            </a:r>
          </a:p>
          <a:p>
            <a:pPr algn="l"/>
            <a:r>
              <a:rPr sz="2700" b="1" i="0">
                <a:solidFill>
                  <a:srgbClr val="1F4E3D"/>
                </a:solidFill>
                <a:latin typeface="Cambria"/>
              </a:rPr>
              <a:t>Kiểm soát chất thải trong sản xuất sơn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0" y="1554480"/>
            <a:ext cx="137160" cy="1371600"/>
          </a:xfrm>
          <a:prstGeom prst="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71520" y="1664207"/>
            <a:ext cx="136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Khí thải — hơi VOC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82495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2C7A5A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Hơi dung môi hữu cơ phát sinh khi đánh paste, pha loãng, vệ sinh thiết bị.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Thu gom qua chụp hút → xử lý bằng than hoạt tính / buồng đốt; hướng dùng sơn hệ nước &amp; rắn cao (high-solid) để giảm VOC.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35808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035808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3035808"/>
            <a:ext cx="137160" cy="13716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71520" y="3145536"/>
            <a:ext cx="136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Nước thải &amp; dung môi thải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63824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1F4E3D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Nước rửa thiết bị, cặn sơn, dung môi bẩn sau vệ sinh.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Lắng – tách cặn, thu hồi dung môi tái chưng cất; cặn sơn xử lý như chất thải nguy hại theo quy định.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17136"/>
            <a:ext cx="11109960" cy="1371600"/>
          </a:xfrm>
          <a:prstGeom prst="roundRect">
            <a:avLst>
              <a:gd name="adj" fmla="val 6000"/>
            </a:avLst>
          </a:prstGeom>
          <a:solidFill>
            <a:srgbClr val="EEF4F0"/>
          </a:solidFill>
          <a:ln w="12700">
            <a:solidFill>
              <a:srgbClr val="D5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517136"/>
            <a:ext cx="2880360" cy="1371600"/>
          </a:xfrm>
          <a:prstGeom prst="roundRect">
            <a:avLst>
              <a:gd name="adj" fmla="val 6000"/>
            </a:avLst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4517136"/>
            <a:ext cx="137160" cy="13716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71520" y="4626864"/>
            <a:ext cx="13660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Chất thải rắn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4645152"/>
            <a:ext cx="7863840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>
                <a:solidFill>
                  <a:srgbClr val="C88A2E"/>
                </a:solidFill>
                <a:latin typeface="Calibri"/>
              </a:rPr>
              <a:t>Nguồn phát sinh: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Bao bì hóa chất, cặn bột màu, giẻ lau dính sơn/dung môi.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C7A5A"/>
                </a:solidFill>
                <a:latin typeface="Calibri"/>
              </a:rPr>
              <a:t>Giải pháp: </a:t>
            </a:r>
            <a:r>
              <a:rPr sz="1350" b="0" i="0">
                <a:solidFill>
                  <a:srgbClr val="222B28"/>
                </a:solidFill>
                <a:latin typeface="Calibri"/>
              </a:rPr>
              <a:t>Phân loại tại nguồn, lưu kho chất thải nguy hại, hợp đồng đơn vị có chức năng thu gom – xử lý.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64"/>
                </a:solidFill>
                <a:latin typeface="Calibri"/>
              </a:rPr>
              <a:t>Tuân thủ QCVN về khí thải / nước thải công nghiệp và Luật Bảo vệ môi trường; hướng bền vững là giảm dung môi, tăng sơn hệ nước.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C7A5A"/>
                </a:solidFill>
                <a:latin typeface="Calibri"/>
              </a:rPr>
              <a:t>23</a:t>
            </a:r>
          </a:p>
        </p:txBody>
      </p:sp>
      <p:pic>
        <p:nvPicPr>
          <p:cNvPr id="64" name="Picture 63" descr="smoke_air_w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640" y="2000280"/>
            <a:ext cx="480000" cy="480000"/>
          </a:xfrm>
          <a:prstGeom prst="rect">
            <a:avLst/>
          </a:prstGeom>
        </p:spPr>
      </p:pic>
      <p:pic>
        <p:nvPicPr>
          <p:cNvPr id="65" name="Picture 64" descr="water_wast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640" y="3481608"/>
            <a:ext cx="480000" cy="480000"/>
          </a:xfrm>
          <a:prstGeom prst="rect">
            <a:avLst/>
          </a:prstGeom>
        </p:spPr>
      </p:pic>
      <p:pic>
        <p:nvPicPr>
          <p:cNvPr id="66" name="Picture 65" descr="solid_w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640" y="4962936"/>
            <a:ext cx="480000" cy="480000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8640" y="2000280"/>
            <a:ext cx="480000" cy="480000"/>
          </a:xfrm>
          <a:prstGeom prst="rect">
            <a:avLst/>
          </a:prstGeom>
        </p:spPr>
      </p:pic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640" y="3481608"/>
            <a:ext cx="480000" cy="480000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640" y="4962936"/>
            <a:ext cx="480000" cy="48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180"/>
                      </p:stCondLst>
                      <p:childTnLst>
                        <p:par>
                          <p:cTn id="1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" dur="5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270"/>
                      </p:stCondLst>
                      <p:childTnLst>
                        <p:par>
                          <p:cTn id="1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60"/>
                      </p:stCondLst>
                      <p:childTnLst>
                        <p:par>
                          <p:cTn id="2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90"/>
                      </p:stCondLst>
                      <p:childTnLst>
                        <p:par>
                          <p:cTn id="2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" dur="5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180"/>
                      </p:stCondLst>
                      <p:childTnLst>
                        <p:par>
                          <p:cTn id="3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5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270"/>
                      </p:stCondLst>
                      <p:childTnLst>
                        <p:par>
                          <p:cTn id="3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9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360"/>
                      </p:stCondLst>
                      <p:childTnLst>
                        <p:par>
                          <p:cTn id="4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presetID="22" presetClass="entr" presetSubtype="1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7" dur="5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90"/>
                      </p:stCondLst>
                      <p:childTnLst>
                        <p:par>
                          <p:cTn id="49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180"/>
                      </p:stCondLst>
                      <p:childTnLst>
                        <p:par>
                          <p:cTn id="53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5" dur="5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270"/>
                      </p:stCondLst>
                      <p:childTnLst>
                        <p:par>
                          <p:cTn id="57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9" dur="5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360"/>
                      </p:stCondLst>
                      <p:childTnLst>
                        <p:par>
                          <p:cTn id="61" presetID="22" presetClass="entr" presetSubtype="10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3" dur="5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5120640"/>
            <a:ext cx="2743200" cy="274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377440" cy="2377440"/>
          </a:xfrm>
          <a:prstGeom prst="ellipse">
            <a:avLst/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88A2E"/>
                </a:solidFill>
                <a:latin typeface="Calibri"/>
              </a:rPr>
              <a:t>KẾT LUẬN &amp; KIẾN NGHỊ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Tổng kết đợt thực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3317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1762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Kết quả đạt được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Nắm vững quy trình công nghệ sản xuất sơn, hệ tiêu chuẩn kiểm soát chất lượng (QC) và cách vận hành thiết bị chính tại nhà máy.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83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37033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033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5478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1 — Số hóa màu sắc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Xây dựng thư viện màu chuẩn điện tử thay cho việc chỉ lưu mẫu chuẩn vật lý, giảm sai lệch giữa các mẻ.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184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5074920"/>
            <a:ext cx="594360" cy="59436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74920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919472"/>
            <a:ext cx="9235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2C96B"/>
                </a:solidFill>
                <a:latin typeface="Calibri"/>
              </a:rPr>
              <a:t>Kiến nghị 2 — Truy xuất nguồn gốc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ECF3EE"/>
                </a:solidFill>
                <a:latin typeface="Calibri"/>
              </a:rPr>
              <a:t>Gắn QR Code / Barcode cho từng mẻ sơn, liên kết dữ liệu máy đo màu, độ mịn và nguyên liệu đầu vào.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1">
                <a:solidFill>
                  <a:srgbClr val="FFFFFF"/>
                </a:solidFill>
                <a:latin typeface="Calibri"/>
              </a:rPr>
              <a:t>Xin chân thành cảm ơn quý thầy cô và Công ty TNHH Sơn Hải Vân đã hướng dẫn!</a:t>
            </a:r>
          </a:p>
        </p:txBody>
      </p:sp>
      <p:pic>
        <p:nvPicPr>
          <p:cNvPr id="49" name="Picture 48" descr="grad_check_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2320" y="2462480"/>
            <a:ext cx="332841" cy="332841"/>
          </a:xfrm>
          <a:prstGeom prst="rect">
            <a:avLst/>
          </a:prstGeom>
        </p:spPr>
      </p:pic>
      <p:pic>
        <p:nvPicPr>
          <p:cNvPr id="50" name="Picture 49" descr="palette_g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2320" y="3834080"/>
            <a:ext cx="332841" cy="332841"/>
          </a:xfrm>
          <a:prstGeom prst="rect">
            <a:avLst/>
          </a:prstGeom>
        </p:spPr>
      </p:pic>
      <p:pic>
        <p:nvPicPr>
          <p:cNvPr id="51" name="Picture 50" descr="qr_code_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82320" y="5205680"/>
            <a:ext cx="332841" cy="332841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82320" y="2462480"/>
            <a:ext cx="332841" cy="332841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82320" y="3834080"/>
            <a:ext cx="332841" cy="332841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82320" y="5205680"/>
            <a:ext cx="332841" cy="33284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3" dur="5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80"/>
                      </p:stCondLst>
                      <p:childTnLst>
                        <p:par>
                          <p:cTn id="1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18" dur="5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3" dur="5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90"/>
                      </p:stCondLst>
                      <p:childTnLst>
                        <p:par>
                          <p:cTn id="2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2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28" dur="5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180"/>
                      </p:stCondLst>
                      <p:childTnLst>
                        <p:par>
                          <p:cTn id="3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3" dur="5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presetID="47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3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38" dur="5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90"/>
                      </p:stCondLst>
                      <p:childTnLst>
                        <p:par>
                          <p:cTn id="40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2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3" dur="5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presetID="47" presetClass="entr" presetSubtype="8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47" dur="550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0.1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48" dur="5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