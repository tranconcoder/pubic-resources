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svg" ContentType="image/svg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c_hex_pale.svg"/><Relationship Id="rId7" Type="http://schemas.openxmlformats.org/officeDocument/2006/relationships/image" Target="../media/ic_swash_pale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c_deco_mol_white.svg"/><Relationship Id="rId5" Type="http://schemas.openxmlformats.org/officeDocument/2006/relationships/image" Target="../media/ic_divbg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12.png"/><Relationship Id="rId10" Type="http://schemas.openxmlformats.org/officeDocument/2006/relationships/image" Target="../media/image13.png"/><Relationship Id="rId11" Type="http://schemas.openxmlformats.org/officeDocument/2006/relationships/image" Target="../media/ic_brush_amber.svg"/><Relationship Id="rId12" Type="http://schemas.openxmlformats.org/officeDocument/2006/relationships/image" Target="../media/ic_company_w.svg"/><Relationship Id="rId13" Type="http://schemas.openxmlformats.org/officeDocument/2006/relationships/image" Target="../media/ic_gear_proc_w.svg"/><Relationship Id="rId14" Type="http://schemas.openxmlformats.org/officeDocument/2006/relationships/image" Target="../media/ic_hex_pale.svg"/><Relationship Id="rId15" Type="http://schemas.openxmlformats.org/officeDocument/2006/relationships/image" Target="../media/ic_materials_w.svg"/><Relationship Id="rId16" Type="http://schemas.openxmlformats.org/officeDocument/2006/relationships/image" Target="../media/ic_quality_check_w.svg"/><Relationship Id="rId17" Type="http://schemas.openxmlformats.org/officeDocument/2006/relationships/image" Target="../media/ic_safety_shield_w.svg"/><Relationship Id="rId18" Type="http://schemas.openxmlformats.org/officeDocument/2006/relationships/image" Target="../media/ic_swash_pale.svg"/><Relationship Id="rId19" Type="http://schemas.openxmlformats.org/officeDocument/2006/relationships/image" Target="../media/ic_warning_tri_w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8.png"/><Relationship Id="rId4" Type="http://schemas.openxmlformats.org/officeDocument/2006/relationships/image" Target="../media/ic_company_w.svg"/><Relationship Id="rId5" Type="http://schemas.openxmlformats.org/officeDocument/2006/relationships/image" Target="../media/ic_divbg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c_brush_amber.svg"/><Relationship Id="rId10" Type="http://schemas.openxmlformats.org/officeDocument/2006/relationships/image" Target="../media/ic_factory_w.svg"/><Relationship Id="rId11" Type="http://schemas.openxmlformats.org/officeDocument/2006/relationships/image" Target="../media/ic_hex_pale.svg"/><Relationship Id="rId12" Type="http://schemas.openxmlformats.org/officeDocument/2006/relationships/image" Target="../media/ic_history_clock_w.svg"/><Relationship Id="rId13" Type="http://schemas.openxmlformats.org/officeDocument/2006/relationships/image" Target="../media/ic_paint_can_w.svg"/><Relationship Id="rId14" Type="http://schemas.openxmlformats.org/officeDocument/2006/relationships/image" Target="../media/ic_swash_pale.svg"/><Relationship Id="rId15" Type="http://schemas.openxmlformats.org/officeDocument/2006/relationships/image" Target="../media/ic_target_w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18.png"/><Relationship Id="rId6" Type="http://schemas.openxmlformats.org/officeDocument/2006/relationships/image" Target="../media/ic_big_timeline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16.png"/><Relationship Id="rId6" Type="http://schemas.openxmlformats.org/officeDocument/2006/relationships/image" Target="../media/image14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c_brush_amber.svg"/><Relationship Id="rId10" Type="http://schemas.openxmlformats.org/officeDocument/2006/relationships/image" Target="../media/ic_company_w.svg"/><Relationship Id="rId11" Type="http://schemas.openxmlformats.org/officeDocument/2006/relationships/image" Target="../media/ic_factory_w.svg"/><Relationship Id="rId12" Type="http://schemas.openxmlformats.org/officeDocument/2006/relationships/image" Target="../media/ic_hex_pale.svg"/><Relationship Id="rId13" Type="http://schemas.openxmlformats.org/officeDocument/2006/relationships/image" Target="../media/ic_materials_w.svg"/><Relationship Id="rId14" Type="http://schemas.openxmlformats.org/officeDocument/2006/relationships/image" Target="../media/ic_swash_pale.svg"/><Relationship Id="rId15" Type="http://schemas.openxmlformats.org/officeDocument/2006/relationships/image" Target="../media/ic_target_w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9.png"/><Relationship Id="rId4" Type="http://schemas.openxmlformats.org/officeDocument/2006/relationships/image" Target="../media/ic_divbg.svg"/><Relationship Id="rId5" Type="http://schemas.openxmlformats.org/officeDocument/2006/relationships/image" Target="../media/ic_materials_w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19.png"/><Relationship Id="rId6" Type="http://schemas.openxmlformats.org/officeDocument/2006/relationships/image" Target="../media/ic_big_materials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20.png"/><Relationship Id="rId6" Type="http://schemas.openxmlformats.org/officeDocument/2006/relationships/image" Target="../media/ic_big_doughnut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c_brush_amber.svg"/><Relationship Id="rId9" Type="http://schemas.openxmlformats.org/officeDocument/2006/relationships/image" Target="../media/ic_chart8_beo.svg"/><Relationship Id="rId10" Type="http://schemas.openxmlformats.org/officeDocument/2006/relationships/image" Target="../media/ic_chart8_gay.svg"/><Relationship Id="rId11" Type="http://schemas.openxmlformats.org/officeDocument/2006/relationships/image" Target="../media/ic_chart8_trung.svg"/><Relationship Id="rId12" Type="http://schemas.openxmlformats.org/officeDocument/2006/relationships/image" Target="../media/ic_hex_pale.svg"/><Relationship Id="rId13" Type="http://schemas.openxmlformats.org/officeDocument/2006/relationships/image" Target="../media/ic_swash_pale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24.jp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wash_pale.sv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c_divbg.svg"/><Relationship Id="rId5" Type="http://schemas.openxmlformats.org/officeDocument/2006/relationships/image" Target="../media/ic_gear_proc_w.sv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mage28.png"/><Relationship Id="rId9" Type="http://schemas.openxmlformats.org/officeDocument/2006/relationships/image" Target="../media/image29.png"/><Relationship Id="rId10" Type="http://schemas.openxmlformats.org/officeDocument/2006/relationships/image" Target="../media/image30.png"/><Relationship Id="rId11" Type="http://schemas.openxmlformats.org/officeDocument/2006/relationships/image" Target="../media/ic_brush_amber.svg"/><Relationship Id="rId12" Type="http://schemas.openxmlformats.org/officeDocument/2006/relationships/image" Target="../media/ic_danh_paste_w.svg"/><Relationship Id="rId13" Type="http://schemas.openxmlformats.org/officeDocument/2006/relationships/image" Target="../media/ic_dinh_luong_w.svg"/><Relationship Id="rId14" Type="http://schemas.openxmlformats.org/officeDocument/2006/relationships/image" Target="../media/ic_hex_pale.svg"/><Relationship Id="rId15" Type="http://schemas.openxmlformats.org/officeDocument/2006/relationships/image" Target="../media/ic_loc_donggoi_w.svg"/><Relationship Id="rId16" Type="http://schemas.openxmlformats.org/officeDocument/2006/relationships/image" Target="../media/ic_ngam_u_w.svg"/><Relationship Id="rId17" Type="http://schemas.openxmlformats.org/officeDocument/2006/relationships/image" Target="../media/ic_nghien_min_w.svg"/><Relationship Id="rId18" Type="http://schemas.openxmlformats.org/officeDocument/2006/relationships/image" Target="../media/ic_pha_loang_w.svg"/><Relationship Id="rId19" Type="http://schemas.openxmlformats.org/officeDocument/2006/relationships/image" Target="../media/ic_swash_pale.sv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31.png"/><Relationship Id="rId6" Type="http://schemas.openxmlformats.org/officeDocument/2006/relationships/image" Target="../media/ic_big_flow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32.png"/><Relationship Id="rId6" Type="http://schemas.openxmlformats.org/officeDocument/2006/relationships/image" Target="../media/ic_big_columns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c_brush_amber.svg"/><Relationship Id="rId9" Type="http://schemas.openxmlformats.org/officeDocument/2006/relationships/image" Target="../media/ic_danh_paste_w.svg"/><Relationship Id="rId10" Type="http://schemas.openxmlformats.org/officeDocument/2006/relationships/image" Target="../media/ic_dinh_luong_w.svg"/><Relationship Id="rId11" Type="http://schemas.openxmlformats.org/officeDocument/2006/relationships/image" Target="../media/ic_hex_pale.svg"/><Relationship Id="rId12" Type="http://schemas.openxmlformats.org/officeDocument/2006/relationships/image" Target="../media/ic_nghien_min_w.svg"/><Relationship Id="rId13" Type="http://schemas.openxmlformats.org/officeDocument/2006/relationships/image" Target="../media/ic_swash_pale.sv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Relationship Id="rId8" Type="http://schemas.openxmlformats.org/officeDocument/2006/relationships/image" Target="../media/ic_brush_amber.svg"/><Relationship Id="rId9" Type="http://schemas.openxmlformats.org/officeDocument/2006/relationships/image" Target="../media/ic_hex_pale.svg"/><Relationship Id="rId10" Type="http://schemas.openxmlformats.org/officeDocument/2006/relationships/image" Target="../media/ic_loc_donggoi_w.svg"/><Relationship Id="rId11" Type="http://schemas.openxmlformats.org/officeDocument/2006/relationships/image" Target="../media/ic_ngam_u_w.svg"/><Relationship Id="rId12" Type="http://schemas.openxmlformats.org/officeDocument/2006/relationships/image" Target="../media/ic_pha_loang_w.svg"/><Relationship Id="rId13" Type="http://schemas.openxmlformats.org/officeDocument/2006/relationships/image" Target="../media/ic_swash_pale.sv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33.jp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wash_pale.sv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34.jp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wash_pale.sv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35.jp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wash_pale.sv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1.png"/><Relationship Id="rId4" Type="http://schemas.openxmlformats.org/officeDocument/2006/relationships/image" Target="../media/ic_divbg.svg"/><Relationship Id="rId5" Type="http://schemas.openxmlformats.org/officeDocument/2006/relationships/image" Target="../media/ic_quality_check_w.sv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36.png"/><Relationship Id="rId6" Type="http://schemas.openxmlformats.org/officeDocument/2006/relationships/image" Target="../media/ic_big_qc_shop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37.png"/><Relationship Id="rId6" Type="http://schemas.openxmlformats.org/officeDocument/2006/relationships/image" Target="../media/ic_big_qc_lab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38.png"/><Relationship Id="rId6" Type="http://schemas.openxmlformats.org/officeDocument/2006/relationships/image" Target="../media/ic_big_radar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39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Relationship Id="rId8" Type="http://schemas.openxmlformats.org/officeDocument/2006/relationships/image" Target="../media/ic_adhesion_w.svg"/><Relationship Id="rId9" Type="http://schemas.openxmlformats.org/officeDocument/2006/relationships/image" Target="../media/ic_brush_amber.svg"/><Relationship Id="rId10" Type="http://schemas.openxmlformats.org/officeDocument/2006/relationships/image" Target="../media/ic_hex_pale.svg"/><Relationship Id="rId11" Type="http://schemas.openxmlformats.org/officeDocument/2006/relationships/image" Target="../media/ic_salt_spray_w.svg"/><Relationship Id="rId12" Type="http://schemas.openxmlformats.org/officeDocument/2006/relationships/image" Target="../media/ic_sun_uv_w.svg"/><Relationship Id="rId13" Type="http://schemas.openxmlformats.org/officeDocument/2006/relationships/image" Target="../media/ic_swash_pale.sv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39.png"/><Relationship Id="rId6" Type="http://schemas.openxmlformats.org/officeDocument/2006/relationships/image" Target="../media/image11.png"/><Relationship Id="rId7" Type="http://schemas.openxmlformats.org/officeDocument/2006/relationships/image" Target="../media/image42.png"/><Relationship Id="rId8" Type="http://schemas.openxmlformats.org/officeDocument/2006/relationships/image" Target="../media/image9.png"/><Relationship Id="rId9" Type="http://schemas.openxmlformats.org/officeDocument/2006/relationships/image" Target="../media/ic_adhesion_w.svg"/><Relationship Id="rId10" Type="http://schemas.openxmlformats.org/officeDocument/2006/relationships/image" Target="../media/ic_brush_amber.svg"/><Relationship Id="rId11" Type="http://schemas.openxmlformats.org/officeDocument/2006/relationships/image" Target="../media/ic_hex_pale.svg"/><Relationship Id="rId12" Type="http://schemas.openxmlformats.org/officeDocument/2006/relationships/image" Target="../media/ic_materials_w.svg"/><Relationship Id="rId13" Type="http://schemas.openxmlformats.org/officeDocument/2006/relationships/image" Target="../media/ic_microscope_w.svg"/><Relationship Id="rId14" Type="http://schemas.openxmlformats.org/officeDocument/2006/relationships/image" Target="../media/ic_quality_check_w.svg"/><Relationship Id="rId15" Type="http://schemas.openxmlformats.org/officeDocument/2006/relationships/image" Target="../media/ic_swash_pale.sv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2.png"/><Relationship Id="rId4" Type="http://schemas.openxmlformats.org/officeDocument/2006/relationships/image" Target="../media/ic_divbg.svg"/><Relationship Id="rId5" Type="http://schemas.openxmlformats.org/officeDocument/2006/relationships/image" Target="../media/ic_warning_tri_w.sv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12.pn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wash_pale.svg"/><Relationship Id="rId9" Type="http://schemas.openxmlformats.org/officeDocument/2006/relationships/image" Target="../media/ic_warning_tri_w.sv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12.pn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wash_pale.svg"/><Relationship Id="rId9" Type="http://schemas.openxmlformats.org/officeDocument/2006/relationships/image" Target="../media/ic_warning_tri_w.sv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12.png"/><Relationship Id="rId6" Type="http://schemas.openxmlformats.org/officeDocument/2006/relationships/image" Target="../media/image43.png"/><Relationship Id="rId7" Type="http://schemas.openxmlformats.org/officeDocument/2006/relationships/image" Target="../media/image10.png"/><Relationship Id="rId8" Type="http://schemas.openxmlformats.org/officeDocument/2006/relationships/image" Target="../media/ic_brush_amber.svg"/><Relationship Id="rId9" Type="http://schemas.openxmlformats.org/officeDocument/2006/relationships/image" Target="../media/ic_gear_proc_w.svg"/><Relationship Id="rId10" Type="http://schemas.openxmlformats.org/officeDocument/2006/relationships/image" Target="../media/ic_hex_pale.svg"/><Relationship Id="rId11" Type="http://schemas.openxmlformats.org/officeDocument/2006/relationships/image" Target="../media/ic_solvent_w.svg"/><Relationship Id="rId12" Type="http://schemas.openxmlformats.org/officeDocument/2006/relationships/image" Target="../media/ic_swash_pale.svg"/><Relationship Id="rId13" Type="http://schemas.openxmlformats.org/officeDocument/2006/relationships/image" Target="../media/ic_warning_tri_w.sv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3.png"/><Relationship Id="rId4" Type="http://schemas.openxmlformats.org/officeDocument/2006/relationships/image" Target="../media/ic_divbg.svg"/><Relationship Id="rId5" Type="http://schemas.openxmlformats.org/officeDocument/2006/relationships/image" Target="../media/ic_safety_shield_w.sv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44.png"/><Relationship Id="rId6" Type="http://schemas.openxmlformats.org/officeDocument/2006/relationships/image" Target="../media/image45.png"/><Relationship Id="rId7" Type="http://schemas.openxmlformats.org/officeDocument/2006/relationships/image" Target="../media/image46.jpg"/><Relationship Id="rId8" Type="http://schemas.openxmlformats.org/officeDocument/2006/relationships/image" Target="../media/ic_brush_amber.svg"/><Relationship Id="rId9" Type="http://schemas.openxmlformats.org/officeDocument/2006/relationships/image" Target="../media/ic_flame_w.svg"/><Relationship Id="rId10" Type="http://schemas.openxmlformats.org/officeDocument/2006/relationships/image" Target="../media/ic_gasmask_w.svg"/><Relationship Id="rId11" Type="http://schemas.openxmlformats.org/officeDocument/2006/relationships/image" Target="../media/ic_hex_pale.svg"/><Relationship Id="rId12" Type="http://schemas.openxmlformats.org/officeDocument/2006/relationships/image" Target="../media/ic_swash_pale.sv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47.png"/><Relationship Id="rId6" Type="http://schemas.openxmlformats.org/officeDocument/2006/relationships/image" Target="../media/image10.png"/><Relationship Id="rId7" Type="http://schemas.openxmlformats.org/officeDocument/2006/relationships/image" Target="../media/ic_brush_amber.svg"/><Relationship Id="rId8" Type="http://schemas.openxmlformats.org/officeDocument/2006/relationships/image" Target="../media/ic_chemical_glove_w.svg"/><Relationship Id="rId9" Type="http://schemas.openxmlformats.org/officeDocument/2006/relationships/image" Target="../media/ic_gear_proc_w.svg"/><Relationship Id="rId10" Type="http://schemas.openxmlformats.org/officeDocument/2006/relationships/image" Target="../media/ic_hex_pale.svg"/><Relationship Id="rId11" Type="http://schemas.openxmlformats.org/officeDocument/2006/relationships/image" Target="../media/ic_swash_pale.sv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48.jpg"/><Relationship Id="rId6" Type="http://schemas.openxmlformats.org/officeDocument/2006/relationships/image" Target="../media/image49.png"/><Relationship Id="rId7" Type="http://schemas.openxmlformats.org/officeDocument/2006/relationships/image" Target="../media/image50.png"/><Relationship Id="rId8" Type="http://schemas.openxmlformats.org/officeDocument/2006/relationships/image" Target="../media/image51.png"/><Relationship Id="rId9" Type="http://schemas.openxmlformats.org/officeDocument/2006/relationships/image" Target="../media/ic_brush_amber.svg"/><Relationship Id="rId10" Type="http://schemas.openxmlformats.org/officeDocument/2006/relationships/image" Target="../media/ic_hex_pale.svg"/><Relationship Id="rId11" Type="http://schemas.openxmlformats.org/officeDocument/2006/relationships/image" Target="../media/ic_smoke_air_w.svg"/><Relationship Id="rId12" Type="http://schemas.openxmlformats.org/officeDocument/2006/relationships/image" Target="../media/ic_solid_waste_w.svg"/><Relationship Id="rId13" Type="http://schemas.openxmlformats.org/officeDocument/2006/relationships/image" Target="../media/ic_swash_pale.svg"/><Relationship Id="rId14" Type="http://schemas.openxmlformats.org/officeDocument/2006/relationships/image" Target="../media/ic_water_waste_w.sv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54.png"/><Relationship Id="rId8" Type="http://schemas.openxmlformats.org/officeDocument/2006/relationships/image" Target="../media/ic_brush_amber.svg"/><Relationship Id="rId9" Type="http://schemas.openxmlformats.org/officeDocument/2006/relationships/image" Target="../media/ic_grad_check_w.svg"/><Relationship Id="rId10" Type="http://schemas.openxmlformats.org/officeDocument/2006/relationships/image" Target="../media/ic_hex_pale.svg"/><Relationship Id="rId11" Type="http://schemas.openxmlformats.org/officeDocument/2006/relationships/image" Target="../media/ic_palette_w.svg"/><Relationship Id="rId12" Type="http://schemas.openxmlformats.org/officeDocument/2006/relationships/image" Target="../media/ic_qr_code_w.svg"/><Relationship Id="rId13" Type="http://schemas.openxmlformats.org/officeDocument/2006/relationships/image" Target="../media/ic_swash_pale.sv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c_deco_mol_white.svg"/><Relationship Id="rId5" Type="http://schemas.openxmlformats.org/officeDocument/2006/relationships/image" Target="../media/ic_divbg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-620000" y="-380000"/>
            <a:ext cx="3200000" cy="3200000"/>
          </a:xfrm>
          <a:prstGeom prst="rect">
            <a:avLst/>
          </a:prstGeom>
        </p:spPr>
      </p:pic>
      <p:pic>
        <p:nvPicPr>
          <p:cNvPr id="4" name="Picture 3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631695" y="4038000"/>
            <a:ext cx="3200000" cy="3200000"/>
          </a:xfrm>
          <a:prstGeom prst="rect">
            <a:avLst/>
          </a:prstGeom>
        </p:spPr>
      </p:pic>
      <p:pic>
        <p:nvPicPr>
          <p:cNvPr id="5" name="Picture 4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841695" y="250000"/>
            <a:ext cx="3400000" cy="1780000"/>
          </a:xfrm>
          <a:prstGeom prst="rect">
            <a:avLst/>
          </a:prstGeom>
        </p:spPr>
      </p:pic>
      <p:pic>
        <p:nvPicPr>
          <p:cNvPr id="6" name="Picture 5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3:svgBlip xmlns:ns3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-560000" y="4808000"/>
            <a:ext cx="3400000" cy="1780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0"/>
            <a:ext cx="150000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041695" y="0"/>
            <a:ext cx="150000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12191695" cy="92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766000"/>
            <a:ext cx="12191695" cy="92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uh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0847" y="380000"/>
            <a:ext cx="4050000" cy="11542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00000" y="1660000"/>
            <a:ext cx="10391695" cy="7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1800" b="1" i="0">
                <a:solidFill>
                  <a:srgbClr val="1F4E3D"/>
                </a:solidFill>
              </a:rPr>
              <a:t>TRƯỜNG ĐẠI HỌC CÔNG NGHIỆP TP. HỒ CHÍ MINH</a:t>
            </a:r>
          </a:p>
          <a:p>
            <a:pPr algn="ctr"/>
            <a:r>
              <a:rPr sz="1500" b="1" i="0">
                <a:solidFill>
                  <a:srgbClr val="5B6E66"/>
                </a:solidFill>
              </a:rPr>
              <a:t>KHOA CÔNG NGHỆ HÓA HỌC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95847" y="2410000"/>
            <a:ext cx="1800000" cy="260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0000" y="2520000"/>
            <a:ext cx="10391695" cy="36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1600" b="1" i="0">
                <a:solidFill>
                  <a:srgbClr val="C88A2E"/>
                </a:solidFill>
              </a:rPr>
              <a:t>BÁO CÁO THỰC TẬP TỐT NGHIỆP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000" y="2880000"/>
            <a:ext cx="10591695" cy="11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3100" b="1" i="0">
                <a:solidFill>
                  <a:srgbClr val="1F4E3D"/>
                </a:solidFill>
              </a:rPr>
              <a:t>Quy trình sản xuất &amp; kiểm soát</a:t>
            </a:r>
          </a:p>
          <a:p>
            <a:pPr algn="ctr"/>
            <a:r>
              <a:rPr sz="3100" b="1" i="0">
                <a:solidFill>
                  <a:srgbClr val="1F4E3D"/>
                </a:solidFill>
              </a:rPr>
              <a:t>chất lượng sơn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000" y="4080000"/>
            <a:ext cx="10591695" cy="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2200" b="1" i="0">
                <a:solidFill>
                  <a:srgbClr val="2C7A5A"/>
                </a:solidFill>
              </a:rPr>
              <a:t>tại Công ty TNHH Sơn Hải Vân</a:t>
            </a:r>
          </a:p>
        </p:txBody>
      </p:sp>
      <p:pic>
        <p:nvPicPr>
          <p:cNvPr id="17" name="Picture 16" descr="shv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70847" y="4560000"/>
            <a:ext cx="2450000" cy="80237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00000" y="5560000"/>
            <a:ext cx="10391695" cy="76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1600" b="0" i="0">
                <a:solidFill>
                  <a:srgbClr val="14332A"/>
                </a:solidFill>
              </a:rPr>
              <a:t>GVHD: Lê Nhất Thống        CBHD: Lê Quốc</a:t>
            </a:r>
          </a:p>
          <a:p>
            <a:pPr algn="ctr"/>
            <a:r>
              <a:rPr sz="1600" b="0" i="0">
                <a:solidFill>
                  <a:srgbClr val="14332A"/>
                </a:solidFill>
              </a:rPr>
              <a:t>Nhóm 8 SV thực tập  ·  Lớp DHHO18A–D  ·  Năm học 2025–2026</a:t>
            </a:r>
          </a:p>
          <a:p>
            <a:pPr algn="ctr"/>
            <a:r>
              <a:rPr sz="1400" b="0" i="1">
                <a:solidFill>
                  <a:srgbClr val="5B6E66"/>
                </a:solidFill>
              </a:rPr>
              <a:t>TP. Hồ Chí Minh —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deco_mol_whit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50000" y="560000"/>
            <a:ext cx="2500000" cy="25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00000" y="1250000"/>
            <a:ext cx="106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FE2D8"/>
                </a:solidFill>
              </a:rPr>
              <a:t>TRƯỜNG ĐH CÔNG NGHIỆP TP. HCM  ·  KHOA CNHH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2000000"/>
            <a:ext cx="10500000" cy="17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4300" b="1" i="0">
                <a:solidFill>
                  <a:srgbClr val="FFFFFF"/>
                </a:solidFill>
              </a:rPr>
              <a:t>Quy trình sản xuất &amp;</a:t>
            </a:r>
          </a:p>
          <a:p>
            <a:r>
              <a:rPr sz="4300" b="1" i="0">
                <a:solidFill>
                  <a:srgbClr val="FFFFFF"/>
                </a:solidFill>
              </a:rPr>
              <a:t>kiểm soát chất lượng sơn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3820000"/>
            <a:ext cx="104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800" b="1" i="0">
                <a:solidFill>
                  <a:srgbClr val="C88A2E"/>
                </a:solidFill>
              </a:rPr>
              <a:t>tại Công ty TNHH Sơn Hải Vân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5150000"/>
            <a:ext cx="10500000" cy="10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0" i="0">
                <a:solidFill>
                  <a:srgbClr val="CFE2D8"/>
                </a:solidFill>
              </a:rPr>
              <a:t>Nhóm 8 SV thực tập  ·  Lớp DHHO18A–D  ·  2025–2026</a:t>
            </a:r>
          </a:p>
          <a:p>
            <a:r>
              <a:rPr sz="2000" b="0" i="0">
                <a:solidFill>
                  <a:srgbClr val="CFE2D8"/>
                </a:solidFill>
              </a:rPr>
              <a:t>GVHD: Lê Nhất Thống    ·    CBHD: Lê Quốc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62000" y="690000"/>
            <a:ext cx="66000" cy="66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72000" y="700000"/>
            <a:ext cx="300000" cy="4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62000" y="830000"/>
            <a:ext cx="66000" cy="66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72000" y="840000"/>
            <a:ext cx="300000" cy="4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62000" y="970000"/>
            <a:ext cx="66000" cy="66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72000" y="980000"/>
            <a:ext cx="300000" cy="4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NỘI DUNG BÁO CÁO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Báo cáo gồm 6 phần</a:t>
            </a:r>
          </a:p>
        </p:txBody>
      </p:sp>
      <p:pic>
        <p:nvPicPr>
          <p:cNvPr id="14" name="Picture 13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1830000"/>
            <a:ext cx="3510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1830000"/>
            <a:ext cx="3510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893640" y="2060000"/>
            <a:ext cx="820000" cy="8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ompany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057640" y="2224000"/>
            <a:ext cx="492000" cy="492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68640" y="2940000"/>
            <a:ext cx="3270000" cy="92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Tổng quan về công 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38640" y="1830000"/>
            <a:ext cx="3510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338640" y="1830000"/>
            <a:ext cx="3510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83640" y="2060000"/>
            <a:ext cx="820000" cy="8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aterials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847640" y="2224000"/>
            <a:ext cx="492000" cy="492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458640" y="2940000"/>
            <a:ext cx="3270000" cy="92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Nguyên vật liệu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28640" y="1830000"/>
            <a:ext cx="3510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128640" y="1830000"/>
            <a:ext cx="3510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473640" y="2060000"/>
            <a:ext cx="820000" cy="8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gear_proc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637640" y="2224000"/>
            <a:ext cx="492000" cy="4920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8248640" y="2940000"/>
            <a:ext cx="3270000" cy="92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Quy trình công nghệ &amp; thiết bị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4200000"/>
            <a:ext cx="3510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48640" y="4200000"/>
            <a:ext cx="3510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893640" y="4430000"/>
            <a:ext cx="820000" cy="8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quality_check_w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6:svgBlip xmlns:ns6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057640" y="4594000"/>
            <a:ext cx="492000" cy="4920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68640" y="5310000"/>
            <a:ext cx="3270000" cy="92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Kiểm soát chất lượng (KCS)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38640" y="4200000"/>
            <a:ext cx="3510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338640" y="4200000"/>
            <a:ext cx="3510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5683640" y="4430000"/>
            <a:ext cx="820000" cy="8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warning_tri_w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ns7:svgBlip xmlns:ns7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847640" y="4594000"/>
            <a:ext cx="492000" cy="4920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4458640" y="5310000"/>
            <a:ext cx="3270000" cy="92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Những sự cố thường gặp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28640" y="4200000"/>
            <a:ext cx="3510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128640" y="4200000"/>
            <a:ext cx="3510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473640" y="4430000"/>
            <a:ext cx="820000" cy="8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safety_shield_w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ns8:svgBlip xmlns:ns8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9637640" y="4594000"/>
            <a:ext cx="492000" cy="4920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248640" y="5310000"/>
            <a:ext cx="3270000" cy="92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An toàn lao động &amp; môi trường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company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Tổng quan về công 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1. TỔNG QUAN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Công ty Sơn Hải Vân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4450000" cy="447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148640" y="235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actory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398640" y="2600000"/>
            <a:ext cx="750000" cy="75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98640" y="3930000"/>
            <a:ext cx="3950000" cy="170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Sơn Hải Vân</a:t>
            </a:r>
          </a:p>
          <a:p>
            <a:pPr algn="ctr"/>
            <a:r>
              <a:rPr sz="2000" b="0" i="0">
                <a:solidFill>
                  <a:srgbClr val="CFE2D8"/>
                </a:solidFill>
              </a:rPr>
              <a:t>Sơn công nghiệp &amp; tàu biển bảo vệ chuyên dụng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78640" y="1830000"/>
            <a:ext cx="636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278640" y="1830000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558640" y="2198333"/>
            <a:ext cx="600000" cy="60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history_clock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678640" y="2318333"/>
            <a:ext cx="360000" cy="360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78640" y="1830000"/>
            <a:ext cx="486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Thành lập 2008 · SX 2009</a:t>
            </a:r>
          </a:p>
          <a:p>
            <a:r>
              <a:rPr sz="2000" b="0" i="0">
                <a:solidFill>
                  <a:srgbClr val="34404A"/>
                </a:solidFill>
              </a:rPr>
              <a:t>Đăng ký tại Sở KH&amp;ĐT TP.HCM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78640" y="3396666"/>
            <a:ext cx="636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278640" y="3396666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558640" y="3764999"/>
            <a:ext cx="600000" cy="60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target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678640" y="3884999"/>
            <a:ext cx="360000" cy="360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78640" y="3396666"/>
            <a:ext cx="486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Doanh nghiệp vừa (SME) · B2B</a:t>
            </a:r>
          </a:p>
          <a:p>
            <a:r>
              <a:rPr sz="2000" b="0" i="0">
                <a:solidFill>
                  <a:srgbClr val="34404A"/>
                </a:solidFill>
              </a:rPr>
              <a:t>Sản xuất theo dự án / hợp đồng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278640" y="4963332"/>
            <a:ext cx="636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278640" y="4963332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558640" y="5331665"/>
            <a:ext cx="600000" cy="60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aint_can_w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6:svgBlip xmlns:ns6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5678640" y="5451665"/>
            <a:ext cx="360000" cy="3600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78640" y="4963332"/>
            <a:ext cx="486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Sơn chống ăn mòn, chống cháy</a:t>
            </a:r>
          </a:p>
          <a:p>
            <a:r>
              <a:rPr sz="2000" b="0" i="0">
                <a:solidFill>
                  <a:srgbClr val="34404A"/>
                </a:solidFill>
              </a:rPr>
              <a:t>Bảo vệ công trình &amp; hàng hải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1. TỔNG QUAN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Chặng đường phát triển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6</a:t>
            </a:r>
          </a:p>
        </p:txBody>
      </p:sp>
      <p:pic>
        <p:nvPicPr>
          <p:cNvPr id="12" name="Picture 11" descr="big_timelin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5847" y="1962872"/>
            <a:ext cx="10400000" cy="420425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1. TỔNG QUAN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Thị trường &amp; khách hàng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7</a:t>
            </a:r>
          </a:p>
        </p:txBody>
      </p:sp>
      <p:sp>
        <p:nvSpPr>
          <p:cNvPr id="12" name="Oval 11"/>
          <p:cNvSpPr/>
          <p:nvPr/>
        </p:nvSpPr>
        <p:spPr>
          <a:xfrm>
            <a:off x="660000" y="2193000"/>
            <a:ext cx="624000" cy="624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arget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84800" y="2317800"/>
            <a:ext cx="374400" cy="37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44000" y="1985000"/>
            <a:ext cx="9700000" cy="10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Phân khúc B2B kỹ thuật, không phải sơn dân dụng</a:t>
            </a:r>
          </a:p>
        </p:txBody>
      </p:sp>
      <p:sp>
        <p:nvSpPr>
          <p:cNvPr id="15" name="Oval 14"/>
          <p:cNvSpPr/>
          <p:nvPr/>
        </p:nvSpPr>
        <p:spPr>
          <a:xfrm>
            <a:off x="660000" y="3233000"/>
            <a:ext cx="624000" cy="624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actory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84800" y="3357800"/>
            <a:ext cx="374400" cy="3744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44000" y="3025000"/>
            <a:ext cx="9700000" cy="10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Xưởng đóng &amp; sửa chữa tàu biển</a:t>
            </a:r>
          </a:p>
        </p:txBody>
      </p:sp>
      <p:sp>
        <p:nvSpPr>
          <p:cNvPr id="18" name="Oval 17"/>
          <p:cNvSpPr/>
          <p:nvPr/>
        </p:nvSpPr>
        <p:spPr>
          <a:xfrm>
            <a:off x="660000" y="4273000"/>
            <a:ext cx="624000" cy="624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ompany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84800" y="4397800"/>
            <a:ext cx="374400" cy="37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644000" y="4065000"/>
            <a:ext cx="9700000" cy="10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Chủ đầu tư công trình kết cấu thép</a:t>
            </a:r>
          </a:p>
        </p:txBody>
      </p:sp>
      <p:sp>
        <p:nvSpPr>
          <p:cNvPr id="21" name="Oval 20"/>
          <p:cNvSpPr/>
          <p:nvPr/>
        </p:nvSpPr>
        <p:spPr>
          <a:xfrm>
            <a:off x="660000" y="5313000"/>
            <a:ext cx="624000" cy="624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aterials_w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6:svgBlip xmlns:ns6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84800" y="5437800"/>
            <a:ext cx="374400" cy="3744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644000" y="5105000"/>
            <a:ext cx="9700000" cy="10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Đại lý phân phối sơn bảo vệ chuyên dụng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materials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Nguyên vật liệu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2. NGUYÊN VẬT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Bốn nhóm nguyên liệu &amp; tỉ lệ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9</a:t>
            </a:r>
          </a:p>
        </p:txBody>
      </p:sp>
      <p:pic>
        <p:nvPicPr>
          <p:cNvPr id="12" name="Picture 11" descr="big_materials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95847" y="1910833"/>
            <a:ext cx="11000000" cy="430833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2. NGUYÊN VẬT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Tỉ lệ một công thức sơn điển hình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10</a:t>
            </a:r>
          </a:p>
        </p:txBody>
      </p:sp>
      <p:pic>
        <p:nvPicPr>
          <p:cNvPr id="12" name="Picture 11" descr="big_doughnut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270847" y="1830000"/>
            <a:ext cx="7650000" cy="4250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0000" y="608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2000" b="0" i="1">
                <a:solidFill>
                  <a:srgbClr val="5B6E66"/>
                </a:solidFill>
              </a:rPr>
              <a:t>Tỉ lệ minh họa — thay đổi theo loại sơn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2. NGUYÊN VẬT LIỆU — NHỰA ALKYD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Phân loại theo hàm lượng dầu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90000"/>
            <a:ext cx="11090000" cy="13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1890000"/>
            <a:ext cx="34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Nhựa gầy</a:t>
            </a:r>
          </a:p>
        </p:txBody>
      </p:sp>
      <p:pic>
        <p:nvPicPr>
          <p:cNvPr id="14" name="Picture 13" descr="chart8_gay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250000" y="2284412"/>
            <a:ext cx="2600000" cy="5811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150000" y="1890000"/>
            <a:ext cx="43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0" i="0">
                <a:solidFill>
                  <a:srgbClr val="34404A"/>
                </a:solidFill>
              </a:rPr>
              <a:t>Độ nhớt cao — thi công nhúng / phun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380000"/>
            <a:ext cx="11090000" cy="13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3380000"/>
            <a:ext cx="34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Nhựa trung bình</a:t>
            </a:r>
          </a:p>
        </p:txBody>
      </p:sp>
      <p:pic>
        <p:nvPicPr>
          <p:cNvPr id="18" name="Picture 17" descr="chart8_trung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250000" y="3774412"/>
            <a:ext cx="2600000" cy="5811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150000" y="3380000"/>
            <a:ext cx="43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0" i="0">
                <a:solidFill>
                  <a:srgbClr val="34404A"/>
                </a:solidFill>
              </a:rPr>
              <a:t>Phổ biến nhất — cọ / lăn / súng phun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870000"/>
            <a:ext cx="11090000" cy="13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0000" y="4870000"/>
            <a:ext cx="34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Nhựa béo</a:t>
            </a:r>
          </a:p>
        </p:txBody>
      </p:sp>
      <p:pic>
        <p:nvPicPr>
          <p:cNvPr id="22" name="Picture 21" descr="chart8_beo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250000" y="5264412"/>
            <a:ext cx="2600000" cy="58117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150000" y="4870000"/>
            <a:ext cx="43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0" i="0">
                <a:solidFill>
                  <a:srgbClr val="34404A"/>
                </a:solidFill>
              </a:rPr>
              <a:t>Tạo màng chính cho sơn tàu biển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2. NGUYÊN VẬT LIỆU — SƠN TÀU BIỂN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Cấu trúc hệ sơn 3 lớp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6550000" cy="1020000"/>
          </a:xfrm>
          <a:prstGeom prst="roundRect">
            <a:avLst/>
          </a:prstGeom>
          <a:solidFill>
            <a:srgbClr val="7BA8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1830000"/>
            <a:ext cx="6130000" cy="10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FFFFFF"/>
                </a:solidFill>
              </a:rPr>
              <a:t>Lớp 3 — Phủ hoàn thiện</a:t>
            </a:r>
          </a:p>
          <a:p>
            <a:r>
              <a:rPr sz="2000" b="0" i="0">
                <a:solidFill>
                  <a:srgbClr val="EAF3EE"/>
                </a:solidFill>
              </a:rPr>
              <a:t>Polyurethan / Alkyd béo · chịu UV, giữ màu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80000"/>
            <a:ext cx="6550000" cy="102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2980000"/>
            <a:ext cx="6130000" cy="10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FFFFFF"/>
                </a:solidFill>
              </a:rPr>
              <a:t>Lớp 2 — Trung gian</a:t>
            </a:r>
          </a:p>
          <a:p>
            <a:r>
              <a:rPr sz="2000" b="0" i="0">
                <a:solidFill>
                  <a:srgbClr val="EAF3EE"/>
                </a:solidFill>
              </a:rPr>
              <a:t>Epoxy MIO · chắn ẩm và ion clorua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30000"/>
            <a:ext cx="6550000" cy="102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130000"/>
            <a:ext cx="6130000" cy="10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FFFFFF"/>
                </a:solidFill>
              </a:rPr>
              <a:t>Lớp 1 — Lót chống rỉ</a:t>
            </a:r>
          </a:p>
          <a:p>
            <a:r>
              <a:rPr sz="2000" b="0" i="0">
                <a:solidFill>
                  <a:srgbClr val="EAF3EE"/>
                </a:solidFill>
              </a:rPr>
              <a:t>Epoxy giàu kẽm · bảo vệ điện hóa từ gốc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280000"/>
            <a:ext cx="6550000" cy="1020000"/>
          </a:xfrm>
          <a:prstGeom prst="roundRect">
            <a:avLst/>
          </a:prstGeom>
          <a:solidFill>
            <a:srgbClr val="4A4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280000"/>
            <a:ext cx="6130000" cy="10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FFFFFF"/>
                </a:solidFill>
              </a:rPr>
              <a:t>THÉP NỀN</a:t>
            </a:r>
          </a:p>
          <a:p>
            <a:r>
              <a:rPr sz="2000" b="0" i="0">
                <a:solidFill>
                  <a:srgbClr val="EAF3EE"/>
                </a:solidFill>
              </a:rPr>
              <a:t>Đã xử lý bề mặt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86000" y="2196217"/>
            <a:ext cx="4288000" cy="3737565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hip_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0000" y="2230217"/>
            <a:ext cx="4220000" cy="366956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86000" y="5949782"/>
            <a:ext cx="4288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1500" b="0" i="1">
                <a:solidFill>
                  <a:srgbClr val="5B6E66"/>
                </a:solidFill>
              </a:rPr>
              <a:t>Sơn phủ bảo vệ thân tàu (minh họa)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gear_proc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Quy trình công nghệ &amp; thiết bị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QUY TRÌNH CÔNG NGHỆ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Sáu công đoạn sản xuất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78640" y="2057233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inh_luong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79" y="2233672"/>
            <a:ext cx="529319" cy="52931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940839" y="1830000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1. Định lượng</a:t>
            </a:r>
          </a:p>
          <a:p>
            <a:r>
              <a:rPr sz="2000" b="0" i="0">
                <a:solidFill>
                  <a:srgbClr val="34404A"/>
                </a:solidFill>
              </a:rPr>
              <a:t>Cân đúng tỉ lệ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3640" y="1830000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3640" y="2057233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anh_paste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650079" y="2233672"/>
            <a:ext cx="529319" cy="52931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635839" y="1830000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2. Đánh paste</a:t>
            </a:r>
          </a:p>
          <a:p>
            <a:r>
              <a:rPr sz="2000" b="0" i="0">
                <a:solidFill>
                  <a:srgbClr val="34404A"/>
                </a:solidFill>
              </a:rPr>
              <a:t>Phân tán bột màu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96666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78640" y="3623899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nghien_min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955079" y="3800338"/>
            <a:ext cx="529319" cy="529319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940839" y="3396666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3. Nghiền mịn</a:t>
            </a:r>
          </a:p>
          <a:p>
            <a:r>
              <a:rPr sz="2000" b="0" i="0">
                <a:solidFill>
                  <a:srgbClr val="34404A"/>
                </a:solidFill>
              </a:rPr>
              <a:t>Hạ hạt 10–20 µm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3640" y="3396666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73640" y="3623899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ngam_u_w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6:svgBlip xmlns:ns6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650079" y="3800338"/>
            <a:ext cx="529319" cy="52931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635839" y="3396666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4. Ngâm ủ</a:t>
            </a:r>
          </a:p>
          <a:p>
            <a:r>
              <a:rPr sz="2000" b="0" i="0">
                <a:solidFill>
                  <a:srgbClr val="34404A"/>
                </a:solidFill>
              </a:rPr>
              <a:t>Ổn định hệ, giảm bọt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963332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8640" y="5190565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pha_loang_w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ns7:svgBlip xmlns:ns7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955079" y="5367004"/>
            <a:ext cx="529319" cy="529319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940839" y="4963332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5. Pha loãng</a:t>
            </a:r>
          </a:p>
          <a:p>
            <a:r>
              <a:rPr sz="2000" b="0" i="0">
                <a:solidFill>
                  <a:srgbClr val="34404A"/>
                </a:solidFill>
              </a:rPr>
              <a:t>Chỉnh độ nhớt (KU)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3640" y="4963332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73640" y="5190565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loc_donggoi_w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ns8:svgBlip xmlns:ns8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50079" y="5367004"/>
            <a:ext cx="529319" cy="529319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635839" y="4963332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6. Lọc &amp; đóng gói</a:t>
            </a:r>
          </a:p>
          <a:p>
            <a:r>
              <a:rPr sz="2000" b="0" i="0">
                <a:solidFill>
                  <a:srgbClr val="34404A"/>
                </a:solidFill>
              </a:rPr>
              <a:t>Loại tạp chất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QUY TRÌNH CÔNG NGHỆ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Lưu đồ quy trình sản xuất sơn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15</a:t>
            </a:r>
          </a:p>
        </p:txBody>
      </p:sp>
      <p:pic>
        <p:nvPicPr>
          <p:cNvPr id="12" name="Picture 11" descr="big_flo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91457" y="1855000"/>
            <a:ext cx="8408780" cy="442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QUY TRÌNH CÔNG NGHỆ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Thời gian tương đối giữa các công đoạn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16</a:t>
            </a:r>
          </a:p>
        </p:txBody>
      </p:sp>
      <p:pic>
        <p:nvPicPr>
          <p:cNvPr id="12" name="Picture 11" descr="big_columns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62247" y="1905000"/>
            <a:ext cx="8467200" cy="4320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QUY TRÌNH — CHI TIẾT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Ba công đoạn đầu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5000" y="2575000"/>
            <a:ext cx="30000" cy="2980000"/>
          </a:xfrm>
          <a:prstGeom prst="rect">
            <a:avLst/>
          </a:prstGeom>
          <a:solidFill>
            <a:srgbClr val="CF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0000" y="2330000"/>
            <a:ext cx="490000" cy="49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400000" y="2277000"/>
            <a:ext cx="596000" cy="596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nh_luong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19200" y="2396200"/>
            <a:ext cx="357600" cy="357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296000" y="1830000"/>
            <a:ext cx="8600000" cy="149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Định lượng</a:t>
            </a:r>
          </a:p>
          <a:p>
            <a:r>
              <a:rPr sz="2000" b="0" i="0">
                <a:solidFill>
                  <a:srgbClr val="34404A"/>
                </a:solidFill>
              </a:rPr>
              <a:t>Cân tỉ lệ nhựa / dung môi / phụ gia / bột</a:t>
            </a:r>
          </a:p>
          <a:p>
            <a:r>
              <a:rPr sz="2000" b="0" i="0">
                <a:solidFill>
                  <a:srgbClr val="34404A"/>
                </a:solidFill>
              </a:rPr>
              <a:t>Bắt buộc · theo công thức R&amp;D</a:t>
            </a:r>
          </a:p>
        </p:txBody>
      </p:sp>
      <p:sp>
        <p:nvSpPr>
          <p:cNvPr id="17" name="Oval 16"/>
          <p:cNvSpPr/>
          <p:nvPr/>
        </p:nvSpPr>
        <p:spPr>
          <a:xfrm>
            <a:off x="700000" y="3820000"/>
            <a:ext cx="490000" cy="49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400000" y="3767000"/>
            <a:ext cx="596000" cy="596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anh_paste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519200" y="3886200"/>
            <a:ext cx="357600" cy="3576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296000" y="3320000"/>
            <a:ext cx="8600000" cy="149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Đánh paste</a:t>
            </a:r>
          </a:p>
          <a:p>
            <a:r>
              <a:rPr sz="2000" b="0" i="0">
                <a:solidFill>
                  <a:srgbClr val="34404A"/>
                </a:solidFill>
              </a:rPr>
              <a:t>Khuấy 900–1200 v/p, hòa bột vào nhựa</a:t>
            </a:r>
          </a:p>
          <a:p>
            <a:r>
              <a:rPr sz="2000" b="0" i="0">
                <a:solidFill>
                  <a:srgbClr val="34404A"/>
                </a:solidFill>
              </a:rPr>
              <a:t>Bắt buộc · vài chục phút / mẻ</a:t>
            </a:r>
          </a:p>
        </p:txBody>
      </p:sp>
      <p:sp>
        <p:nvSpPr>
          <p:cNvPr id="21" name="Oval 20"/>
          <p:cNvSpPr/>
          <p:nvPr/>
        </p:nvSpPr>
        <p:spPr>
          <a:xfrm>
            <a:off x="700000" y="5310000"/>
            <a:ext cx="490000" cy="49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Oval 21"/>
          <p:cNvSpPr/>
          <p:nvPr/>
        </p:nvSpPr>
        <p:spPr>
          <a:xfrm>
            <a:off x="1400000" y="5257000"/>
            <a:ext cx="596000" cy="596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nghien_min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19200" y="5376200"/>
            <a:ext cx="357600" cy="3576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296000" y="4810000"/>
            <a:ext cx="8600000" cy="149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Nghiền mịn</a:t>
            </a:r>
          </a:p>
          <a:p>
            <a:r>
              <a:rPr sz="2000" b="0" i="0">
                <a:solidFill>
                  <a:srgbClr val="34404A"/>
                </a:solidFill>
              </a:rPr>
              <a:t>Bi nghiền đưa hạt xuống 10–20 µm</a:t>
            </a:r>
          </a:p>
          <a:p>
            <a:r>
              <a:rPr sz="2000" b="0" i="0">
                <a:solidFill>
                  <a:srgbClr val="34404A"/>
                </a:solidFill>
              </a:rPr>
              <a:t>Có thể bỏ qua nếu đã đạt Hegman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QUY TRÌNH — CHI TIẾT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Ba công đoạn sau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5000" y="2575000"/>
            <a:ext cx="30000" cy="2980000"/>
          </a:xfrm>
          <a:prstGeom prst="rect">
            <a:avLst/>
          </a:prstGeom>
          <a:solidFill>
            <a:srgbClr val="CF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0000" y="2330000"/>
            <a:ext cx="490000" cy="49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4" name="Oval 13"/>
          <p:cNvSpPr/>
          <p:nvPr/>
        </p:nvSpPr>
        <p:spPr>
          <a:xfrm>
            <a:off x="1400000" y="2277000"/>
            <a:ext cx="596000" cy="596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ngam_u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519200" y="2396200"/>
            <a:ext cx="357600" cy="357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296000" y="1830000"/>
            <a:ext cx="8600000" cy="149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Ngâm ủ</a:t>
            </a:r>
          </a:p>
          <a:p>
            <a:r>
              <a:rPr sz="2000" b="0" i="0">
                <a:solidFill>
                  <a:srgbClr val="34404A"/>
                </a:solidFill>
              </a:rPr>
              <a:t>Giữ yên cho hệ ổn định, giảm bọt khí</a:t>
            </a:r>
          </a:p>
          <a:p>
            <a:r>
              <a:rPr sz="2000" b="0" i="0">
                <a:solidFill>
                  <a:srgbClr val="34404A"/>
                </a:solidFill>
              </a:rPr>
              <a:t>Linh hoạt · vài giờ tùy loại sơn</a:t>
            </a:r>
          </a:p>
        </p:txBody>
      </p:sp>
      <p:sp>
        <p:nvSpPr>
          <p:cNvPr id="17" name="Oval 16"/>
          <p:cNvSpPr/>
          <p:nvPr/>
        </p:nvSpPr>
        <p:spPr>
          <a:xfrm>
            <a:off x="700000" y="3820000"/>
            <a:ext cx="490000" cy="49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8" name="Oval 17"/>
          <p:cNvSpPr/>
          <p:nvPr/>
        </p:nvSpPr>
        <p:spPr>
          <a:xfrm>
            <a:off x="1400000" y="3767000"/>
            <a:ext cx="596000" cy="596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ha_loang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19200" y="3886200"/>
            <a:ext cx="357600" cy="3576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296000" y="3320000"/>
            <a:ext cx="8600000" cy="149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Pha loãng</a:t>
            </a:r>
          </a:p>
          <a:p>
            <a:r>
              <a:rPr sz="2000" b="0" i="0">
                <a:solidFill>
                  <a:srgbClr val="34404A"/>
                </a:solidFill>
              </a:rPr>
              <a:t>Chỉnh độ nhớt (KU) về thông số đích</a:t>
            </a:r>
          </a:p>
          <a:p>
            <a:r>
              <a:rPr sz="2000" b="0" i="0">
                <a:solidFill>
                  <a:srgbClr val="34404A"/>
                </a:solidFill>
              </a:rPr>
              <a:t>Bắt buộc · quyết định độ phủ</a:t>
            </a:r>
          </a:p>
        </p:txBody>
      </p:sp>
      <p:sp>
        <p:nvSpPr>
          <p:cNvPr id="21" name="Oval 20"/>
          <p:cNvSpPr/>
          <p:nvPr/>
        </p:nvSpPr>
        <p:spPr>
          <a:xfrm>
            <a:off x="700000" y="5310000"/>
            <a:ext cx="490000" cy="49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2" name="Oval 21"/>
          <p:cNvSpPr/>
          <p:nvPr/>
        </p:nvSpPr>
        <p:spPr>
          <a:xfrm>
            <a:off x="1400000" y="5257000"/>
            <a:ext cx="596000" cy="596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oc_donggoi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19200" y="5376200"/>
            <a:ext cx="357600" cy="3576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296000" y="4810000"/>
            <a:ext cx="8600000" cy="149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Lọc &amp; đóng gói</a:t>
            </a:r>
          </a:p>
          <a:p>
            <a:r>
              <a:rPr sz="2000" b="0" i="0">
                <a:solidFill>
                  <a:srgbClr val="34404A"/>
                </a:solidFill>
              </a:rPr>
              <a:t>Loại tạp chất / hạt vón trước xuất xưởng</a:t>
            </a:r>
          </a:p>
          <a:p>
            <a:r>
              <a:rPr sz="2000" b="0" i="0">
                <a:solidFill>
                  <a:srgbClr val="34404A"/>
                </a:solidFill>
              </a:rPr>
              <a:t>Bắt buộc · bước cuối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THIẾT BỊ SẢN XUẤT CHÍNH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Máy đánh paste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0000" y="830000"/>
            <a:ext cx="2100000" cy="47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Mã: ĐP01B</a:t>
            </a:r>
          </a:p>
        </p:txBody>
      </p:sp>
      <p:pic>
        <p:nvPicPr>
          <p:cNvPr id="13" name="Picture 12" descr="mach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830000"/>
            <a:ext cx="4900000" cy="5601252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850000" y="1830000"/>
            <a:ext cx="5750000" cy="13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850000" y="1830000"/>
            <a:ext cx="70000" cy="130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80000" y="1920000"/>
            <a:ext cx="5330000" cy="11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Cấu tạo</a:t>
            </a:r>
          </a:p>
          <a:p>
            <a:r>
              <a:rPr sz="2000" b="0" i="0">
                <a:solidFill>
                  <a:srgbClr val="34404A"/>
                </a:solidFill>
              </a:rPr>
              <a:t>Động cơ 5–20 HP, cánh khuấy inox 304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0000" y="3320000"/>
            <a:ext cx="5750000" cy="13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850000" y="3320000"/>
            <a:ext cx="70000" cy="130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80000" y="3410000"/>
            <a:ext cx="5330000" cy="11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Nguyên lý</a:t>
            </a:r>
          </a:p>
          <a:p>
            <a:r>
              <a:rPr sz="2000" b="0" i="0">
                <a:solidFill>
                  <a:srgbClr val="34404A"/>
                </a:solidFill>
              </a:rPr>
              <a:t>Quay 900–1200 v/p, phân tán bột vào nhựa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0000" y="4810000"/>
            <a:ext cx="5750000" cy="13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850000" y="4810000"/>
            <a:ext cx="70000" cy="130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80000" y="4900000"/>
            <a:ext cx="5330000" cy="11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Thao tác</a:t>
            </a:r>
          </a:p>
          <a:p>
            <a:r>
              <a:rPr sz="2000" b="0" i="0">
                <a:solidFill>
                  <a:srgbClr val="34404A"/>
                </a:solidFill>
              </a:rPr>
              <a:t>Hạ cánh khuấy ngập paste, kiểm soát nhiệt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THIẾT BỊ SẢN XUẤT CHÍNH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Máy nghiền mịn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0000" y="830000"/>
            <a:ext cx="2100000" cy="47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Mã: NM06</a:t>
            </a:r>
          </a:p>
        </p:txBody>
      </p:sp>
      <p:pic>
        <p:nvPicPr>
          <p:cNvPr id="13" name="Picture 12" descr="mach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0000" y="2069565"/>
            <a:ext cx="4900000" cy="38208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915000" y="2030000"/>
            <a:ext cx="34000" cy="2560000"/>
          </a:xfrm>
          <a:prstGeom prst="rect">
            <a:avLst/>
          </a:prstGeom>
          <a:solidFill>
            <a:srgbClr val="CF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0000" y="1870000"/>
            <a:ext cx="470000" cy="47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0000" y="1800000"/>
            <a:ext cx="5250000" cy="12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Cấu tạo</a:t>
            </a:r>
          </a:p>
          <a:p>
            <a:r>
              <a:rPr sz="2000" b="0" i="0">
                <a:solidFill>
                  <a:srgbClr val="34404A"/>
                </a:solidFill>
              </a:rPr>
              <a:t>Động cơ 30–60 HP, rổ chứa bi sứ / thủy tinh</a:t>
            </a:r>
          </a:p>
        </p:txBody>
      </p:sp>
      <p:sp>
        <p:nvSpPr>
          <p:cNvPr id="17" name="Oval 16"/>
          <p:cNvSpPr/>
          <p:nvPr/>
        </p:nvSpPr>
        <p:spPr>
          <a:xfrm>
            <a:off x="700000" y="3180000"/>
            <a:ext cx="470000" cy="47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0000" y="3110000"/>
            <a:ext cx="5250000" cy="12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Nguyên lý</a:t>
            </a:r>
          </a:p>
          <a:p>
            <a:r>
              <a:rPr sz="2000" b="0" i="0">
                <a:solidFill>
                  <a:srgbClr val="34404A"/>
                </a:solidFill>
              </a:rPr>
              <a:t>Va đập &amp; ma sát, giảm hạt xuống 10–20 µm</a:t>
            </a:r>
          </a:p>
        </p:txBody>
      </p:sp>
      <p:sp>
        <p:nvSpPr>
          <p:cNvPr id="19" name="Oval 18"/>
          <p:cNvSpPr/>
          <p:nvPr/>
        </p:nvSpPr>
        <p:spPr>
          <a:xfrm>
            <a:off x="700000" y="4490000"/>
            <a:ext cx="470000" cy="47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0000" y="4420000"/>
            <a:ext cx="5250000" cy="12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Thao tác</a:t>
            </a:r>
          </a:p>
          <a:p>
            <a:r>
              <a:rPr sz="2000" b="0" i="0">
                <a:solidFill>
                  <a:srgbClr val="34404A"/>
                </a:solidFill>
              </a:rPr>
              <a:t>Tuần hoàn đến khi đạt độ mịn Hegman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THIẾT BỊ SẢN XUẤT CHÍNH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Máy pha loãng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0000" y="830000"/>
            <a:ext cx="2100000" cy="47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Mã: PL01–03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00000" y="1900000"/>
            <a:ext cx="5050000" cy="350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ach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0000" y="2090000"/>
            <a:ext cx="4650000" cy="348314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60000" y="1780000"/>
            <a:ext cx="5600000" cy="43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Thông số kỹ thuật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320000"/>
            <a:ext cx="5750000" cy="1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8640" y="2410000"/>
            <a:ext cx="5330000" cy="96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Cấu tạo</a:t>
            </a:r>
          </a:p>
          <a:p>
            <a:r>
              <a:rPr sz="2000" b="0" i="0">
                <a:solidFill>
                  <a:srgbClr val="34404A"/>
                </a:solidFill>
              </a:rPr>
              <a:t>Bồn inox, cánh khuấy thủy lực, van xả côn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70000"/>
            <a:ext cx="5750000" cy="1120000"/>
          </a:xfrm>
          <a:prstGeom prst="roundRect">
            <a:avLst/>
          </a:prstGeom>
          <a:solidFill>
            <a:srgbClr val="E4E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8640" y="3660000"/>
            <a:ext cx="5330000" cy="96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Nguyên lý</a:t>
            </a:r>
          </a:p>
          <a:p>
            <a:r>
              <a:rPr sz="2000" b="0" i="0">
                <a:solidFill>
                  <a:srgbClr val="34404A"/>
                </a:solidFill>
              </a:rPr>
              <a:t>Khuấy đối lưu, chỉnh độ nhớt bằng dung môi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820000"/>
            <a:ext cx="5750000" cy="1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8640" y="4910000"/>
            <a:ext cx="5330000" cy="96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Thao tác</a:t>
            </a:r>
          </a:p>
          <a:p>
            <a:r>
              <a:rPr sz="2000" b="0" i="0">
                <a:solidFill>
                  <a:srgbClr val="34404A"/>
                </a:solidFill>
              </a:rPr>
              <a:t>Bổ sung dung môi từ từ, đo KU đến đích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quality_check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Kiểm soát chất lượng (KCS)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4. KIỂM SOÁT CHẤT LƯỢNG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Kiểm tra nhanh tại xưởng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23</a:t>
            </a:r>
          </a:p>
        </p:txBody>
      </p:sp>
      <p:pic>
        <p:nvPicPr>
          <p:cNvPr id="12" name="Picture 11" descr="big_qc_shop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0847" y="1847000"/>
            <a:ext cx="11090000" cy="4436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4. KIỂM SOÁT CHẤT LƯỢNG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Kiểm tra sâu tại phòng LAB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24</a:t>
            </a:r>
          </a:p>
        </p:txBody>
      </p:sp>
      <p:pic>
        <p:nvPicPr>
          <p:cNvPr id="12" name="Picture 11" descr="big_qc_lab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0847" y="1847000"/>
            <a:ext cx="11090000" cy="4436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4. KIỂM SOÁT CHẤT LƯỢNG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Sơn tàu biển vs sơn trang trí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25</a:t>
            </a:r>
          </a:p>
        </p:txBody>
      </p:sp>
      <p:pic>
        <p:nvPicPr>
          <p:cNvPr id="12" name="Picture 11" descr="big_radar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483347" y="1865000"/>
            <a:ext cx="5225000" cy="4400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4. KCS — SƠN TÀU BIỂN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Ba phép thử bắt buộc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3496666" cy="44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1830000"/>
            <a:ext cx="3496666" cy="13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906973" y="2210000"/>
            <a:ext cx="780000" cy="78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dhesion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062973" y="2366000"/>
            <a:ext cx="468000" cy="468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28640" y="3080000"/>
            <a:ext cx="3136666" cy="287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Độ bám dính (Pull-off)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ISO 4624 / ASTM D4541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Đo bằng MPa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5306" y="1830000"/>
            <a:ext cx="3496666" cy="44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45306" y="1830000"/>
            <a:ext cx="3496666" cy="13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703639" y="2210000"/>
            <a:ext cx="780000" cy="78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alt_spray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859639" y="2366000"/>
            <a:ext cx="468000" cy="468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25306" y="3080000"/>
            <a:ext cx="3136666" cy="287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Phun sương muối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1000 giờ · NaCl 5%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ở 35°C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41972" y="1830000"/>
            <a:ext cx="3496666" cy="44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41972" y="1830000"/>
            <a:ext cx="3496666" cy="130000"/>
          </a:xfrm>
          <a:prstGeom prst="roundRect">
            <a:avLst/>
          </a:prstGeom>
          <a:solidFill>
            <a:srgbClr val="7BA8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500305" y="2210000"/>
            <a:ext cx="780000" cy="780000"/>
          </a:xfrm>
          <a:prstGeom prst="ellipse">
            <a:avLst/>
          </a:prstGeom>
          <a:solidFill>
            <a:srgbClr val="7BA8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sun_uv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656305" y="2366000"/>
            <a:ext cx="468000" cy="468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321972" y="3080000"/>
            <a:ext cx="3136666" cy="287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Lão hóa QUV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Chu trình UV-A / UV-B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phấn hóa, phai màu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4. KCS — DỤNG CỤ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Thiết bị kiểm tra tại xưởng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5405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1830000"/>
            <a:ext cx="5405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48640" y="2070000"/>
            <a:ext cx="640000" cy="64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dhesion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6640" y="2198000"/>
            <a:ext cx="384000" cy="38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48640" y="2760000"/>
            <a:ext cx="4845000" cy="104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Bộ đo bám dính Pull-off</a:t>
            </a:r>
          </a:p>
          <a:p>
            <a:r>
              <a:rPr sz="2000" b="0" i="0">
                <a:solidFill>
                  <a:srgbClr val="34404A"/>
                </a:solidFill>
              </a:rPr>
              <a:t>Đo lực kéo đứt màng (MPa)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3640" y="1830000"/>
            <a:ext cx="5405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33640" y="1830000"/>
            <a:ext cx="5405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533640" y="2070000"/>
            <a:ext cx="640000" cy="64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quality_check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661640" y="2198000"/>
            <a:ext cx="384000" cy="384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533640" y="2760000"/>
            <a:ext cx="4845000" cy="104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Thước đo độ mịn Hegman</a:t>
            </a:r>
          </a:p>
          <a:p>
            <a:r>
              <a:rPr sz="2000" b="0" i="0">
                <a:solidFill>
                  <a:srgbClr val="34404A"/>
                </a:solidFill>
              </a:rPr>
              <a:t>Độ mịn hạt sau nghiền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00000"/>
            <a:ext cx="5405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48640" y="4200000"/>
            <a:ext cx="5405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48640" y="4440000"/>
            <a:ext cx="640000" cy="64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microscope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76640" y="4568000"/>
            <a:ext cx="384000" cy="384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48640" y="5130000"/>
            <a:ext cx="4845000" cy="104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Thiết bị phòng thí nghiệm</a:t>
            </a:r>
          </a:p>
          <a:p>
            <a:r>
              <a:rPr sz="2000" b="0" i="0">
                <a:solidFill>
                  <a:srgbClr val="34404A"/>
                </a:solidFill>
              </a:rPr>
              <a:t>Đánh giá độ bền dài hạn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33640" y="4200000"/>
            <a:ext cx="5405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233640" y="4200000"/>
            <a:ext cx="5405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533640" y="4440000"/>
            <a:ext cx="640000" cy="64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materials_w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6:svgBlip xmlns:ns6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661640" y="4568000"/>
            <a:ext cx="384000" cy="384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533640" y="5130000"/>
            <a:ext cx="4845000" cy="104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Cốc / thùng chứa mẫu</a:t>
            </a:r>
          </a:p>
          <a:p>
            <a:r>
              <a:rPr sz="2000" b="0" i="0">
                <a:solidFill>
                  <a:srgbClr val="34404A"/>
                </a:solidFill>
              </a:rPr>
              <a:t>Chứa &amp; pha mẫu sơn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warning_tri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Những sự cố thường gặp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5. SỰ CỐ THƯỜNG GẶP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Sự cố điển hình (1/2)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3550000" cy="211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8640" y="2130000"/>
            <a:ext cx="640000" cy="64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warning_tri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6640" y="2258000"/>
            <a:ext cx="384000" cy="384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8640" y="2870000"/>
            <a:ext cx="3050000" cy="91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r>
              <a:rPr sz="2000" b="1" i="0">
                <a:solidFill>
                  <a:srgbClr val="FFFFFF"/>
                </a:solidFill>
              </a:rPr>
              <a:t>Sốc nhựa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8640" y="1830000"/>
            <a:ext cx="3570000" cy="2110000"/>
          </a:xfrm>
          <a:prstGeom prst="roundRect">
            <a:avLst/>
          </a:prstGeom>
          <a:solidFill>
            <a:srgbClr val="F6EE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8640" y="198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Nguyên nhân</a:t>
            </a:r>
          </a:p>
          <a:p>
            <a:r>
              <a:rPr sz="2000" b="0" i="0">
                <a:solidFill>
                  <a:srgbClr val="34404A"/>
                </a:solidFill>
              </a:rPr>
              <a:t>dung môi mới có chỉ số KB thấp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8640" y="1830000"/>
            <a:ext cx="3570000" cy="211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8640" y="198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Xử lý</a:t>
            </a:r>
          </a:p>
          <a:p>
            <a:r>
              <a:rPr sz="2000" b="0" i="0">
                <a:solidFill>
                  <a:srgbClr val="34404A"/>
                </a:solidFill>
              </a:rPr>
              <a:t>châm dung môi phân cực + khuấy nghiền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190000"/>
            <a:ext cx="3550000" cy="211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48640" y="4490000"/>
            <a:ext cx="640000" cy="64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warning_tri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4:svgBlip xmlns:ns4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6640" y="4618000"/>
            <a:ext cx="384000" cy="384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28640" y="5230000"/>
            <a:ext cx="3050000" cy="91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r>
              <a:rPr sz="2000" b="1" i="0">
                <a:solidFill>
                  <a:srgbClr val="FFFFFF"/>
                </a:solidFill>
              </a:rPr>
              <a:t>Chảy xệ màng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8640" y="4190000"/>
            <a:ext cx="3570000" cy="2110000"/>
          </a:xfrm>
          <a:prstGeom prst="roundRect">
            <a:avLst/>
          </a:prstGeom>
          <a:solidFill>
            <a:srgbClr val="F6EE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38640" y="434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Nguyên nhân</a:t>
            </a:r>
          </a:p>
          <a:p>
            <a:r>
              <a:rPr sz="2000" b="0" i="0">
                <a:solidFill>
                  <a:srgbClr val="34404A"/>
                </a:solidFill>
              </a:rPr>
              <a:t>dung môi bay hơi chậm, KB lệch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68640" y="4190000"/>
            <a:ext cx="3570000" cy="211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8640" y="434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Xử lý</a:t>
            </a:r>
          </a:p>
          <a:p>
            <a:r>
              <a:rPr sz="2000" b="0" i="0">
                <a:solidFill>
                  <a:srgbClr val="34404A"/>
                </a:solidFill>
              </a:rPr>
              <a:t>hiệu chỉnh hệ dung môi, kiểm độ nhớt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5. SỰ CỐ THƯỜNG GẶP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Sự cố điển hình (2/2)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3550000" cy="211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8640" y="2130000"/>
            <a:ext cx="640000" cy="64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warning_tri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6640" y="2258000"/>
            <a:ext cx="384000" cy="384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8640" y="2870000"/>
            <a:ext cx="3050000" cy="91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r>
              <a:rPr sz="2000" b="1" i="0">
                <a:solidFill>
                  <a:srgbClr val="FFFFFF"/>
                </a:solidFill>
              </a:rPr>
              <a:t>Lắng cứng đáy bồn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8640" y="1830000"/>
            <a:ext cx="3570000" cy="2110000"/>
          </a:xfrm>
          <a:prstGeom prst="roundRect">
            <a:avLst/>
          </a:prstGeom>
          <a:solidFill>
            <a:srgbClr val="F6EE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8640" y="198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Nguyên nhân</a:t>
            </a:r>
          </a:p>
          <a:p>
            <a:r>
              <a:rPr sz="2000" b="0" i="0">
                <a:solidFill>
                  <a:srgbClr val="34404A"/>
                </a:solidFill>
              </a:rPr>
              <a:t>độ hút dầu bột mới vượt PVC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8640" y="1830000"/>
            <a:ext cx="3570000" cy="211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8640" y="198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Xử lý</a:t>
            </a:r>
          </a:p>
          <a:p>
            <a:r>
              <a:rPr sz="2000" b="0" i="0">
                <a:solidFill>
                  <a:srgbClr val="34404A"/>
                </a:solidFill>
              </a:rPr>
              <a:t>tính lại tỉ lệ, thêm chất chống lắng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190000"/>
            <a:ext cx="3550000" cy="211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48640" y="4490000"/>
            <a:ext cx="640000" cy="64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warning_tri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4:svgBlip xmlns:ns4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6640" y="4618000"/>
            <a:ext cx="384000" cy="384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28640" y="5230000"/>
            <a:ext cx="3050000" cy="91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r>
              <a:rPr sz="2000" b="1" i="0">
                <a:solidFill>
                  <a:srgbClr val="FFFFFF"/>
                </a:solidFill>
              </a:rPr>
              <a:t>Mất bóng / nứt giòn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8640" y="4190000"/>
            <a:ext cx="3570000" cy="2110000"/>
          </a:xfrm>
          <a:prstGeom prst="roundRect">
            <a:avLst/>
          </a:prstGeom>
          <a:solidFill>
            <a:srgbClr val="F6EE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38640" y="434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Nguyên nhân</a:t>
            </a:r>
          </a:p>
          <a:p>
            <a:r>
              <a:rPr sz="2000" b="0" i="0">
                <a:solidFill>
                  <a:srgbClr val="34404A"/>
                </a:solidFill>
              </a:rPr>
              <a:t>vượt PVC, thiếu nhựa liên kết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68640" y="4190000"/>
            <a:ext cx="3570000" cy="211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8640" y="434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Xử lý</a:t>
            </a:r>
          </a:p>
          <a:p>
            <a:r>
              <a:rPr sz="2000" b="0" i="0">
                <a:solidFill>
                  <a:srgbClr val="34404A"/>
                </a:solidFill>
              </a:rPr>
              <a:t>cân đối PVC, tăng chất tạo màng dẻo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5. SỰ CỐ TIÊU ĐIỂM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“Sốc nhựa” khi thay dung môi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31</a:t>
            </a:r>
          </a:p>
        </p:txBody>
      </p:sp>
      <p:sp>
        <p:nvSpPr>
          <p:cNvPr id="12" name="Oval 11"/>
          <p:cNvSpPr/>
          <p:nvPr/>
        </p:nvSpPr>
        <p:spPr>
          <a:xfrm>
            <a:off x="640000" y="242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arning_tri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83360" y="2569960"/>
            <a:ext cx="430080" cy="4300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736800" y="214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Hiện tượng</a:t>
            </a:r>
          </a:p>
          <a:p>
            <a:r>
              <a:rPr sz="2000" b="0" i="0">
                <a:solidFill>
                  <a:srgbClr val="34404A"/>
                </a:solidFill>
              </a:rPr>
              <a:t>Sơn vón cục, kết tủa; màng chảy xệ khi thi công</a:t>
            </a:r>
          </a:p>
        </p:txBody>
      </p:sp>
      <p:sp>
        <p:nvSpPr>
          <p:cNvPr id="15" name="Oval 14"/>
          <p:cNvSpPr/>
          <p:nvPr/>
        </p:nvSpPr>
        <p:spPr>
          <a:xfrm>
            <a:off x="640000" y="370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olvent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83360" y="3849960"/>
            <a:ext cx="430080" cy="4300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36800" y="342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Nguyên nhân</a:t>
            </a:r>
          </a:p>
          <a:p>
            <a:r>
              <a:rPr sz="2000" b="0" i="0">
                <a:solidFill>
                  <a:srgbClr val="34404A"/>
                </a:solidFill>
              </a:rPr>
              <a:t>Dung môi mới có chỉ số KB thấp → keo tụ</a:t>
            </a:r>
          </a:p>
        </p:txBody>
      </p:sp>
      <p:sp>
        <p:nvSpPr>
          <p:cNvPr id="18" name="Oval 17"/>
          <p:cNvSpPr/>
          <p:nvPr/>
        </p:nvSpPr>
        <p:spPr>
          <a:xfrm>
            <a:off x="640000" y="498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ear_proc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83360" y="5129960"/>
            <a:ext cx="430080" cy="4300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736800" y="470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Xử lý</a:t>
            </a:r>
          </a:p>
          <a:p>
            <a:r>
              <a:rPr sz="2000" b="0" i="0">
                <a:solidFill>
                  <a:srgbClr val="34404A"/>
                </a:solidFill>
              </a:rPr>
              <a:t>Châm Butyl Acetate / Xylene + khuấy nghiền 1200–1500 v/p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safety_shield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An toàn lao động &amp; môi trường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6. AN TOÀN LAO ĐỘNG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Cháy nổ &amp; hơi dung môi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7050000" cy="2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0000" y="2415000"/>
            <a:ext cx="950000" cy="9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lame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10000" y="2605000"/>
            <a:ext cx="570000" cy="57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900000" y="1940000"/>
            <a:ext cx="5550000" cy="190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Cháy nổ dung môi</a:t>
            </a:r>
          </a:p>
          <a:p>
            <a:r>
              <a:rPr sz="2000" b="1" i="0">
                <a:solidFill>
                  <a:srgbClr val="C88A2E"/>
                </a:solidFill>
              </a:rPr>
              <a:t>Nguy cơ: </a:t>
            </a:r>
            <a:r>
              <a:rPr sz="2000" b="0" i="0">
                <a:solidFill>
                  <a:srgbClr val="34404A"/>
                </a:solidFill>
              </a:rPr>
              <a:t>dung môi hữu cơ dễ bay hơi, bắt lửa</a:t>
            </a:r>
          </a:p>
          <a:p>
            <a:r>
              <a:rPr sz="2000" b="1" i="0">
                <a:solidFill>
                  <a:srgbClr val="2C7A5A"/>
                </a:solidFill>
              </a:rPr>
              <a:t>Biện pháp: </a:t>
            </a:r>
            <a:r>
              <a:rPr sz="2000" b="0" i="0">
                <a:solidFill>
                  <a:srgbClr val="34404A"/>
                </a:solidFill>
              </a:rPr>
              <a:t>chống tĩnh điện, thiết bị phòng nổ, PCCC tại chỗ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80000"/>
            <a:ext cx="7050000" cy="2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0000" y="4765000"/>
            <a:ext cx="950000" cy="9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gasmask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10000" y="4955000"/>
            <a:ext cx="570000" cy="57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900000" y="4290000"/>
            <a:ext cx="5550000" cy="190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Hơi dung môi độc hại</a:t>
            </a:r>
          </a:p>
          <a:p>
            <a:r>
              <a:rPr sz="2000" b="1" i="0">
                <a:solidFill>
                  <a:srgbClr val="C88A2E"/>
                </a:solidFill>
              </a:rPr>
              <a:t>Nguy cơ: </a:t>
            </a:r>
            <a:r>
              <a:rPr sz="2000" b="0" i="0">
                <a:solidFill>
                  <a:srgbClr val="34404A"/>
                </a:solidFill>
              </a:rPr>
              <a:t>hít VOC hại hô hấp, thần kinh</a:t>
            </a:r>
          </a:p>
          <a:p>
            <a:r>
              <a:rPr sz="2000" b="1" i="0">
                <a:solidFill>
                  <a:srgbClr val="2C7A5A"/>
                </a:solidFill>
              </a:rPr>
              <a:t>Biện pháp: </a:t>
            </a:r>
            <a:r>
              <a:rPr sz="2000" b="0" i="0">
                <a:solidFill>
                  <a:srgbClr val="34404A"/>
                </a:solidFill>
              </a:rPr>
              <a:t>thông gió cưỡng bức, mặt nạ, quan trắc không khí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64640" y="2404712"/>
            <a:ext cx="3808000" cy="3320575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ppe_c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98640" y="2438712"/>
            <a:ext cx="3740000" cy="325257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864640" y="5741287"/>
            <a:ext cx="3808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1500" b="0" i="1">
                <a:solidFill>
                  <a:srgbClr val="5B6E66"/>
                </a:solidFill>
              </a:rPr>
              <a:t>Trang bị bảo hộ khi làm việc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6. AN TOÀN LAO ĐỘNG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Hóa chất, bụi &amp; an toàn cơ khí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11090000" cy="2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0000" y="2415000"/>
            <a:ext cx="950000" cy="9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hemical_glove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10000" y="2605000"/>
            <a:ext cx="570000" cy="57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900000" y="1940000"/>
            <a:ext cx="9590000" cy="190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Hóa chất &amp; bột màu</a:t>
            </a:r>
          </a:p>
          <a:p>
            <a:r>
              <a:rPr sz="2000" b="1" i="0">
                <a:solidFill>
                  <a:srgbClr val="C88A2E"/>
                </a:solidFill>
              </a:rPr>
              <a:t>Nguy cơ: </a:t>
            </a:r>
            <a:r>
              <a:rPr sz="2000" b="0" i="0">
                <a:solidFill>
                  <a:srgbClr val="34404A"/>
                </a:solidFill>
              </a:rPr>
              <a:t>tiếp xúc da/mắt, bụi bột vô cơ</a:t>
            </a:r>
          </a:p>
          <a:p>
            <a:r>
              <a:rPr sz="2000" b="1" i="0">
                <a:solidFill>
                  <a:srgbClr val="2C7A5A"/>
                </a:solidFill>
              </a:rPr>
              <a:t>Biện pháp: </a:t>
            </a:r>
            <a:r>
              <a:rPr sz="2000" b="0" i="0">
                <a:solidFill>
                  <a:srgbClr val="34404A"/>
                </a:solidFill>
              </a:rPr>
              <a:t>PPE đầy đủ, vòi rửa mắt, nhãn &amp; MSDS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80000"/>
            <a:ext cx="11090000" cy="2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0000" y="4765000"/>
            <a:ext cx="950000" cy="9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gear_proc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10000" y="4955000"/>
            <a:ext cx="570000" cy="57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900000" y="4290000"/>
            <a:ext cx="9590000" cy="190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Cơ khí — máy khuấy / nghiền</a:t>
            </a:r>
          </a:p>
          <a:p>
            <a:r>
              <a:rPr sz="2000" b="1" i="0">
                <a:solidFill>
                  <a:srgbClr val="C88A2E"/>
                </a:solidFill>
              </a:rPr>
              <a:t>Nguy cơ: </a:t>
            </a:r>
            <a:r>
              <a:rPr sz="2000" b="0" i="0">
                <a:solidFill>
                  <a:srgbClr val="34404A"/>
                </a:solidFill>
              </a:rPr>
              <a:t>cuốn kẹt, văng bắn tốc độ cao</a:t>
            </a:r>
          </a:p>
          <a:p>
            <a:r>
              <a:rPr sz="2000" b="1" i="0">
                <a:solidFill>
                  <a:srgbClr val="2C7A5A"/>
                </a:solidFill>
              </a:rPr>
              <a:t>Biện pháp: </a:t>
            </a:r>
            <a:r>
              <a:rPr sz="2000" b="0" i="0">
                <a:solidFill>
                  <a:srgbClr val="34404A"/>
                </a:solidFill>
              </a:rPr>
              <a:t>che chắn, nút dừng khẩn, quy trình LOTO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6. VẤN ĐỀ MÔI TRƯỜNG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Kiểm soát chất thải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4640" y="2138808"/>
            <a:ext cx="4418000" cy="3852383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aste_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2172808"/>
            <a:ext cx="4350000" cy="378438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14640" y="6007191"/>
            <a:ext cx="4418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1500" b="0" i="1">
                <a:solidFill>
                  <a:srgbClr val="5B6E66"/>
                </a:solidFill>
              </a:rPr>
              <a:t>Hệ thống xử lý nước thải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18640" y="1830000"/>
            <a:ext cx="642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218640" y="1830000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498640" y="2188333"/>
            <a:ext cx="620000" cy="6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moke_air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3:svgBlip xmlns:ns3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622640" y="2312333"/>
            <a:ext cx="372000" cy="372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38640" y="1830000"/>
            <a:ext cx="490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Khí thải — hơi VOC</a:t>
            </a:r>
          </a:p>
          <a:p>
            <a:r>
              <a:rPr sz="2000" b="0" i="0">
                <a:solidFill>
                  <a:srgbClr val="34404A"/>
                </a:solidFill>
              </a:rPr>
              <a:t>Chụp hút → than hoạt tính / buồng đốt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218640" y="3396666"/>
            <a:ext cx="642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18640" y="3396666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498640" y="3754999"/>
            <a:ext cx="620000" cy="6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water_waste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4:svgBlip xmlns:ns4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622640" y="3878999"/>
            <a:ext cx="372000" cy="372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38640" y="3396666"/>
            <a:ext cx="490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Nước thải &amp; dung môi</a:t>
            </a:r>
          </a:p>
          <a:p>
            <a:r>
              <a:rPr sz="2000" b="0" i="0">
                <a:solidFill>
                  <a:srgbClr val="34404A"/>
                </a:solidFill>
              </a:rPr>
              <a:t>Lắng tách cặn, thu hồi dung môi tái chưng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218640" y="4963332"/>
            <a:ext cx="642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218640" y="4963332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498640" y="5321665"/>
            <a:ext cx="620000" cy="6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olid_waste_w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5:svgBlip xmlns:ns5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622640" y="5445665"/>
            <a:ext cx="372000" cy="372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438640" y="4963332"/>
            <a:ext cx="490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Chất thải rắn</a:t>
            </a:r>
          </a:p>
          <a:p>
            <a:r>
              <a:rPr sz="2000" b="0" i="0">
                <a:solidFill>
                  <a:srgbClr val="34404A"/>
                </a:solidFill>
              </a:rPr>
              <a:t>Phân loại tại nguồn, đơn vị xử lý nguy hại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KẾT LUẬN &amp; KIẾN NGHỊ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Tổng kết đợt thực tập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36</a:t>
            </a:r>
          </a:p>
        </p:txBody>
      </p:sp>
      <p:sp>
        <p:nvSpPr>
          <p:cNvPr id="12" name="Oval 11"/>
          <p:cNvSpPr/>
          <p:nvPr/>
        </p:nvSpPr>
        <p:spPr>
          <a:xfrm>
            <a:off x="640000" y="242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grad_check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83360" y="2569960"/>
            <a:ext cx="430080" cy="4300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736800" y="214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Kết quả đạt được</a:t>
            </a:r>
          </a:p>
          <a:p>
            <a:r>
              <a:rPr sz="2000" b="0" i="0">
                <a:solidFill>
                  <a:srgbClr val="34404A"/>
                </a:solidFill>
              </a:rPr>
              <a:t>Nắm quy trình sản xuất, hệ QC &amp; vận hành thiết bị</a:t>
            </a:r>
          </a:p>
        </p:txBody>
      </p:sp>
      <p:sp>
        <p:nvSpPr>
          <p:cNvPr id="15" name="Oval 14"/>
          <p:cNvSpPr/>
          <p:nvPr/>
        </p:nvSpPr>
        <p:spPr>
          <a:xfrm>
            <a:off x="640000" y="370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alette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83360" y="3849960"/>
            <a:ext cx="430080" cy="4300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36800" y="342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Kiến nghị 1 — Số hóa màu sắc</a:t>
            </a:r>
          </a:p>
          <a:p>
            <a:r>
              <a:rPr sz="2000" b="0" i="0">
                <a:solidFill>
                  <a:srgbClr val="34404A"/>
                </a:solidFill>
              </a:rPr>
              <a:t>Thư viện màu chuẩn điện tử, giảm sai lệch mẻ</a:t>
            </a:r>
          </a:p>
        </p:txBody>
      </p:sp>
      <p:sp>
        <p:nvSpPr>
          <p:cNvPr id="18" name="Oval 17"/>
          <p:cNvSpPr/>
          <p:nvPr/>
        </p:nvSpPr>
        <p:spPr>
          <a:xfrm>
            <a:off x="640000" y="498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qr_code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3360" y="5129960"/>
            <a:ext cx="430080" cy="4300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736800" y="470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Kiến nghị 2 — Truy xuất nguồn gốc</a:t>
            </a:r>
          </a:p>
          <a:p>
            <a:r>
              <a:rPr sz="2000" b="0" i="0">
                <a:solidFill>
                  <a:srgbClr val="34404A"/>
                </a:solidFill>
              </a:rPr>
              <a:t>QR / Barcode từng mẻ, liên kết dữ liệu đo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deco_mol_whit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50000" y="560000"/>
            <a:ext cx="2400000" cy="24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00000" y="2650000"/>
            <a:ext cx="10400000" cy="10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4000" b="1" i="0">
                <a:solidFill>
                  <a:srgbClr val="FFFFFF"/>
                </a:solidFill>
              </a:rPr>
              <a:t>Xin chân thành cảm ơn!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750000"/>
            <a:ext cx="10400000" cy="7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400" b="0" i="0">
                <a:solidFill>
                  <a:srgbClr val="CFE2D8"/>
                </a:solidFill>
              </a:rPr>
              <a:t>Cảm ơn quý thầy cô và Công ty TNHH Sơn Hải Vân đã hướng dẫn.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