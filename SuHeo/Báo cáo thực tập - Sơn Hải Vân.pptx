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c_brush_amber.svg"/><Relationship Id="rId12" Type="http://schemas.openxmlformats.org/officeDocument/2006/relationships/image" Target="../media/ic_company_w.svg"/><Relationship Id="rId13" Type="http://schemas.openxmlformats.org/officeDocument/2006/relationships/image" Target="../media/ic_gear_proc_w.svg"/><Relationship Id="rId14" Type="http://schemas.openxmlformats.org/officeDocument/2006/relationships/image" Target="../media/ic_hex_pale.svg"/><Relationship Id="rId15" Type="http://schemas.openxmlformats.org/officeDocument/2006/relationships/image" Target="../media/ic_materials_w.svg"/><Relationship Id="rId16" Type="http://schemas.openxmlformats.org/officeDocument/2006/relationships/image" Target="../media/ic_quality_check_w.svg"/><Relationship Id="rId17" Type="http://schemas.openxmlformats.org/officeDocument/2006/relationships/image" Target="../media/ic_safety_shield_w.svg"/><Relationship Id="rId18" Type="http://schemas.openxmlformats.org/officeDocument/2006/relationships/image" Target="../media/ic_swash_pale.svg"/><Relationship Id="rId19" Type="http://schemas.openxmlformats.org/officeDocument/2006/relationships/image" Target="../media/ic_warning_tri_w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c_company_w.svg"/><Relationship Id="rId5" Type="http://schemas.openxmlformats.org/officeDocument/2006/relationships/image" Target="../media/ic_divb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c_brush_amber.svg"/><Relationship Id="rId10" Type="http://schemas.openxmlformats.org/officeDocument/2006/relationships/image" Target="../media/ic_factory_w.svg"/><Relationship Id="rId11" Type="http://schemas.openxmlformats.org/officeDocument/2006/relationships/image" Target="../media/ic_hex_pale.svg"/><Relationship Id="rId12" Type="http://schemas.openxmlformats.org/officeDocument/2006/relationships/image" Target="../media/ic_history_clock_w.svg"/><Relationship Id="rId13" Type="http://schemas.openxmlformats.org/officeDocument/2006/relationships/image" Target="../media/ic_paint_can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8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c_divbg.svg"/><Relationship Id="rId5" Type="http://schemas.openxmlformats.org/officeDocument/2006/relationships/image" Target="../media/ic_materials_w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0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4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c_divbg.svg"/><Relationship Id="rId5" Type="http://schemas.openxmlformats.org/officeDocument/2006/relationships/image" Target="../media/ic_gear_proc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c_big_flow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2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3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4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5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c_divbg.svg"/><Relationship Id="rId5" Type="http://schemas.openxmlformats.org/officeDocument/2006/relationships/image" Target="../media/ic_quality_check_w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6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topwatch_w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7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microscope_w.svg"/><Relationship Id="rId9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8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9.png"/><Relationship Id="rId6" Type="http://schemas.openxmlformats.org/officeDocument/2006/relationships/image" Target="../media/image11.png"/><Relationship Id="rId7" Type="http://schemas.openxmlformats.org/officeDocument/2006/relationships/image" Target="../media/image37.png"/><Relationship Id="rId8" Type="http://schemas.openxmlformats.org/officeDocument/2006/relationships/image" Target="../media/image9.png"/><Relationship Id="rId9" Type="http://schemas.openxmlformats.org/officeDocument/2006/relationships/image" Target="../media/ic_adhesion_w.svg"/><Relationship Id="rId10" Type="http://schemas.openxmlformats.org/officeDocument/2006/relationships/image" Target="../media/ic_brush_amber.svg"/><Relationship Id="rId11" Type="http://schemas.openxmlformats.org/officeDocument/2006/relationships/image" Target="../media/ic_hex_pale.svg"/><Relationship Id="rId12" Type="http://schemas.openxmlformats.org/officeDocument/2006/relationships/image" Target="../media/ic_materials_w.svg"/><Relationship Id="rId13" Type="http://schemas.openxmlformats.org/officeDocument/2006/relationships/image" Target="../media/ic_microscope_w.svg"/><Relationship Id="rId14" Type="http://schemas.openxmlformats.org/officeDocument/2006/relationships/image" Target="../media/ic_quality_check_w.svg"/><Relationship Id="rId15" Type="http://schemas.openxmlformats.org/officeDocument/2006/relationships/image" Target="../media/ic_swash_pale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c_divbg.svg"/><Relationship Id="rId5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mage42.png"/><Relationship Id="rId7" Type="http://schemas.openxmlformats.org/officeDocument/2006/relationships/image" Target="../media/image10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c_divbg.svg"/><Relationship Id="rId5" Type="http://schemas.openxmlformats.org/officeDocument/2006/relationships/image" Target="../media/ic_safety_shield_w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jpg"/><Relationship Id="rId8" Type="http://schemas.openxmlformats.org/officeDocument/2006/relationships/image" Target="../media/ic_brush_amber.svg"/><Relationship Id="rId9" Type="http://schemas.openxmlformats.org/officeDocument/2006/relationships/image" Target="../media/ic_flame_w.svg"/><Relationship Id="rId10" Type="http://schemas.openxmlformats.org/officeDocument/2006/relationships/image" Target="../media/ic_gasmask_w.svg"/><Relationship Id="rId11" Type="http://schemas.openxmlformats.org/officeDocument/2006/relationships/image" Target="../media/ic_hex_pale.svg"/><Relationship Id="rId12" Type="http://schemas.openxmlformats.org/officeDocument/2006/relationships/image" Target="../media/ic_swash_pale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6.png"/><Relationship Id="rId6" Type="http://schemas.openxmlformats.org/officeDocument/2006/relationships/image" Target="../media/image10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7.jp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moke_air_w.svg"/><Relationship Id="rId12" Type="http://schemas.openxmlformats.org/officeDocument/2006/relationships/image" Target="../media/ic_solid_waste_w.svg"/><Relationship Id="rId13" Type="http://schemas.openxmlformats.org/officeDocument/2006/relationships/image" Target="../media/ic_swash_pale.svg"/><Relationship Id="rId14" Type="http://schemas.openxmlformats.org/officeDocument/2006/relationships/image" Target="../media/ic_water_waste_w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2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000"/>
            <a:ext cx="12191695" cy="92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u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847" y="380000"/>
            <a:ext cx="4050000" cy="1154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660000"/>
            <a:ext cx="10391695" cy="7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800" b="1" i="0">
                <a:solidFill>
                  <a:srgbClr val="1F4E3D"/>
                </a:solidFill>
              </a:rPr>
              <a:t>TRƯỜNG ĐẠI HỌC CÔNG NGHIỆP TP. HỒ CHÍ MINH</a:t>
            </a:r>
          </a:p>
          <a:p>
            <a:pPr algn="ctr"/>
            <a:r>
              <a:rPr sz="1500" b="1" i="0">
                <a:solidFill>
                  <a:srgbClr val="5B6E66"/>
                </a:solidFill>
              </a:rPr>
              <a:t>KHOA CÔNG NGHỆ HÓA HỌC</a:t>
            </a:r>
          </a:p>
        </p:txBody>
      </p:sp>
      <p:sp>
        <p:nvSpPr>
          <p:cNvPr id="7" name="Rectangle 6"/>
          <p:cNvSpPr/>
          <p:nvPr/>
        </p:nvSpPr>
        <p:spPr>
          <a:xfrm>
            <a:off x="5195847" y="2410000"/>
            <a:ext cx="1800000" cy="260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2520000"/>
            <a:ext cx="10391695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600" b="1" i="0">
                <a:solidFill>
                  <a:srgbClr val="C88A2E"/>
                </a:solidFill>
              </a:rPr>
              <a:t>BÁO CÁO THỰC TẬP TỐT NGHIỆP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2880000"/>
            <a:ext cx="10591695" cy="11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3100" b="1" i="0">
                <a:solidFill>
                  <a:srgbClr val="1F4E3D"/>
                </a:solidFill>
              </a:rPr>
              <a:t>Quy trình sản xuất &amp; kiểm soát</a:t>
            </a:r>
          </a:p>
          <a:p>
            <a:pPr algn="ctr"/>
            <a:r>
              <a:rPr sz="3100" b="1" i="0">
                <a:solidFill>
                  <a:srgbClr val="1F4E3D"/>
                </a:solidFill>
              </a:rPr>
              <a:t>chất lượng sơn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" y="4080000"/>
            <a:ext cx="10591695" cy="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200" b="1" i="0">
                <a:solidFill>
                  <a:srgbClr val="2C7A5A"/>
                </a:solidFill>
              </a:rPr>
              <a:t>tại Công ty TNHH Sơn Hải Vân</a:t>
            </a:r>
          </a:p>
        </p:txBody>
      </p:sp>
      <p:pic>
        <p:nvPicPr>
          <p:cNvPr id="11" name="Picture 10" descr="shv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0847" y="4560000"/>
            <a:ext cx="2450000" cy="8023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5560000"/>
            <a:ext cx="10391695" cy="7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600" b="0" i="0">
                <a:solidFill>
                  <a:srgbClr val="14332A"/>
                </a:solidFill>
              </a:rPr>
              <a:t>GVHD: Lê Nhất Thống        CBHD: Lê Quốc</a:t>
            </a:r>
          </a:p>
          <a:p>
            <a:pPr algn="ctr"/>
            <a:r>
              <a:rPr sz="1600" b="0" i="0">
                <a:solidFill>
                  <a:srgbClr val="14332A"/>
                </a:solidFill>
              </a:rPr>
              <a:t>Nhóm 8 SV thực tập  ·  Lớp DHHO18A–D  ·  Năm học 2025–2026</a:t>
            </a:r>
          </a:p>
          <a:p>
            <a:pPr algn="ctr"/>
            <a:r>
              <a:rPr sz="1400" b="0" i="1">
                <a:solidFill>
                  <a:srgbClr val="5B6E66"/>
                </a:solidFill>
              </a:rPr>
              <a:t>TP. Hồ Chí Minh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9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057640" y="2224000"/>
            <a:ext cx="492000" cy="4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Tổng quan về công 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8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47640" y="2224000"/>
            <a:ext cx="492000" cy="49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5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Nguyên vật liệu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7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37640" y="2224000"/>
            <a:ext cx="492000" cy="49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4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Quy trình công nghệ &amp; thiết bị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9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quality_check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57640" y="4594000"/>
            <a:ext cx="492000" cy="49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Kiểm soát chất lượng (KCS)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3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8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arning_tri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47640" y="4594000"/>
            <a:ext cx="492000" cy="492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45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Những sự cố thường gặp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2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47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fety_shield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37640" y="4594000"/>
            <a:ext cx="492000" cy="492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4450000" cy="447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640" y="235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8640" y="2600000"/>
            <a:ext cx="750000" cy="7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8640" y="3930000"/>
            <a:ext cx="3950000" cy="170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Sơn Hải Vân</a:t>
            </a:r>
          </a:p>
          <a:p>
            <a:pPr algn="ctr"/>
            <a:r>
              <a:rPr sz="2000" b="0" i="0">
                <a:solidFill>
                  <a:srgbClr val="CFE2D8"/>
                </a:solidFill>
              </a:rPr>
              <a:t>Sơn công nghiệp &amp; tàu biển bảo vệ chuyên dụng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8640" y="1830000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7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8640" y="2198333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78640" y="2318333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8640" y="1830000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Thành lập 2008 · SX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TP.HCM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8640" y="3396666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58640" y="3764999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8640" y="3884999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8640" y="3396666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Doanh nghiệp vừa (SME) · B2B</a:t>
            </a:r>
          </a:p>
          <a:p>
            <a:r>
              <a:rPr sz="2000" b="0" i="0">
                <a:solidFill>
                  <a:srgbClr val="34404A"/>
                </a:solidFill>
              </a:rPr>
              <a:t>Sản xuất theo dự án / hợp đồng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640" y="4963332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58640" y="5331665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int_can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78640" y="5451665"/>
            <a:ext cx="360000" cy="36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8640" y="4963332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Sơn chống ăn mòn, chống cháy</a:t>
            </a:r>
          </a:p>
          <a:p>
            <a:r>
              <a:rPr sz="2000" b="0" i="0">
                <a:solidFill>
                  <a:srgbClr val="34404A"/>
                </a:solidFill>
              </a:rPr>
              <a:t>Bảo vệ công trình &amp; hàng hải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655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655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29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655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1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655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2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6000" y="2196217"/>
            <a:ext cx="4288000" cy="373756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hip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000" y="2230217"/>
            <a:ext cx="4220000" cy="366956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86000" y="5949782"/>
            <a:ext cx="428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Sơn phủ bảo vệ thân tàu (minh họa)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Lưu đồ quy trình sản xuất sơn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12" name="Picture 11" descr="big_flo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457" y="1855000"/>
            <a:ext cx="8408780" cy="44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opwatch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Theo dõi từng mẻ, cho qua công đoạn — dụng cụ đo nhanh cầm tay.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Tỷ trọng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Màu sắc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phủ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mịn (Hegman)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Thời gian khô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nhớt (Stormer)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icroscop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Đánh giá độ bền dài hạn của màng sơn — cơ sở nghiệm thu.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bám dính (Pull-off)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Bền uốn · va đập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bóng · hàm rắn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Phun sương muối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Lão hóa UV / QUV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Đối chiếu TCVN / ASTM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3347" y="1865000"/>
            <a:ext cx="41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Độ bám dính (Pull-off)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ISO 4624 / ASTM D4541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Phun sương muối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1000 giờ · NaCl 5%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ở 35°C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Lão hóa QUV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Chu trình UV-A / UV-B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phấn hóa, phai màu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198000"/>
            <a:ext cx="384000" cy="3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(MPa)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3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61640" y="2198000"/>
            <a:ext cx="384000" cy="38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3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Độ mịn hạt sau nghiền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6640" y="4568000"/>
            <a:ext cx="384000" cy="38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8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3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33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1640" y="4568000"/>
            <a:ext cx="384000" cy="38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33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Cốc / thùng chứa mẫu</a:t>
            </a:r>
          </a:p>
          <a:p>
            <a:r>
              <a:rPr sz="2000" b="0" i="0">
                <a:solidFill>
                  <a:srgbClr val="34404A"/>
                </a:solidFill>
              </a:rPr>
              <a:t>Chứa &amp; pha mẫu sơn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Sốc nhựa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dung môi phân cực + khuấy nghiền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Chảy xệ màng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bay hơi chậm, KB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hiệu chỉnh hệ dung môi, kiểm độ nhớt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Lắng cứng đáy bồn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độ hút dầu bột mới vượt PVC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tính lại tỉ lệ, thêm chất chống lắng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Mất bóng / nứt giòn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vượt PVC, thiếu nhựa liên kết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cân đối PVC, tăng chất tạo màng dẻo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31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4640" y="2404712"/>
            <a:ext cx="3808000" cy="332057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e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8640" y="2438712"/>
            <a:ext cx="3740000" cy="32525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64640" y="5741287"/>
            <a:ext cx="380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Trang bị bảo hộ khi làm việc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640" y="2138808"/>
            <a:ext cx="4418000" cy="3852383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st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172808"/>
            <a:ext cx="4350000" cy="378438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4640" y="6007191"/>
            <a:ext cx="441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Hệ thống xử lý nước thải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8640" y="1830000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98640" y="2188333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moke_air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22640" y="2312333"/>
            <a:ext cx="372000" cy="37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8640" y="1830000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Khí thải — hơi VOC</a:t>
            </a:r>
          </a:p>
          <a:p>
            <a:r>
              <a:rPr sz="2000" b="0" i="0">
                <a:solidFill>
                  <a:srgbClr val="34404A"/>
                </a:solidFill>
              </a:rPr>
              <a:t>Chụp hút → than hoạt tính / buồng đốt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8640" y="3396666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98640" y="3754999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ter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22640" y="3878999"/>
            <a:ext cx="372000" cy="372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38640" y="3396666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Nước thải &amp; dung môi</a:t>
            </a:r>
          </a:p>
          <a:p>
            <a:r>
              <a:rPr sz="2000" b="0" i="0">
                <a:solidFill>
                  <a:srgbClr val="34404A"/>
                </a:solidFill>
              </a:rPr>
              <a:t>Lắng tách cặn, thu hồi dung môi tái chưng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8640" y="4963332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98640" y="5321665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olid_waste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22640" y="5445665"/>
            <a:ext cx="372000" cy="372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38640" y="4963332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Chất thải rắn</a:t>
            </a:r>
          </a:p>
          <a:p>
            <a:r>
              <a:rPr sz="2000" b="0" i="0">
                <a:solidFill>
                  <a:srgbClr val="34404A"/>
                </a:solidFill>
              </a:rPr>
              <a:t>Phân loại tại nguồn, đơn vị xử lý nguy hại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36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