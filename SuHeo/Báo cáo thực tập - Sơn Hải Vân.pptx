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company_w.svg"/><Relationship Id="rId10" Type="http://schemas.openxmlformats.org/officeDocument/2006/relationships/image" Target="../media/ic_deco_mol_pale.svg"/><Relationship Id="rId11" Type="http://schemas.openxmlformats.org/officeDocument/2006/relationships/image" Target="../media/ic_gear_proc_w.svg"/><Relationship Id="rId12" Type="http://schemas.openxmlformats.org/officeDocument/2006/relationships/image" Target="../media/ic_materials_w.svg"/><Relationship Id="rId13" Type="http://schemas.openxmlformats.org/officeDocument/2006/relationships/image" Target="../media/ic_quality_check_w.svg"/><Relationship Id="rId14" Type="http://schemas.openxmlformats.org/officeDocument/2006/relationships/image" Target="../media/ic_safety_shield_w.svg"/><Relationship Id="rId15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c_company_w.svg"/><Relationship Id="rId6" Type="http://schemas.openxmlformats.org/officeDocument/2006/relationships/image" Target="../media/ic_deco_drip_white.svg"/><Relationship Id="rId7" Type="http://schemas.openxmlformats.org/officeDocument/2006/relationships/image" Target="../media/ic_deco_mol_white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c_deco_mol_pale.svg"/><Relationship Id="rId7" Type="http://schemas.openxmlformats.org/officeDocument/2006/relationships/image" Target="../media/ic_factory_w.svg"/><Relationship Id="rId8" Type="http://schemas.openxmlformats.org/officeDocument/2006/relationships/image" Target="../media/ic_history_clock_w.svg"/><Relationship Id="rId9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c_big_timeline.svg"/><Relationship Id="rId5" Type="http://schemas.openxmlformats.org/officeDocument/2006/relationships/image" Target="../media/ic_deco_mol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c_company_w.svg"/><Relationship Id="rId8" Type="http://schemas.openxmlformats.org/officeDocument/2006/relationships/image" Target="../media/ic_deco_mol_pale.svg"/><Relationship Id="rId9" Type="http://schemas.openxmlformats.org/officeDocument/2006/relationships/image" Target="../media/ic_factory_w.svg"/><Relationship Id="rId10" Type="http://schemas.openxmlformats.org/officeDocument/2006/relationships/image" Target="../media/ic_materials_w.svg"/><Relationship Id="rId11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c_big_materials.svg"/><Relationship Id="rId5" Type="http://schemas.openxmlformats.org/officeDocument/2006/relationships/image" Target="../media/ic_deco_mol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c_big_doughnut.svg"/><Relationship Id="rId5" Type="http://schemas.openxmlformats.org/officeDocument/2006/relationships/image" Target="../media/ic_deco_mol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c_chart8_beo.svg"/><Relationship Id="rId7" Type="http://schemas.openxmlformats.org/officeDocument/2006/relationships/image" Target="../media/ic_chart8_gay.svg"/><Relationship Id="rId8" Type="http://schemas.openxmlformats.org/officeDocument/2006/relationships/image" Target="../media/ic_chart8_trung.svg"/><Relationship Id="rId9" Type="http://schemas.openxmlformats.org/officeDocument/2006/relationships/image" Target="../media/ic_deco_mol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c_deco_mol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c_danh_paste_w.svg"/><Relationship Id="rId10" Type="http://schemas.openxmlformats.org/officeDocument/2006/relationships/image" Target="../media/ic_deco_mol_pale.svg"/><Relationship Id="rId11" Type="http://schemas.openxmlformats.org/officeDocument/2006/relationships/image" Target="../media/ic_dinh_luong_w.svg"/><Relationship Id="rId12" Type="http://schemas.openxmlformats.org/officeDocument/2006/relationships/image" Target="../media/ic_loc_donggoi_w.svg"/><Relationship Id="rId13" Type="http://schemas.openxmlformats.org/officeDocument/2006/relationships/image" Target="../media/ic_ngam_u_w.svg"/><Relationship Id="rId14" Type="http://schemas.openxmlformats.org/officeDocument/2006/relationships/image" Target="../media/ic_nghien_min_w.svg"/><Relationship Id="rId15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c_big_columns.svg"/><Relationship Id="rId5" Type="http://schemas.openxmlformats.org/officeDocument/2006/relationships/image" Target="../media/ic_deco_mol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c_danh_paste_w.svg"/><Relationship Id="rId7" Type="http://schemas.openxmlformats.org/officeDocument/2006/relationships/image" Target="../media/ic_deco_mol_pale.svg"/><Relationship Id="rId8" Type="http://schemas.openxmlformats.org/officeDocument/2006/relationships/image" Target="../media/ic_dinh_luong_w.svg"/><Relationship Id="rId9" Type="http://schemas.openxmlformats.org/officeDocument/2006/relationships/image" Target="../media/ic_nghien_min_w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c_deco_mol_pale.svg"/><Relationship Id="rId7" Type="http://schemas.openxmlformats.org/officeDocument/2006/relationships/image" Target="../media/ic_loc_donggoi_w.svg"/><Relationship Id="rId8" Type="http://schemas.openxmlformats.org/officeDocument/2006/relationships/image" Target="../media/ic_ngam_u_w.svg"/><Relationship Id="rId9" Type="http://schemas.openxmlformats.org/officeDocument/2006/relationships/image" Target="../media/ic_pha_loang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jpg"/><Relationship Id="rId4" Type="http://schemas.openxmlformats.org/officeDocument/2006/relationships/image" Target="../media/ic_deco_mol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jpg"/><Relationship Id="rId4" Type="http://schemas.openxmlformats.org/officeDocument/2006/relationships/image" Target="../media/ic_deco_mol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jpg"/><Relationship Id="rId4" Type="http://schemas.openxmlformats.org/officeDocument/2006/relationships/image" Target="../media/ic_deco_mol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quality_check_w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c_deco_mol_pale.svg"/><Relationship Id="rId5" Type="http://schemas.openxmlformats.org/officeDocument/2006/relationships/image" Target="../media/ic_stopwatch_w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c_deco_mol_pale.svg"/><Relationship Id="rId5" Type="http://schemas.openxmlformats.org/officeDocument/2006/relationships/image" Target="../media/ic_microscope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1.png"/><Relationship Id="rId4" Type="http://schemas.openxmlformats.org/officeDocument/2006/relationships/image" Target="../media/ic_big_radar.svg"/><Relationship Id="rId5" Type="http://schemas.openxmlformats.org/officeDocument/2006/relationships/image" Target="../media/ic_deco_mol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c_adhesion_w.svg"/><Relationship Id="rId7" Type="http://schemas.openxmlformats.org/officeDocument/2006/relationships/image" Target="../media/ic_deco_mol_pale.svg"/><Relationship Id="rId8" Type="http://schemas.openxmlformats.org/officeDocument/2006/relationships/image" Target="../media/ic_salt_spray_w.svg"/><Relationship Id="rId9" Type="http://schemas.openxmlformats.org/officeDocument/2006/relationships/image" Target="../media/ic_sun_uv_w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2.png"/><Relationship Id="rId4" Type="http://schemas.openxmlformats.org/officeDocument/2006/relationships/image" Target="../media/image7.png"/><Relationship Id="rId5" Type="http://schemas.openxmlformats.org/officeDocument/2006/relationships/image" Target="../media/image30.png"/><Relationship Id="rId6" Type="http://schemas.openxmlformats.org/officeDocument/2006/relationships/image" Target="../media/ic_adhesion_w.svg"/><Relationship Id="rId7" Type="http://schemas.openxmlformats.org/officeDocument/2006/relationships/image" Target="../media/ic_deco_mol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quality_check_w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warning_tri_w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c_deco_mol_pale.svg"/><Relationship Id="rId5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c_deco_mol_pale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35.png"/><Relationship Id="rId5" Type="http://schemas.openxmlformats.org/officeDocument/2006/relationships/image" Target="../media/image6.png"/><Relationship Id="rId6" Type="http://schemas.openxmlformats.org/officeDocument/2006/relationships/image" Target="../media/ic_deco_mol_pale.svg"/><Relationship Id="rId7" Type="http://schemas.openxmlformats.org/officeDocument/2006/relationships/image" Target="../media/ic_gear_proc_w.svg"/><Relationship Id="rId8" Type="http://schemas.openxmlformats.org/officeDocument/2006/relationships/image" Target="../media/ic_solvent_w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safety_shield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c_deco_mol_pale.svg"/><Relationship Id="rId6" Type="http://schemas.openxmlformats.org/officeDocument/2006/relationships/image" Target="../media/ic_flame_w.svg"/><Relationship Id="rId7" Type="http://schemas.openxmlformats.org/officeDocument/2006/relationships/image" Target="../media/ic_gasmask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image" Target="../media/image6.png"/><Relationship Id="rId5" Type="http://schemas.openxmlformats.org/officeDocument/2006/relationships/image" Target="../media/ic_chemical_glove_w.svg"/><Relationship Id="rId6" Type="http://schemas.openxmlformats.org/officeDocument/2006/relationships/image" Target="../media/ic_deco_mol_pale.svg"/><Relationship Id="rId7" Type="http://schemas.openxmlformats.org/officeDocument/2006/relationships/image" Target="../media/ic_gear_proc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c_deco_mol_pale.svg"/><Relationship Id="rId7" Type="http://schemas.openxmlformats.org/officeDocument/2006/relationships/image" Target="../media/ic_smoke_air_w.svg"/><Relationship Id="rId8" Type="http://schemas.openxmlformats.org/officeDocument/2006/relationships/image" Target="../media/ic_solid_waste_w.svg"/><Relationship Id="rId9" Type="http://schemas.openxmlformats.org/officeDocument/2006/relationships/image" Target="../media/ic_water_waste_w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c_deco_mol_pale.svg"/><Relationship Id="rId7" Type="http://schemas.openxmlformats.org/officeDocument/2006/relationships/image" Target="../media/ic_grad_check_w.svg"/><Relationship Id="rId8" Type="http://schemas.openxmlformats.org/officeDocument/2006/relationships/image" Target="../media/ic_palette_w.svg"/><Relationship Id="rId9" Type="http://schemas.openxmlformats.org/officeDocument/2006/relationships/image" Target="../media/ic_qr_code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5550000"/>
            <a:ext cx="720000" cy="9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660000" y="197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9400" y="2068400"/>
            <a:ext cx="268200" cy="26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7000" y="183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Tổng quan về công ty</a:t>
            </a:r>
          </a:p>
        </p:txBody>
      </p:sp>
      <p:sp>
        <p:nvSpPr>
          <p:cNvPr id="14" name="Oval 13"/>
          <p:cNvSpPr/>
          <p:nvPr/>
        </p:nvSpPr>
        <p:spPr>
          <a:xfrm>
            <a:off x="660000" y="272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9400" y="2813400"/>
            <a:ext cx="268200" cy="268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7000" y="257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Nguyên vật liệu</a:t>
            </a:r>
          </a:p>
        </p:txBody>
      </p:sp>
      <p:sp>
        <p:nvSpPr>
          <p:cNvPr id="17" name="Oval 16"/>
          <p:cNvSpPr/>
          <p:nvPr/>
        </p:nvSpPr>
        <p:spPr>
          <a:xfrm>
            <a:off x="660000" y="346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9400" y="3558400"/>
            <a:ext cx="268200" cy="268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7000" y="332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Quy trình công nghệ &amp; thiết bị</a:t>
            </a:r>
          </a:p>
        </p:txBody>
      </p:sp>
      <p:sp>
        <p:nvSpPr>
          <p:cNvPr id="20" name="Oval 19"/>
          <p:cNvSpPr/>
          <p:nvPr/>
        </p:nvSpPr>
        <p:spPr>
          <a:xfrm>
            <a:off x="660000" y="421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9400" y="4303400"/>
            <a:ext cx="268200" cy="268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67000" y="406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Kiểm soát chất lượng (KCS)</a:t>
            </a:r>
          </a:p>
        </p:txBody>
      </p:sp>
      <p:sp>
        <p:nvSpPr>
          <p:cNvPr id="23" name="Oval 22"/>
          <p:cNvSpPr/>
          <p:nvPr/>
        </p:nvSpPr>
        <p:spPr>
          <a:xfrm>
            <a:off x="660000" y="495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arning_tr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9400" y="5048400"/>
            <a:ext cx="268200" cy="268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67000" y="481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Những sự cố thường gặp</a:t>
            </a:r>
          </a:p>
        </p:txBody>
      </p:sp>
      <p:sp>
        <p:nvSpPr>
          <p:cNvPr id="26" name="Oval 25"/>
          <p:cNvSpPr/>
          <p:nvPr/>
        </p:nvSpPr>
        <p:spPr>
          <a:xfrm>
            <a:off x="660000" y="570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9400" y="5793400"/>
            <a:ext cx="268200" cy="268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467000" y="555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1" name="Oval 10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ctor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Sản xuất sơn công nghiệp &amp; tàu biển</a:t>
            </a:r>
          </a:p>
          <a:p>
            <a:r>
              <a:rPr sz="2000" b="0" i="0">
                <a:solidFill>
                  <a:srgbClr val="34404A"/>
                </a:solidFill>
              </a:rPr>
              <a:t>Chuyên dụng bảo vệ chống ăn mòn, chống cháy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istory_cloc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Thành lập 2008 · sản xuất từ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 Hồ Chí Minh</a:t>
            </a:r>
          </a:p>
        </p:txBody>
      </p:sp>
      <p:sp>
        <p:nvSpPr>
          <p:cNvPr id="17" name="Oval 16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Doanh nghiệp vừa (SME) · mô hình B2B</a:t>
            </a:r>
          </a:p>
          <a:p>
            <a:r>
              <a:rPr sz="2000" b="0" i="0">
                <a:solidFill>
                  <a:srgbClr val="34404A"/>
                </a:solidFill>
              </a:rPr>
              <a:t>Một nhà máy sản xuất đặt tại Long 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1" name="Picture 10" descr="big_timelin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4" name="Oval 13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ctory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7" name="Oval 16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0" name="Oval 19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1" name="Picture 10" descr="big_materials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1" name="Picture 10" descr="big_doughnut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3" name="Picture 12" descr="chart8_gay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7" name="Picture 16" descr="chart8_trun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1" name="Picture 20" descr="chart8_beo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inh_luong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anh_p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ghien_mi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ngam_u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ha_loang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c_donggoi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1" name="Picture 10" descr="big_columns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1 ·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2 ·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ghien_mi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3 ·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gam_u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4 · 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5 ·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c_donggo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6 ·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2" name="Picture 11" descr="mach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2" name="Picture 11" descr="mach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8" name="Oval 17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1" name="Oval 10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opwatch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1" name="Oval 10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croscop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1" name="Picture 10" descr="big_radar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dhesion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Độ bám dính (Pull-off)</a:t>
            </a:r>
          </a:p>
          <a:p>
            <a:r>
              <a:rPr sz="2000" b="0" i="0">
                <a:solidFill>
                  <a:srgbClr val="34404A"/>
                </a:solidFill>
              </a:rPr>
              <a:t>ISO 4624 / ASTM D4541 — đo bằng MPa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alt_spray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Phun sương muối 1000 giờ</a:t>
            </a:r>
          </a:p>
          <a:p>
            <a:r>
              <a:rPr sz="2000" b="0" i="0">
                <a:solidFill>
                  <a:srgbClr val="34404A"/>
                </a:solidFill>
              </a:rPr>
              <a:t>NaCl 5% ở 35°C — mô phỏng khí hậu biển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un_uv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Lão hóa nhanh QUV</a:t>
            </a:r>
          </a:p>
          <a:p>
            <a:r>
              <a:rPr sz="2000" b="0" i="0">
                <a:solidFill>
                  <a:srgbClr val="34404A"/>
                </a:solidFill>
              </a:rPr>
              <a:t>Chu trình UV-A / UV-B — phấn hóa, phai màu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1" name="Oval 10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dhesion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sơn (MPa)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uality_chec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Kiểm tra độ mịn hạt sau nghiền</a:t>
            </a:r>
          </a:p>
        </p:txBody>
      </p:sp>
      <p:sp>
        <p:nvSpPr>
          <p:cNvPr id="17" name="Oval 16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 của màng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(1/2)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56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0640" y="2692000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Sốc nhựa — vón cục, kết tủa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mới có chỉ số KB thấp</a:t>
            </a:r>
          </a:p>
          <a:p>
            <a:r>
              <a:rPr sz="2000" b="0" i="0">
                <a:solidFill>
                  <a:srgbClr val="34404A"/>
                </a:solidFill>
              </a:rPr>
              <a:t>Xử lý: châm dung môi phân cực + khuấy nghiền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491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0640" y="5042000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418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Chảy xệ màng khi thi công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bay hơi chậm, KB lệch</a:t>
            </a:r>
          </a:p>
          <a:p>
            <a:r>
              <a:rPr sz="2000" b="0" i="0">
                <a:solidFill>
                  <a:srgbClr val="34404A"/>
                </a:solidFill>
              </a:rPr>
              <a:t>Xử lý: hiệu chỉnh hệ dung môi, kiểm độ nhớt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(2/2)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56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0640" y="2692000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Lắng cứng đáy bồn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độ hút dầu bột mới vượt PVC</a:t>
            </a:r>
          </a:p>
          <a:p>
            <a:r>
              <a:rPr sz="2000" b="0" i="0">
                <a:solidFill>
                  <a:srgbClr val="34404A"/>
                </a:solidFill>
              </a:rPr>
              <a:t>Xử lý: tính lại tỉ lệ, thêm chất chống lắng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491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0640" y="5042000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418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Mất bóng / nứt giòn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vượt PVC, thiếu nhựa liên kết</a:t>
            </a:r>
          </a:p>
          <a:p>
            <a:r>
              <a:rPr sz="2000" b="0" i="0">
                <a:solidFill>
                  <a:srgbClr val="34404A"/>
                </a:solidFill>
              </a:rPr>
              <a:t>Xử lý: cân đối PVC, tăng chất tạo màng dẻo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1" name="Oval 10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olvent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7" name="Oval 16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50000" y="380000"/>
            <a:ext cx="1500000" cy="1500000"/>
          </a:xfrm>
          <a:prstGeom prst="rect">
            <a:avLst/>
          </a:prstGeom>
        </p:spPr>
      </p:pic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m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smas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mical_glov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ear_proc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oke_air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Thu qua chụp hút → than hoạt tính / buồng đốt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ter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lid_wast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hợp đồng đơn vị xử lý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1" name="Oval 10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let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7" name="Oval 16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cod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0000" y="4900000"/>
            <a:ext cx="1000000" cy="133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