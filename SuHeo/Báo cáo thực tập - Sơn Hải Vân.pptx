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c_hex_pale.svg"/><Relationship Id="rId7" Type="http://schemas.openxmlformats.org/officeDocument/2006/relationships/image" Target="../media/ic_swash_pal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c_brush_amber.svg"/><Relationship Id="rId12" Type="http://schemas.openxmlformats.org/officeDocument/2006/relationships/image" Target="../media/ic_company_w.svg"/><Relationship Id="rId13" Type="http://schemas.openxmlformats.org/officeDocument/2006/relationships/image" Target="../media/ic_gear_proc_w.svg"/><Relationship Id="rId14" Type="http://schemas.openxmlformats.org/officeDocument/2006/relationships/image" Target="../media/ic_hex_pale.svg"/><Relationship Id="rId15" Type="http://schemas.openxmlformats.org/officeDocument/2006/relationships/image" Target="../media/ic_materials_w.svg"/><Relationship Id="rId16" Type="http://schemas.openxmlformats.org/officeDocument/2006/relationships/image" Target="../media/ic_quality_check_w.svg"/><Relationship Id="rId17" Type="http://schemas.openxmlformats.org/officeDocument/2006/relationships/image" Target="../media/ic_safety_shield_w.svg"/><Relationship Id="rId18" Type="http://schemas.openxmlformats.org/officeDocument/2006/relationships/image" Target="../media/ic_swash_pale.svg"/><Relationship Id="rId19" Type="http://schemas.openxmlformats.org/officeDocument/2006/relationships/image" Target="../media/ic_warning_tri_w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c_company_w.svg"/><Relationship Id="rId5" Type="http://schemas.openxmlformats.org/officeDocument/2006/relationships/image" Target="../media/ic_divbg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c_brush_amber.svg"/><Relationship Id="rId10" Type="http://schemas.openxmlformats.org/officeDocument/2006/relationships/image" Target="../media/ic_factory_w.svg"/><Relationship Id="rId11" Type="http://schemas.openxmlformats.org/officeDocument/2006/relationships/image" Target="../media/ic_hex_pale.svg"/><Relationship Id="rId12" Type="http://schemas.openxmlformats.org/officeDocument/2006/relationships/image" Target="../media/ic_history_clock_w.svg"/><Relationship Id="rId13" Type="http://schemas.openxmlformats.org/officeDocument/2006/relationships/image" Target="../media/ic_paint_can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8.png"/><Relationship Id="rId6" Type="http://schemas.openxmlformats.org/officeDocument/2006/relationships/image" Target="../media/ic_big_timeline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6.png"/><Relationship Id="rId6" Type="http://schemas.openxmlformats.org/officeDocument/2006/relationships/image" Target="../media/image14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c_brush_amber.svg"/><Relationship Id="rId10" Type="http://schemas.openxmlformats.org/officeDocument/2006/relationships/image" Target="../media/ic_company_w.svg"/><Relationship Id="rId11" Type="http://schemas.openxmlformats.org/officeDocument/2006/relationships/image" Target="../media/ic_factory_w.svg"/><Relationship Id="rId12" Type="http://schemas.openxmlformats.org/officeDocument/2006/relationships/image" Target="../media/ic_hex_pale.svg"/><Relationship Id="rId13" Type="http://schemas.openxmlformats.org/officeDocument/2006/relationships/image" Target="../media/ic_materials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image" Target="../media/ic_divbg.svg"/><Relationship Id="rId5" Type="http://schemas.openxmlformats.org/officeDocument/2006/relationships/image" Target="../media/ic_materials_w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image" Target="../media/ic_big_material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0.png"/><Relationship Id="rId6" Type="http://schemas.openxmlformats.org/officeDocument/2006/relationships/image" Target="../media/ic_big_doughnut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c_brush_amber.svg"/><Relationship Id="rId9" Type="http://schemas.openxmlformats.org/officeDocument/2006/relationships/image" Target="../media/ic_chart8_beo.svg"/><Relationship Id="rId10" Type="http://schemas.openxmlformats.org/officeDocument/2006/relationships/image" Target="../media/ic_chart8_gay.svg"/><Relationship Id="rId11" Type="http://schemas.openxmlformats.org/officeDocument/2006/relationships/image" Target="../media/ic_chart8_trung.svg"/><Relationship Id="rId12" Type="http://schemas.openxmlformats.org/officeDocument/2006/relationships/image" Target="../media/ic_hex_pale.svg"/><Relationship Id="rId13" Type="http://schemas.openxmlformats.org/officeDocument/2006/relationships/image" Target="../media/ic_swash_pale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4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c_divbg.svg"/><Relationship Id="rId5" Type="http://schemas.openxmlformats.org/officeDocument/2006/relationships/image" Target="../media/ic_gear_proc_w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c_brush_amber.svg"/><Relationship Id="rId12" Type="http://schemas.openxmlformats.org/officeDocument/2006/relationships/image" Target="../media/ic_danh_paste_w.svg"/><Relationship Id="rId13" Type="http://schemas.openxmlformats.org/officeDocument/2006/relationships/image" Target="../media/ic_dinh_luong_w.svg"/><Relationship Id="rId14" Type="http://schemas.openxmlformats.org/officeDocument/2006/relationships/image" Target="../media/ic_hex_pale.svg"/><Relationship Id="rId15" Type="http://schemas.openxmlformats.org/officeDocument/2006/relationships/image" Target="../media/ic_loc_donggoi_w.svg"/><Relationship Id="rId16" Type="http://schemas.openxmlformats.org/officeDocument/2006/relationships/image" Target="../media/ic_ngam_u_w.svg"/><Relationship Id="rId17" Type="http://schemas.openxmlformats.org/officeDocument/2006/relationships/image" Target="../media/ic_nghien_min_w.svg"/><Relationship Id="rId18" Type="http://schemas.openxmlformats.org/officeDocument/2006/relationships/image" Target="../media/ic_pha_loang_w.svg"/><Relationship Id="rId19" Type="http://schemas.openxmlformats.org/officeDocument/2006/relationships/image" Target="../media/ic_swash_pale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1.png"/><Relationship Id="rId6" Type="http://schemas.openxmlformats.org/officeDocument/2006/relationships/image" Target="../media/ic_big_flow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2.png"/><Relationship Id="rId6" Type="http://schemas.openxmlformats.org/officeDocument/2006/relationships/image" Target="../media/ic_big_column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c_brush_amber.svg"/><Relationship Id="rId9" Type="http://schemas.openxmlformats.org/officeDocument/2006/relationships/image" Target="../media/ic_danh_paste_w.svg"/><Relationship Id="rId10" Type="http://schemas.openxmlformats.org/officeDocument/2006/relationships/image" Target="../media/ic_dinh_luong_w.svg"/><Relationship Id="rId11" Type="http://schemas.openxmlformats.org/officeDocument/2006/relationships/image" Target="../media/ic_hex_pale.svg"/><Relationship Id="rId12" Type="http://schemas.openxmlformats.org/officeDocument/2006/relationships/image" Target="../media/ic_nghien_min_w.svg"/><Relationship Id="rId13" Type="http://schemas.openxmlformats.org/officeDocument/2006/relationships/image" Target="../media/ic_swash_pale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c_brush_amber.svg"/><Relationship Id="rId9" Type="http://schemas.openxmlformats.org/officeDocument/2006/relationships/image" Target="../media/ic_hex_pale.svg"/><Relationship Id="rId10" Type="http://schemas.openxmlformats.org/officeDocument/2006/relationships/image" Target="../media/ic_loc_donggoi_w.svg"/><Relationship Id="rId11" Type="http://schemas.openxmlformats.org/officeDocument/2006/relationships/image" Target="../media/ic_ngam_u_w.svg"/><Relationship Id="rId12" Type="http://schemas.openxmlformats.org/officeDocument/2006/relationships/image" Target="../media/ic_pha_loang_w.svg"/><Relationship Id="rId13" Type="http://schemas.openxmlformats.org/officeDocument/2006/relationships/image" Target="../media/ic_swash_pale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3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4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5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c_divbg.svg"/><Relationship Id="rId5" Type="http://schemas.openxmlformats.org/officeDocument/2006/relationships/image" Target="../media/ic_quality_check_w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6.png"/><Relationship Id="rId6" Type="http://schemas.openxmlformats.org/officeDocument/2006/relationships/image" Target="../media/ic_big_qc_shop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7.png"/><Relationship Id="rId6" Type="http://schemas.openxmlformats.org/officeDocument/2006/relationships/image" Target="../media/ic_big_qc_lab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8.png"/><Relationship Id="rId6" Type="http://schemas.openxmlformats.org/officeDocument/2006/relationships/image" Target="../media/ic_big_radar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c_adhesion_w.sv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salt_spray_w.svg"/><Relationship Id="rId12" Type="http://schemas.openxmlformats.org/officeDocument/2006/relationships/image" Target="../media/ic_sun_uv_w.svg"/><Relationship Id="rId13" Type="http://schemas.openxmlformats.org/officeDocument/2006/relationships/image" Target="../media/ic_swash_pale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39.png"/><Relationship Id="rId6" Type="http://schemas.openxmlformats.org/officeDocument/2006/relationships/image" Target="../media/image11.png"/><Relationship Id="rId7" Type="http://schemas.openxmlformats.org/officeDocument/2006/relationships/image" Target="../media/image42.png"/><Relationship Id="rId8" Type="http://schemas.openxmlformats.org/officeDocument/2006/relationships/image" Target="../media/image9.png"/><Relationship Id="rId9" Type="http://schemas.openxmlformats.org/officeDocument/2006/relationships/image" Target="../media/ic_adhesion_w.svg"/><Relationship Id="rId10" Type="http://schemas.openxmlformats.org/officeDocument/2006/relationships/image" Target="../media/ic_brush_amber.svg"/><Relationship Id="rId11" Type="http://schemas.openxmlformats.org/officeDocument/2006/relationships/image" Target="../media/ic_hex_pale.svg"/><Relationship Id="rId12" Type="http://schemas.openxmlformats.org/officeDocument/2006/relationships/image" Target="../media/ic_materials_w.svg"/><Relationship Id="rId13" Type="http://schemas.openxmlformats.org/officeDocument/2006/relationships/image" Target="../media/ic_microscope_w.svg"/><Relationship Id="rId14" Type="http://schemas.openxmlformats.org/officeDocument/2006/relationships/image" Target="../media/ic_quality_check_w.svg"/><Relationship Id="rId15" Type="http://schemas.openxmlformats.org/officeDocument/2006/relationships/image" Target="../media/ic_swash_pale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image" Target="../media/ic_divbg.svg"/><Relationship Id="rId5" Type="http://schemas.openxmlformats.org/officeDocument/2006/relationships/image" Target="../media/ic_warning_tri_w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2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2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2.png"/><Relationship Id="rId6" Type="http://schemas.openxmlformats.org/officeDocument/2006/relationships/image" Target="../media/image43.png"/><Relationship Id="rId7" Type="http://schemas.openxmlformats.org/officeDocument/2006/relationships/image" Target="../media/image10.png"/><Relationship Id="rId8" Type="http://schemas.openxmlformats.org/officeDocument/2006/relationships/image" Target="../media/ic_brush_amber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olvent_w.svg"/><Relationship Id="rId12" Type="http://schemas.openxmlformats.org/officeDocument/2006/relationships/image" Target="../media/ic_swash_pale.svg"/><Relationship Id="rId13" Type="http://schemas.openxmlformats.org/officeDocument/2006/relationships/image" Target="../media/ic_warning_tri_w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3.png"/><Relationship Id="rId4" Type="http://schemas.openxmlformats.org/officeDocument/2006/relationships/image" Target="../media/ic_divbg.svg"/><Relationship Id="rId5" Type="http://schemas.openxmlformats.org/officeDocument/2006/relationships/image" Target="../media/ic_safety_shield_w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jpg"/><Relationship Id="rId8" Type="http://schemas.openxmlformats.org/officeDocument/2006/relationships/image" Target="../media/ic_brush_amber.svg"/><Relationship Id="rId9" Type="http://schemas.openxmlformats.org/officeDocument/2006/relationships/image" Target="../media/ic_flame_w.svg"/><Relationship Id="rId10" Type="http://schemas.openxmlformats.org/officeDocument/2006/relationships/image" Target="../media/ic_gasmask_w.svg"/><Relationship Id="rId11" Type="http://schemas.openxmlformats.org/officeDocument/2006/relationships/image" Target="../media/ic_hex_pale.svg"/><Relationship Id="rId12" Type="http://schemas.openxmlformats.org/officeDocument/2006/relationships/image" Target="../media/ic_swash_pale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47.png"/><Relationship Id="rId6" Type="http://schemas.openxmlformats.org/officeDocument/2006/relationships/image" Target="../media/image10.png"/><Relationship Id="rId7" Type="http://schemas.openxmlformats.org/officeDocument/2006/relationships/image" Target="../media/ic_brush_amber.svg"/><Relationship Id="rId8" Type="http://schemas.openxmlformats.org/officeDocument/2006/relationships/image" Target="../media/ic_chemical_glove_w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wash_pale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48.jp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smoke_air_w.svg"/><Relationship Id="rId12" Type="http://schemas.openxmlformats.org/officeDocument/2006/relationships/image" Target="../media/ic_solid_waste_w.svg"/><Relationship Id="rId13" Type="http://schemas.openxmlformats.org/officeDocument/2006/relationships/image" Target="../media/ic_swash_pale.svg"/><Relationship Id="rId14" Type="http://schemas.openxmlformats.org/officeDocument/2006/relationships/image" Target="../media/ic_water_waste_w.sv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c_brush_amber.svg"/><Relationship Id="rId9" Type="http://schemas.openxmlformats.org/officeDocument/2006/relationships/image" Target="../media/ic_grad_check_w.svg"/><Relationship Id="rId10" Type="http://schemas.openxmlformats.org/officeDocument/2006/relationships/image" Target="../media/ic_hex_pale.svg"/><Relationship Id="rId11" Type="http://schemas.openxmlformats.org/officeDocument/2006/relationships/image" Target="../media/ic_palette_w.svg"/><Relationship Id="rId12" Type="http://schemas.openxmlformats.org/officeDocument/2006/relationships/image" Target="../media/ic_qr_code_w.svg"/><Relationship Id="rId13" Type="http://schemas.openxmlformats.org/officeDocument/2006/relationships/image" Target="../media/ic_swash_pale.sv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620000" y="-380000"/>
            <a:ext cx="3200000" cy="3200000"/>
          </a:xfrm>
          <a:prstGeom prst="rect">
            <a:avLst/>
          </a:prstGeom>
        </p:spPr>
      </p:pic>
      <p:pic>
        <p:nvPicPr>
          <p:cNvPr id="4" name="Picture 3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31695" y="4038000"/>
            <a:ext cx="3200000" cy="3200000"/>
          </a:xfrm>
          <a:prstGeom prst="rect">
            <a:avLst/>
          </a:prstGeom>
        </p:spPr>
      </p:pic>
      <p:pic>
        <p:nvPicPr>
          <p:cNvPr id="5" name="Picture 4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41695" y="250000"/>
            <a:ext cx="3400000" cy="1780000"/>
          </a:xfrm>
          <a:prstGeom prst="rect">
            <a:avLst/>
          </a:prstGeom>
        </p:spPr>
      </p:pic>
      <p:pic>
        <p:nvPicPr>
          <p:cNvPr id="6" name="Picture 5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3:svgBlip xmlns:ns3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560000" y="4808000"/>
            <a:ext cx="3400000" cy="178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0"/>
            <a:ext cx="150000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041695" y="0"/>
            <a:ext cx="150000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92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766000"/>
            <a:ext cx="12191695" cy="92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uh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0847" y="380000"/>
            <a:ext cx="4050000" cy="11542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0000" y="1660000"/>
            <a:ext cx="10391695" cy="7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800" b="1" i="0">
                <a:solidFill>
                  <a:srgbClr val="1F4E3D"/>
                </a:solidFill>
              </a:rPr>
              <a:t>TRƯỜNG ĐẠI HỌC CÔNG NGHIỆP TP. HỒ CHÍ MINH</a:t>
            </a:r>
          </a:p>
          <a:p>
            <a:pPr algn="ctr"/>
            <a:r>
              <a:rPr sz="1500" b="1" i="0">
                <a:solidFill>
                  <a:srgbClr val="5B6E66"/>
                </a:solidFill>
              </a:rPr>
              <a:t>KHOA CÔNG NGHỆ HÓA HỌC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95847" y="2410000"/>
            <a:ext cx="1800000" cy="260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" y="2520000"/>
            <a:ext cx="10391695" cy="3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600" b="1" i="0">
                <a:solidFill>
                  <a:srgbClr val="C88A2E"/>
                </a:solidFill>
              </a:rPr>
              <a:t>BÁO CÁO THỰC TẬP TỐT NGHIỆP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000" y="2880000"/>
            <a:ext cx="10591695" cy="11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3100" b="1" i="0">
                <a:solidFill>
                  <a:srgbClr val="1F4E3D"/>
                </a:solidFill>
              </a:rPr>
              <a:t>Quy trình sản xuất &amp; kiểm soát</a:t>
            </a:r>
          </a:p>
          <a:p>
            <a:pPr algn="ctr"/>
            <a:r>
              <a:rPr sz="3100" b="1" i="0">
                <a:solidFill>
                  <a:srgbClr val="1F4E3D"/>
                </a:solidFill>
              </a:rPr>
              <a:t>chất lượng sơn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000" y="4080000"/>
            <a:ext cx="10591695" cy="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200" b="1" i="0">
                <a:solidFill>
                  <a:srgbClr val="2C7A5A"/>
                </a:solidFill>
              </a:rPr>
              <a:t>tại Công ty TNHH Sơn Hải Vân</a:t>
            </a:r>
          </a:p>
        </p:txBody>
      </p:sp>
      <p:pic>
        <p:nvPicPr>
          <p:cNvPr id="17" name="Picture 16" descr="shv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0847" y="4560000"/>
            <a:ext cx="2450000" cy="80237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000" y="5560000"/>
            <a:ext cx="10391695" cy="7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600" b="0" i="0">
                <a:solidFill>
                  <a:srgbClr val="14332A"/>
                </a:solidFill>
              </a:rPr>
              <a:t>GVHD: Lê Nhất Thống        CBHD: Lê Quốc</a:t>
            </a:r>
          </a:p>
          <a:p>
            <a:pPr algn="ctr"/>
            <a:r>
              <a:rPr sz="1600" b="0" i="0">
                <a:solidFill>
                  <a:srgbClr val="14332A"/>
                </a:solidFill>
              </a:rPr>
              <a:t>Nhóm 8 SV thực tập  ·  Lớp DHHO18A–D  ·  Năm học 2025–2026</a:t>
            </a:r>
          </a:p>
          <a:p>
            <a:pPr algn="ctr"/>
            <a:r>
              <a:rPr sz="1400" b="0" i="1">
                <a:solidFill>
                  <a:srgbClr val="5B6E66"/>
                </a:solidFill>
              </a:rPr>
              <a:t>TP. Hồ Chí Minh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500000" cy="2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1250000"/>
            <a:ext cx="10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FE2D8"/>
                </a:solidFill>
              </a:rPr>
              <a:t>TRƯỜNG ĐH CÔNG NGHIỆP TP. HCM  ·  KHOA CNHH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000000"/>
            <a:ext cx="10500000" cy="1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300" b="1" i="0">
                <a:solidFill>
                  <a:srgbClr val="FFFFFF"/>
                </a:solidFill>
              </a:rPr>
              <a:t>Quy trình sản xuất &amp;</a:t>
            </a:r>
          </a:p>
          <a:p>
            <a:r>
              <a:rPr sz="4300" b="1" i="0">
                <a:solidFill>
                  <a:srgbClr val="FFFFFF"/>
                </a:solidFill>
              </a:rPr>
              <a:t>kiểm soát chất lượng sơn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20000"/>
            <a:ext cx="104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800" b="1" i="0">
                <a:solidFill>
                  <a:srgbClr val="C88A2E"/>
                </a:solidFill>
              </a:rPr>
              <a:t>tại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5150000"/>
            <a:ext cx="105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0">
                <a:solidFill>
                  <a:srgbClr val="CFE2D8"/>
                </a:solidFill>
              </a:rPr>
              <a:t>Nhóm 8 SV thực tập  ·  Lớp DHHO18A–D  ·  2025–2026</a:t>
            </a:r>
          </a:p>
          <a:p>
            <a:r>
              <a:rPr sz="2000" b="0" i="0">
                <a:solidFill>
                  <a:srgbClr val="CFE2D8"/>
                </a:solidFill>
              </a:rPr>
              <a:t>GVHD: Lê Nhất Thống    ·    CBHD: Lê Quốc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NỘI DUNG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Báo cáo gồm 6 phần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9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mpan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057640" y="2224000"/>
            <a:ext cx="492000" cy="49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Tổng quan về công 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8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terials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47640" y="2224000"/>
            <a:ext cx="492000" cy="492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45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Nguyên vật liệu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2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7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637640" y="2224000"/>
            <a:ext cx="492000" cy="492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4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Quy trình công nghệ &amp; thiết bị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9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quality_check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57640" y="4594000"/>
            <a:ext cx="492000" cy="492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Kiểm soát chất lượng (KCS)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3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3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68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warning_tri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47640" y="4594000"/>
            <a:ext cx="492000" cy="492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45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Những sự cố thường gặp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2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2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47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fety_shield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637640" y="4594000"/>
            <a:ext cx="492000" cy="492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Tổng quan về công 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Công ty Sơn Hải Vân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4450000" cy="447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48640" y="235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actor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98640" y="2600000"/>
            <a:ext cx="750000" cy="75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8640" y="3930000"/>
            <a:ext cx="3950000" cy="170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Sơn Hải Vân</a:t>
            </a:r>
          </a:p>
          <a:p>
            <a:pPr algn="ctr"/>
            <a:r>
              <a:rPr sz="2000" b="0" i="0">
                <a:solidFill>
                  <a:srgbClr val="CFE2D8"/>
                </a:solidFill>
              </a:rPr>
              <a:t>Sơn công nghiệp &amp; tàu biển bảo vệ chuyên dụng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78640" y="1830000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7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58640" y="2198333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history_clo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78640" y="2318333"/>
            <a:ext cx="360000" cy="36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8640" y="1830000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Thành lập 2008 · SX 2009</a:t>
            </a:r>
          </a:p>
          <a:p>
            <a:r>
              <a:rPr sz="2000" b="0" i="0">
                <a:solidFill>
                  <a:srgbClr val="34404A"/>
                </a:solidFill>
              </a:rPr>
              <a:t>Đăng ký tại Sở KH&amp;ĐT TP.HCM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78640" y="3396666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7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58640" y="3764999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arget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78640" y="3884999"/>
            <a:ext cx="360000" cy="36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78640" y="3396666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Doanh nghiệp vừa (SME) · B2B</a:t>
            </a:r>
          </a:p>
          <a:p>
            <a:r>
              <a:rPr sz="2000" b="0" i="0">
                <a:solidFill>
                  <a:srgbClr val="34404A"/>
                </a:solidFill>
              </a:rPr>
              <a:t>Sản xuất theo dự án / hợp đồng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78640" y="4963332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7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558640" y="5331665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aint_can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678640" y="5451665"/>
            <a:ext cx="360000" cy="36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8640" y="4963332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Sơn chống ăn mòn, chống cháy</a:t>
            </a:r>
          </a:p>
          <a:p>
            <a:r>
              <a:rPr sz="2000" b="0" i="0">
                <a:solidFill>
                  <a:srgbClr val="34404A"/>
                </a:solidFill>
              </a:rPr>
              <a:t>Bảo vệ công trình &amp; hàng hải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Chặng đường phát triển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6</a:t>
            </a:r>
          </a:p>
        </p:txBody>
      </p:sp>
      <p:pic>
        <p:nvPicPr>
          <p:cNvPr id="12" name="Picture 11" descr="big_timelin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5847" y="1962872"/>
            <a:ext cx="10400000" cy="42042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Thị trường &amp; khách hàng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7</a:t>
            </a:r>
          </a:p>
        </p:txBody>
      </p:sp>
      <p:sp>
        <p:nvSpPr>
          <p:cNvPr id="12" name="Oval 11"/>
          <p:cNvSpPr/>
          <p:nvPr/>
        </p:nvSpPr>
        <p:spPr>
          <a:xfrm>
            <a:off x="660000" y="219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rget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84800" y="2317800"/>
            <a:ext cx="374400" cy="37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44000" y="198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Phân khúc B2B kỹ thuật, không phải sơn dân dụng</a:t>
            </a:r>
          </a:p>
        </p:txBody>
      </p:sp>
      <p:sp>
        <p:nvSpPr>
          <p:cNvPr id="15" name="Oval 14"/>
          <p:cNvSpPr/>
          <p:nvPr/>
        </p:nvSpPr>
        <p:spPr>
          <a:xfrm>
            <a:off x="660000" y="323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ctor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4800" y="3357800"/>
            <a:ext cx="374400" cy="374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4000" y="302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Xưởng đóng &amp; sửa chữa tàu biển</a:t>
            </a:r>
          </a:p>
        </p:txBody>
      </p:sp>
      <p:sp>
        <p:nvSpPr>
          <p:cNvPr id="18" name="Oval 17"/>
          <p:cNvSpPr/>
          <p:nvPr/>
        </p:nvSpPr>
        <p:spPr>
          <a:xfrm>
            <a:off x="660000" y="427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ompany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4800" y="4397800"/>
            <a:ext cx="374400" cy="37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4000" y="406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Chủ đầu tư công trình kết cấu thép</a:t>
            </a:r>
          </a:p>
        </p:txBody>
      </p:sp>
      <p:sp>
        <p:nvSpPr>
          <p:cNvPr id="21" name="Oval 20"/>
          <p:cNvSpPr/>
          <p:nvPr/>
        </p:nvSpPr>
        <p:spPr>
          <a:xfrm>
            <a:off x="660000" y="531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4800" y="5437800"/>
            <a:ext cx="374400" cy="374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44000" y="510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Đại lý phân phối sơn bảo vệ chuyên dụng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materials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Nguyên vật liệu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nhóm nguyên liệu &amp; tỉ lệ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9</a:t>
            </a:r>
          </a:p>
        </p:txBody>
      </p:sp>
      <p:pic>
        <p:nvPicPr>
          <p:cNvPr id="12" name="Picture 11" descr="big_material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5847" y="1910833"/>
            <a:ext cx="11000000" cy="430833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Tỉ lệ một công thức sơn điển hình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10</a:t>
            </a:r>
          </a:p>
        </p:txBody>
      </p:sp>
      <p:pic>
        <p:nvPicPr>
          <p:cNvPr id="12" name="Picture 11" descr="big_doughnut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70847" y="1830000"/>
            <a:ext cx="7650000" cy="425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0000" y="608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000" b="0" i="1">
                <a:solidFill>
                  <a:srgbClr val="5B6E66"/>
                </a:solidFill>
              </a:rPr>
              <a:t>Tỉ lệ minh họa — thay đổi theo loại sơn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NHỰA ALKYD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Phân loại theo hàm lượng dầu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9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89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gầy</a:t>
            </a:r>
          </a:p>
        </p:txBody>
      </p:sp>
      <p:pic>
        <p:nvPicPr>
          <p:cNvPr id="14" name="Picture 13" descr="chart8_gay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50000" y="2284412"/>
            <a:ext cx="2600000" cy="581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50000" y="189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Độ nhớt cao — thi công nhúng / phun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338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trung bình</a:t>
            </a:r>
          </a:p>
        </p:txBody>
      </p:sp>
      <p:pic>
        <p:nvPicPr>
          <p:cNvPr id="18" name="Picture 17" descr="chart8_trung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50000" y="3774412"/>
            <a:ext cx="2600000" cy="581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50000" y="338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Phổ biến nhất — cọ / lăn / súng phun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7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000" y="487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béo</a:t>
            </a:r>
          </a:p>
        </p:txBody>
      </p:sp>
      <p:pic>
        <p:nvPicPr>
          <p:cNvPr id="22" name="Picture 21" descr="chart8_beo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50000" y="5264412"/>
            <a:ext cx="2600000" cy="5811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50000" y="487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Tạo màng chính cho sơn tàu biển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Cấu trúc hệ sơn 3 lớp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6550000" cy="102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83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3 — Phủ hoàn thiện</a:t>
            </a:r>
          </a:p>
          <a:p>
            <a:r>
              <a:rPr sz="2000" b="0" i="0">
                <a:solidFill>
                  <a:srgbClr val="EAF3EE"/>
                </a:solidFill>
              </a:rPr>
              <a:t>Polyurethan / Alkyd béo · chịu UV, giữ màu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80000"/>
            <a:ext cx="6550000" cy="10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298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2 — Trung gian</a:t>
            </a:r>
          </a:p>
          <a:p>
            <a:r>
              <a:rPr sz="2000" b="0" i="0">
                <a:solidFill>
                  <a:srgbClr val="EAF3EE"/>
                </a:solidFill>
              </a:rPr>
              <a:t>Epoxy MIO · chắn ẩm và ion clorua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30000"/>
            <a:ext cx="6550000" cy="102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13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1 — Lót chống rỉ</a:t>
            </a:r>
          </a:p>
          <a:p>
            <a:r>
              <a:rPr sz="2000" b="0" i="0">
                <a:solidFill>
                  <a:srgbClr val="EAF3EE"/>
                </a:solidFill>
              </a:rPr>
              <a:t>Epoxy giàu kẽm · bảo vệ điện hóa từ gốc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80000"/>
            <a:ext cx="6550000" cy="1020000"/>
          </a:xfrm>
          <a:prstGeom prst="round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28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THÉP NỀN</a:t>
            </a:r>
          </a:p>
          <a:p>
            <a:r>
              <a:rPr sz="2000" b="0" i="0">
                <a:solidFill>
                  <a:srgbClr val="EAF3EE"/>
                </a:solidFill>
              </a:rPr>
              <a:t>Đã xử lý bề mặt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86000" y="2196217"/>
            <a:ext cx="4288000" cy="3737565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hip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000" y="2230217"/>
            <a:ext cx="4220000" cy="366956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86000" y="5949782"/>
            <a:ext cx="428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Sơn phủ bảo vệ thân tàu (minh họa)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gear_proc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Quy trình công nghệ &amp; thiết bị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Sáu công đoạn sản xuất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8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79" y="2233672"/>
            <a:ext cx="529319" cy="5293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40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1. 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đúng tỉ lệ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3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3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50079" y="2233672"/>
            <a:ext cx="529319" cy="5293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35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2. 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Phân tán bột màu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8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55079" y="3800338"/>
            <a:ext cx="529319" cy="52931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40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3. 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Hạ hạt 10–20 µm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3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73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gam_u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650079" y="3800338"/>
            <a:ext cx="529319" cy="5293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35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4. Ngâm ủ</a:t>
            </a:r>
          </a:p>
          <a:p>
            <a:r>
              <a:rPr sz="2000" b="0" i="0">
                <a:solidFill>
                  <a:srgbClr val="34404A"/>
                </a:solidFill>
              </a:rPr>
              <a:t>Ổn định hệ, giảm bọt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8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a_loang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79" y="5367004"/>
            <a:ext cx="529319" cy="52931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40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5. 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3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73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oc_donggoi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50079" y="5367004"/>
            <a:ext cx="529319" cy="52931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35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6. 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Lưu đồ quy trình sản xuất sơn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15</a:t>
            </a:r>
          </a:p>
        </p:txBody>
      </p:sp>
      <p:pic>
        <p:nvPicPr>
          <p:cNvPr id="12" name="Picture 11" descr="big_flo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91457" y="1855000"/>
            <a:ext cx="8408780" cy="442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Thời gian tương đối giữa các công đoạn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16</a:t>
            </a:r>
          </a:p>
        </p:txBody>
      </p:sp>
      <p:pic>
        <p:nvPicPr>
          <p:cNvPr id="12" name="Picture 11" descr="big_column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2247" y="1905000"/>
            <a:ext cx="8467200" cy="432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đầu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tỉ lệ nhựa / dung môi / phụ gia / bột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theo công thức R&amp;D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Khuấy 900–1200 v/p, hòa bột vào nhựa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vài chục phút / mẻ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Bi nghiền đưa hạt xuống 10–20 µm</a:t>
            </a:r>
          </a:p>
          <a:p>
            <a:r>
              <a:rPr sz="2000" b="0" i="0">
                <a:solidFill>
                  <a:srgbClr val="34404A"/>
                </a:solidFill>
              </a:rPr>
              <a:t>Có thể bỏ qua nếu đã đạt Hegman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sau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gam_u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Ngâm ủ</a:t>
            </a:r>
          </a:p>
          <a:p>
            <a:r>
              <a:rPr sz="2000" b="0" i="0">
                <a:solidFill>
                  <a:srgbClr val="34404A"/>
                </a:solidFill>
              </a:rPr>
              <a:t>Giữ yên cho hệ ổn định, giảm bọt khí</a:t>
            </a:r>
          </a:p>
          <a:p>
            <a:r>
              <a:rPr sz="2000" b="0" i="0">
                <a:solidFill>
                  <a:srgbClr val="34404A"/>
                </a:solidFill>
              </a:rPr>
              <a:t>Linh hoạt · vài giờ tùy loại sơn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ha_loang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 về thông số đích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quyết định độ phủ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c_donggoi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 / hạt vón trước xuất xưởng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bước cuối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đánh paste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ĐP01B</a:t>
            </a:r>
          </a:p>
        </p:txBody>
      </p:sp>
      <p:pic>
        <p:nvPicPr>
          <p:cNvPr id="13" name="Picture 12" descr="mach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30000"/>
            <a:ext cx="4900000" cy="560125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850000" y="183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50000" y="183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000" y="192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5–20 HP, cánh khuấy inox 304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0000" y="332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0000" y="332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000" y="341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Quay 900–1200 v/p, phân tán bột vào nhựa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0000" y="481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50000" y="481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000" y="490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Hạ cánh khuấy ngập paste, kiểm soát nhiệt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nghiền mịn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NM06</a:t>
            </a:r>
          </a:p>
        </p:txBody>
      </p:sp>
      <p:pic>
        <p:nvPicPr>
          <p:cNvPr id="13" name="Picture 12" descr="mach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000" y="2069565"/>
            <a:ext cx="4900000" cy="38208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15000" y="2030000"/>
            <a:ext cx="34000" cy="256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0000" y="187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0000" y="180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30–60 HP, rổ chứa bi sứ / thủy tinh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18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0000" y="311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Va đập &amp; ma sát, giảm hạt xuống 10–20 µm</a:t>
            </a:r>
          </a:p>
        </p:txBody>
      </p:sp>
      <p:sp>
        <p:nvSpPr>
          <p:cNvPr id="19" name="Oval 18"/>
          <p:cNvSpPr/>
          <p:nvPr/>
        </p:nvSpPr>
        <p:spPr>
          <a:xfrm>
            <a:off x="700000" y="449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0000" y="442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Tuần hoàn đến khi đạt độ mịn Hegman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pha loãng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PL01–03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0000" y="1900000"/>
            <a:ext cx="5050000" cy="350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ch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0000" y="2090000"/>
            <a:ext cx="4650000" cy="348314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0000" y="1780000"/>
            <a:ext cx="5600000" cy="43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Thông số kỹ thuật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640" y="24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Bồn inox, cánh khuấy thủy lực, van xả côn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70000"/>
            <a:ext cx="5750000" cy="1120000"/>
          </a:xfrm>
          <a:prstGeom prst="roundRect">
            <a:avLst/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8640" y="366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Khuấy đối lưu, chỉnh độ nhớt bằng dung môi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8640" y="49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Bổ sung dung môi từ từ, đo KU đến đích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quality_check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Kiểm soát chất lượng (KCS)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nhanh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23</a:t>
            </a:r>
          </a:p>
        </p:txBody>
      </p:sp>
      <p:pic>
        <p:nvPicPr>
          <p:cNvPr id="12" name="Picture 11" descr="big_qc_shop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47" y="1847000"/>
            <a:ext cx="11090000" cy="4436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sâu tại phòng LAB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24</a:t>
            </a:r>
          </a:p>
        </p:txBody>
      </p:sp>
      <p:pic>
        <p:nvPicPr>
          <p:cNvPr id="12" name="Picture 11" descr="big_qc_lab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47" y="1847000"/>
            <a:ext cx="11090000" cy="4436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Sơn tàu biển vs sơn trang trí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25</a:t>
            </a:r>
          </a:p>
        </p:txBody>
      </p:sp>
      <p:pic>
        <p:nvPicPr>
          <p:cNvPr id="12" name="Picture 11" descr="big_radar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3347" y="1865000"/>
            <a:ext cx="4125000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phép thử bắt buộc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496666" cy="13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06973" y="2210000"/>
            <a:ext cx="780000" cy="78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62973" y="2366000"/>
            <a:ext cx="468000" cy="46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640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Độ bám dính (Pull-off)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ISO 4624 / ASTM D4541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Đo bằng MPa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5306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5306" y="1830000"/>
            <a:ext cx="3496666" cy="1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03639" y="2210000"/>
            <a:ext cx="780000" cy="78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alt_spra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859639" y="2366000"/>
            <a:ext cx="468000" cy="46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25306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Phun sương muối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1000 giờ · NaCl 5%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ở 35°C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1972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41972" y="1830000"/>
            <a:ext cx="3496666" cy="13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0305" y="2210000"/>
            <a:ext cx="780000" cy="780000"/>
          </a:xfrm>
          <a:prstGeom prst="ellipse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un_uv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656305" y="2366000"/>
            <a:ext cx="468000" cy="468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21972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Lão hóa QUV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Chu trình UV-A / UV-B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phấn hóa, phai màu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DỤNG CỤ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Thiết bị kiểm tra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8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198000"/>
            <a:ext cx="384000" cy="3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8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Bộ đo bám dính Pull-off</a:t>
            </a:r>
          </a:p>
          <a:p>
            <a:r>
              <a:rPr sz="2000" b="0" i="0">
                <a:solidFill>
                  <a:srgbClr val="34404A"/>
                </a:solidFill>
              </a:rPr>
              <a:t>Đo lực kéo đứt màng (MPa)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3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33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quality_che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61640" y="2198000"/>
            <a:ext cx="384000" cy="38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33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Thước đo độ mịn Hegman</a:t>
            </a:r>
          </a:p>
          <a:p>
            <a:r>
              <a:rPr sz="2000" b="0" i="0">
                <a:solidFill>
                  <a:srgbClr val="34404A"/>
                </a:solidFill>
              </a:rPr>
              <a:t>Độ mịn hạt sau nghiền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8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icroscop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76640" y="4568000"/>
            <a:ext cx="384000" cy="38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8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Thiết bị phòng thí nghiệm</a:t>
            </a:r>
          </a:p>
          <a:p>
            <a:r>
              <a:rPr sz="2000" b="0" i="0">
                <a:solidFill>
                  <a:srgbClr val="34404A"/>
                </a:solidFill>
              </a:rPr>
              <a:t>Đánh giá độ bền dài hạn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33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33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61640" y="4568000"/>
            <a:ext cx="384000" cy="384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533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Cốc / thùng chứa mẫu</a:t>
            </a:r>
          </a:p>
          <a:p>
            <a:r>
              <a:rPr sz="2000" b="0" i="0">
                <a:solidFill>
                  <a:srgbClr val="34404A"/>
                </a:solidFill>
              </a:rPr>
              <a:t>Chứa &amp; pha mẫu sơn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Những sự cố thường gặp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(1/2)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Sốc nhựa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dung môi phân cực + khuấy nghiền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Chảy xệ màng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bay hơi chậm, KB lệch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hiệu chỉnh hệ dung môi, kiểm độ nhớt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(2/2)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Lắng cứng đáy bồn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độ hút dầu bột mới vượt PVC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tính lại tỉ lệ, thêm chất chống lắng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Mất bóng / nứt giòn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vượt PVC, thiếu nhựa liên kết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cân đối PVC, tăng chất tạo màng dẻo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TIÊU ĐIỂM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“Sốc nhựa” khi thay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31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Hiện tượng</a:t>
            </a:r>
          </a:p>
          <a:p>
            <a:r>
              <a:rPr sz="2000" b="0" i="0">
                <a:solidFill>
                  <a:srgbClr val="34404A"/>
                </a:solidFill>
              </a:rPr>
              <a:t>Sơn vón cục, kết tủa; màng chảy xệ khi thi công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olvent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 → keo tụ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Butyl Acetate / Xylene + khuấy nghiền 1200–1500 v/p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safety_shield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Cháy nổ &amp; hơi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705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41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lam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0000" y="2605000"/>
            <a:ext cx="570000" cy="57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0000" y="1940000"/>
            <a:ext cx="555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Cháy nổ dung môi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dung môi hữu cơ dễ bay hơi, bắt lửa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chống tĩnh điện, thiết bị phòng nổ, PCCC tại chỗ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705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6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asmas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0000" y="4955000"/>
            <a:ext cx="570000" cy="57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0000" y="4290000"/>
            <a:ext cx="555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Hơi dung môi độc hại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hít VOC hại hô hấp, thần kinh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thông gió cưỡng bức, mặt nạ, quan trắc không khí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4640" y="2404712"/>
            <a:ext cx="3808000" cy="3320575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pe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98640" y="2438712"/>
            <a:ext cx="3740000" cy="32525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864640" y="5741287"/>
            <a:ext cx="380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Trang bị bảo hộ khi làm việc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Hóa chất, bụi &amp; an toàn cơ khí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41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mical_glov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0000" y="2605000"/>
            <a:ext cx="570000" cy="57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0000" y="1940000"/>
            <a:ext cx="959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Hóa chất &amp; bột màu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tiếp xúc da/mắt, bụi bột vô cơ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PPE đầy đủ, vòi rửa mắt, nhãn &amp; MSDS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6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_proc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0000" y="4955000"/>
            <a:ext cx="570000" cy="57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0000" y="4290000"/>
            <a:ext cx="959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Cơ khí — máy khuấy / nghiền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cuốn kẹt, văng bắn tốc độ cao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che chắn, nút dừng khẩn, quy trình LOTO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VẤN ĐỀ MÔI TRƯỜNG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soát chất thải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640" y="2138808"/>
            <a:ext cx="4418000" cy="3852383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st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172808"/>
            <a:ext cx="4350000" cy="378438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4640" y="6007191"/>
            <a:ext cx="441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Hệ thống xử lý nước thải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8640" y="1830000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1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98640" y="2188333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moke_air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622640" y="2312333"/>
            <a:ext cx="372000" cy="372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8640" y="1830000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Khí thải — hơi VOC</a:t>
            </a:r>
          </a:p>
          <a:p>
            <a:r>
              <a:rPr sz="2000" b="0" i="0">
                <a:solidFill>
                  <a:srgbClr val="34404A"/>
                </a:solidFill>
              </a:rPr>
              <a:t>Chụp hút → than hoạt tính / buồng đốt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18640" y="3396666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498640" y="3754999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water_wast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622640" y="3878999"/>
            <a:ext cx="372000" cy="372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38640" y="3396666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Nước thải &amp; dung môi</a:t>
            </a:r>
          </a:p>
          <a:p>
            <a:r>
              <a:rPr sz="2000" b="0" i="0">
                <a:solidFill>
                  <a:srgbClr val="34404A"/>
                </a:solidFill>
              </a:rPr>
              <a:t>Lắng tách cặn, thu hồi dung môi tái chưng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8640" y="4963332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1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98640" y="5321665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olid_waste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22640" y="5445665"/>
            <a:ext cx="372000" cy="372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38640" y="4963332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Chất thải rắn</a:t>
            </a:r>
          </a:p>
          <a:p>
            <a:r>
              <a:rPr sz="2000" b="0" i="0">
                <a:solidFill>
                  <a:srgbClr val="34404A"/>
                </a:solidFill>
              </a:rPr>
              <a:t>Phân loại tại nguồn, đơn vị xử lý nguy hại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KẾT LUẬN &amp; KIẾN NGHỊ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Tổng kết đợt thực tập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36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rad_check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Kết quả đạt được</a:t>
            </a:r>
          </a:p>
          <a:p>
            <a:r>
              <a:rPr sz="2000" b="0" i="0">
                <a:solidFill>
                  <a:srgbClr val="34404A"/>
                </a:solidFill>
              </a:rPr>
              <a:t>Nắm quy trình sản xuất, hệ QC &amp; vận hành thiết bị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let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1 — Số hóa màu sắc</a:t>
            </a:r>
          </a:p>
          <a:p>
            <a:r>
              <a:rPr sz="2000" b="0" i="0">
                <a:solidFill>
                  <a:srgbClr val="34404A"/>
                </a:solidFill>
              </a:rPr>
              <a:t>Thư viện màu chuẩn điện tử, giảm sai lệch mẻ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r_cod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2 — Truy xuất nguồn gốc</a:t>
            </a:r>
          </a:p>
          <a:p>
            <a:r>
              <a:rPr sz="2000" b="0" i="0">
                <a:solidFill>
                  <a:srgbClr val="34404A"/>
                </a:solidFill>
              </a:rPr>
              <a:t>QR / Barcode từng mẻ, liên kết dữ liệu đo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400000" cy="24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2650000"/>
            <a:ext cx="104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Xin chân thành cảm ơn!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750000"/>
            <a:ext cx="10400000" cy="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400" b="0" i="0">
                <a:solidFill>
                  <a:srgbClr val="CFE2D8"/>
                </a:solidFill>
              </a:rPr>
              <a:t>Cảm ơn quý thầy cô và Công ty TNHH Sơn Hải Vân đã hướng dẫn.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