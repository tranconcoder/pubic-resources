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_deco_drip_white.svg"/><Relationship Id="rId5" Type="http://schemas.openxmlformats.org/officeDocument/2006/relationships/image" Target="../media/ic_deco_mol_white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c_company_w.svg"/><Relationship Id="rId10" Type="http://schemas.openxmlformats.org/officeDocument/2006/relationships/image" Target="../media/ic_deco_mol_pale.svg"/><Relationship Id="rId11" Type="http://schemas.openxmlformats.org/officeDocument/2006/relationships/image" Target="../media/ic_gear_proc_w.svg"/><Relationship Id="rId12" Type="http://schemas.openxmlformats.org/officeDocument/2006/relationships/image" Target="../media/ic_materials_w.svg"/><Relationship Id="rId13" Type="http://schemas.openxmlformats.org/officeDocument/2006/relationships/image" Target="../media/ic_quality_check_w.svg"/><Relationship Id="rId14" Type="http://schemas.openxmlformats.org/officeDocument/2006/relationships/image" Target="../media/ic_safety_shield_w.svg"/><Relationship Id="rId15" Type="http://schemas.openxmlformats.org/officeDocument/2006/relationships/image" Target="../media/ic_warning_tri_w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_deco_drip_white.svg"/><Relationship Id="rId5" Type="http://schemas.openxmlformats.org/officeDocument/2006/relationships/image" Target="../media/ic_deco_mol_white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c_deco_mol_pale.svg"/><Relationship Id="rId7" Type="http://schemas.openxmlformats.org/officeDocument/2006/relationships/image" Target="../media/ic_factory_w.svg"/><Relationship Id="rId8" Type="http://schemas.openxmlformats.org/officeDocument/2006/relationships/image" Target="../media/ic_history_clock_w.svg"/><Relationship Id="rId9" Type="http://schemas.openxmlformats.org/officeDocument/2006/relationships/image" Target="../media/ic_target_w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c_big_timeline.svg"/><Relationship Id="rId5" Type="http://schemas.openxmlformats.org/officeDocument/2006/relationships/image" Target="../media/ic_deco_mol_pale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c_company_w.svg"/><Relationship Id="rId8" Type="http://schemas.openxmlformats.org/officeDocument/2006/relationships/image" Target="../media/ic_deco_mol_pale.svg"/><Relationship Id="rId9" Type="http://schemas.openxmlformats.org/officeDocument/2006/relationships/image" Target="../media/ic_factory_w.svg"/><Relationship Id="rId10" Type="http://schemas.openxmlformats.org/officeDocument/2006/relationships/image" Target="../media/ic_materials_w.svg"/><Relationship Id="rId11" Type="http://schemas.openxmlformats.org/officeDocument/2006/relationships/image" Target="../media/ic_target_w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_deco_drip_white.svg"/><Relationship Id="rId5" Type="http://schemas.openxmlformats.org/officeDocument/2006/relationships/image" Target="../media/ic_deco_mol_white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c_additive_w.svg"/><Relationship Id="rId8" Type="http://schemas.openxmlformats.org/officeDocument/2006/relationships/image" Target="../media/ic_deco_mol_pale.svg"/><Relationship Id="rId9" Type="http://schemas.openxmlformats.org/officeDocument/2006/relationships/image" Target="../media/ic_pigment_w.svg"/><Relationship Id="rId10" Type="http://schemas.openxmlformats.org/officeDocument/2006/relationships/image" Target="../media/ic_resin_w.svg"/><Relationship Id="rId11" Type="http://schemas.openxmlformats.org/officeDocument/2006/relationships/image" Target="../media/ic_solvent_w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c_big_doughnut.svg"/><Relationship Id="rId5" Type="http://schemas.openxmlformats.org/officeDocument/2006/relationships/image" Target="../media/ic_deco_mol_pale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c_chart8_beo.svg"/><Relationship Id="rId7" Type="http://schemas.openxmlformats.org/officeDocument/2006/relationships/image" Target="../media/ic_chart8_gay.svg"/><Relationship Id="rId8" Type="http://schemas.openxmlformats.org/officeDocument/2006/relationships/image" Target="../media/ic_chart8_trung.svg"/><Relationship Id="rId9" Type="http://schemas.openxmlformats.org/officeDocument/2006/relationships/image" Target="../media/ic_deco_mol_pale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c_deco_mol_pale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_deco_drip_white.svg"/><Relationship Id="rId5" Type="http://schemas.openxmlformats.org/officeDocument/2006/relationships/image" Target="../media/ic_deco_mol_white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c_danh_paste_w.svg"/><Relationship Id="rId10" Type="http://schemas.openxmlformats.org/officeDocument/2006/relationships/image" Target="../media/ic_deco_mol_pale.svg"/><Relationship Id="rId11" Type="http://schemas.openxmlformats.org/officeDocument/2006/relationships/image" Target="../media/ic_dinh_luong_w.svg"/><Relationship Id="rId12" Type="http://schemas.openxmlformats.org/officeDocument/2006/relationships/image" Target="../media/ic_loc_donggoi_w.svg"/><Relationship Id="rId13" Type="http://schemas.openxmlformats.org/officeDocument/2006/relationships/image" Target="../media/ic_ngam_u_w.svg"/><Relationship Id="rId14" Type="http://schemas.openxmlformats.org/officeDocument/2006/relationships/image" Target="../media/ic_nghien_min_w.svg"/><Relationship Id="rId15" Type="http://schemas.openxmlformats.org/officeDocument/2006/relationships/image" Target="../media/ic_pha_loang_w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image" Target="../media/ic_big_columns.svg"/><Relationship Id="rId5" Type="http://schemas.openxmlformats.org/officeDocument/2006/relationships/image" Target="../media/ic_deco_mol_pale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c_danh_paste_w.svg"/><Relationship Id="rId7" Type="http://schemas.openxmlformats.org/officeDocument/2006/relationships/image" Target="../media/ic_deco_mol_pale.svg"/><Relationship Id="rId8" Type="http://schemas.openxmlformats.org/officeDocument/2006/relationships/image" Target="../media/ic_dinh_luong_w.svg"/><Relationship Id="rId9" Type="http://schemas.openxmlformats.org/officeDocument/2006/relationships/image" Target="../media/ic_nghien_min_w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c_deco_mol_pale.svg"/><Relationship Id="rId7" Type="http://schemas.openxmlformats.org/officeDocument/2006/relationships/image" Target="../media/ic_loc_donggoi_w.svg"/><Relationship Id="rId8" Type="http://schemas.openxmlformats.org/officeDocument/2006/relationships/image" Target="../media/ic_ngam_u_w.svg"/><Relationship Id="rId9" Type="http://schemas.openxmlformats.org/officeDocument/2006/relationships/image" Target="../media/ic_pha_loang_w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jpg"/><Relationship Id="rId4" Type="http://schemas.openxmlformats.org/officeDocument/2006/relationships/image" Target="../media/ic_deco_mol_pale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0.jpg"/><Relationship Id="rId4" Type="http://schemas.openxmlformats.org/officeDocument/2006/relationships/image" Target="../media/ic_deco_mol_pale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1.jpg"/><Relationship Id="rId4" Type="http://schemas.openxmlformats.org/officeDocument/2006/relationships/image" Target="../media/ic_deco_mol_pale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_deco_drip_white.svg"/><Relationship Id="rId5" Type="http://schemas.openxmlformats.org/officeDocument/2006/relationships/image" Target="../media/ic_deco_mol_white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2.png"/><Relationship Id="rId4" Type="http://schemas.openxmlformats.org/officeDocument/2006/relationships/image" Target="../media/ic_deco_mol_pale.svg"/><Relationship Id="rId5" Type="http://schemas.openxmlformats.org/officeDocument/2006/relationships/image" Target="../media/ic_stopwatch_w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3.png"/><Relationship Id="rId4" Type="http://schemas.openxmlformats.org/officeDocument/2006/relationships/image" Target="../media/ic_deco_mol_pale.svg"/><Relationship Id="rId5" Type="http://schemas.openxmlformats.org/officeDocument/2006/relationships/image" Target="../media/ic_microscope_w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4.png"/><Relationship Id="rId4" Type="http://schemas.openxmlformats.org/officeDocument/2006/relationships/image" Target="../media/ic_big_radar.svg"/><Relationship Id="rId5" Type="http://schemas.openxmlformats.org/officeDocument/2006/relationships/image" Target="../media/ic_deco_mol_pale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c_adhesion_w.svg"/><Relationship Id="rId7" Type="http://schemas.openxmlformats.org/officeDocument/2006/relationships/image" Target="../media/ic_deco_mol_pale.svg"/><Relationship Id="rId8" Type="http://schemas.openxmlformats.org/officeDocument/2006/relationships/image" Target="../media/ic_salt_spray_w.svg"/><Relationship Id="rId9" Type="http://schemas.openxmlformats.org/officeDocument/2006/relationships/image" Target="../media/ic_sun_uv_w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5.png"/><Relationship Id="rId4" Type="http://schemas.openxmlformats.org/officeDocument/2006/relationships/image" Target="../media/image7.png"/><Relationship Id="rId5" Type="http://schemas.openxmlformats.org/officeDocument/2006/relationships/image" Target="../media/image33.png"/><Relationship Id="rId6" Type="http://schemas.openxmlformats.org/officeDocument/2006/relationships/image" Target="../media/ic_adhesion_w.svg"/><Relationship Id="rId7" Type="http://schemas.openxmlformats.org/officeDocument/2006/relationships/image" Target="../media/ic_deco_mol_pale.svg"/><Relationship Id="rId8" Type="http://schemas.openxmlformats.org/officeDocument/2006/relationships/image" Target="../media/ic_microscope_w.svg"/><Relationship Id="rId9" Type="http://schemas.openxmlformats.org/officeDocument/2006/relationships/image" Target="../media/ic_quality_check_w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_deco_drip_white.svg"/><Relationship Id="rId5" Type="http://schemas.openxmlformats.org/officeDocument/2006/relationships/image" Target="../media/ic_deco_mol_white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c_deco_mol_pale.svg"/><Relationship Id="rId5" Type="http://schemas.openxmlformats.org/officeDocument/2006/relationships/image" Target="../media/ic_warning_tri_w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c_deco_mol_pale.svg"/><Relationship Id="rId5" Type="http://schemas.openxmlformats.org/officeDocument/2006/relationships/image" Target="../media/ic_warning_tri_w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c_deco_mol_pale.svg"/><Relationship Id="rId7" Type="http://schemas.openxmlformats.org/officeDocument/2006/relationships/image" Target="../media/ic_gear_proc_w.svg"/><Relationship Id="rId8" Type="http://schemas.openxmlformats.org/officeDocument/2006/relationships/image" Target="../media/ic_solvent_w.svg"/><Relationship Id="rId9" Type="http://schemas.openxmlformats.org/officeDocument/2006/relationships/image" Target="../media/ic_warning_tri_w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_deco_drip_white.svg"/><Relationship Id="rId5" Type="http://schemas.openxmlformats.org/officeDocument/2006/relationships/image" Target="../media/ic_deco_mol_white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c_deco_mol_pale.svg"/><Relationship Id="rId6" Type="http://schemas.openxmlformats.org/officeDocument/2006/relationships/image" Target="../media/ic_flame_w.svg"/><Relationship Id="rId7" Type="http://schemas.openxmlformats.org/officeDocument/2006/relationships/image" Target="../media/ic_gasmask_w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0.png"/><Relationship Id="rId4" Type="http://schemas.openxmlformats.org/officeDocument/2006/relationships/image" Target="../media/image6.png"/><Relationship Id="rId5" Type="http://schemas.openxmlformats.org/officeDocument/2006/relationships/image" Target="../media/ic_chemical_glove_w.svg"/><Relationship Id="rId6" Type="http://schemas.openxmlformats.org/officeDocument/2006/relationships/image" Target="../media/ic_deco_mol_pale.svg"/><Relationship Id="rId7" Type="http://schemas.openxmlformats.org/officeDocument/2006/relationships/image" Target="../media/ic_gear_proc_w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c_deco_mol_pale.svg"/><Relationship Id="rId7" Type="http://schemas.openxmlformats.org/officeDocument/2006/relationships/image" Target="../media/ic_smoke_air_w.svg"/><Relationship Id="rId8" Type="http://schemas.openxmlformats.org/officeDocument/2006/relationships/image" Target="../media/ic_solid_waste_w.svg"/><Relationship Id="rId9" Type="http://schemas.openxmlformats.org/officeDocument/2006/relationships/image" Target="../media/ic_water_waste_w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c_deco_mol_pale.svg"/><Relationship Id="rId7" Type="http://schemas.openxmlformats.org/officeDocument/2006/relationships/image" Target="../media/ic_grad_check_w.svg"/><Relationship Id="rId8" Type="http://schemas.openxmlformats.org/officeDocument/2006/relationships/image" Target="../media/ic_palette_w.svg"/><Relationship Id="rId9" Type="http://schemas.openxmlformats.org/officeDocument/2006/relationships/image" Target="../media/ic_qr_code_w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_deco_drip_white.svg"/><Relationship Id="rId5" Type="http://schemas.openxmlformats.org/officeDocument/2006/relationships/image" Target="../media/ic_deco_mol_white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9DB3AA"/>
                </a:solidFill>
              </a:rPr>
              <a:t>Báo cáo thực tập  ·  Công ty TNHH Sơn Hải Vân</a:t>
            </a:r>
          </a:p>
        </p:txBody>
      </p:sp>
      <p:pic>
        <p:nvPicPr>
          <p:cNvPr id="4" name="Picture 3" descr="deco_mol_whit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50000" y="560000"/>
            <a:ext cx="2500000" cy="2500000"/>
          </a:xfrm>
          <a:prstGeom prst="rect">
            <a:avLst/>
          </a:prstGeom>
        </p:spPr>
      </p:pic>
      <p:pic>
        <p:nvPicPr>
          <p:cNvPr id="5" name="Picture 4" descr="deco_drip_whit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0000" y="5550000"/>
            <a:ext cx="720000" cy="9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0000" y="1250000"/>
            <a:ext cx="10600000" cy="5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FE2D8"/>
                </a:solidFill>
              </a:rPr>
              <a:t>TRƯỜNG ĐH CÔNG NGHIỆP TP. HCM  ·  KHOA CNHH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10500000" cy="17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300" b="1" i="0">
                <a:solidFill>
                  <a:srgbClr val="FFFFFF"/>
                </a:solidFill>
              </a:rPr>
              <a:t>Quy trình sản xuất &amp;</a:t>
            </a:r>
          </a:p>
          <a:p>
            <a:r>
              <a:rPr sz="4300" b="1" i="0">
                <a:solidFill>
                  <a:srgbClr val="FFFFFF"/>
                </a:solidFill>
              </a:rPr>
              <a:t>kiểm soát chất lượng sơn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20000"/>
            <a:ext cx="10400000" cy="5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800" b="1" i="0">
                <a:solidFill>
                  <a:srgbClr val="C88A2E"/>
                </a:solidFill>
              </a:rPr>
              <a:t>tại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5150000"/>
            <a:ext cx="10500000" cy="10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0" i="0">
                <a:solidFill>
                  <a:srgbClr val="CFE2D8"/>
                </a:solidFill>
              </a:rPr>
              <a:t>Nhóm 8 SV thực tập  ·  Lớp DHHO18A–D  ·  2025–2026</a:t>
            </a:r>
          </a:p>
          <a:p>
            <a:r>
              <a:rPr sz="2400" b="0" i="0">
                <a:solidFill>
                  <a:srgbClr val="CFE2D8"/>
                </a:solidFill>
              </a:rPr>
              <a:t>GVHD: Lê Nhất Thống    ·    CBHD: Lê Quốc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NỘI DUNG BÁO CÁO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Báo cáo gồm 6 phần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60000" y="1964100"/>
            <a:ext cx="476800" cy="4768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pany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5360" y="2059460"/>
            <a:ext cx="286080" cy="28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96800" y="1830000"/>
            <a:ext cx="9700000" cy="745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0" i="0">
                <a:solidFill>
                  <a:srgbClr val="14332A"/>
                </a:solidFill>
              </a:rPr>
              <a:t>Tổng quan về công ty</a:t>
            </a:r>
          </a:p>
        </p:txBody>
      </p:sp>
      <p:sp>
        <p:nvSpPr>
          <p:cNvPr id="13" name="Oval 12"/>
          <p:cNvSpPr/>
          <p:nvPr/>
        </p:nvSpPr>
        <p:spPr>
          <a:xfrm>
            <a:off x="660000" y="2709100"/>
            <a:ext cx="476800" cy="4768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s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360" y="2804460"/>
            <a:ext cx="286080" cy="286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96800" y="2575000"/>
            <a:ext cx="9700000" cy="745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0" i="0">
                <a:solidFill>
                  <a:srgbClr val="14332A"/>
                </a:solidFill>
              </a:rPr>
              <a:t>Nguyên vật liệu</a:t>
            </a:r>
          </a:p>
        </p:txBody>
      </p:sp>
      <p:sp>
        <p:nvSpPr>
          <p:cNvPr id="16" name="Oval 15"/>
          <p:cNvSpPr/>
          <p:nvPr/>
        </p:nvSpPr>
        <p:spPr>
          <a:xfrm>
            <a:off x="660000" y="3454100"/>
            <a:ext cx="476800" cy="4768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ear_proc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5360" y="3549460"/>
            <a:ext cx="286080" cy="286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96800" y="3320000"/>
            <a:ext cx="9700000" cy="745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0" i="0">
                <a:solidFill>
                  <a:srgbClr val="14332A"/>
                </a:solidFill>
              </a:rPr>
              <a:t>Quy trình công nghệ &amp; thiết bị</a:t>
            </a:r>
          </a:p>
        </p:txBody>
      </p:sp>
      <p:sp>
        <p:nvSpPr>
          <p:cNvPr id="19" name="Oval 18"/>
          <p:cNvSpPr/>
          <p:nvPr/>
        </p:nvSpPr>
        <p:spPr>
          <a:xfrm>
            <a:off x="660000" y="4199100"/>
            <a:ext cx="476800" cy="4768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quality_check_w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4:svgBlip xmlns:ns4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5360" y="4294460"/>
            <a:ext cx="286080" cy="286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96800" y="4065000"/>
            <a:ext cx="9700000" cy="745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0" i="0">
                <a:solidFill>
                  <a:srgbClr val="14332A"/>
                </a:solidFill>
              </a:rPr>
              <a:t>Kiểm soát chất lượng (KCS)</a:t>
            </a:r>
          </a:p>
        </p:txBody>
      </p:sp>
      <p:sp>
        <p:nvSpPr>
          <p:cNvPr id="22" name="Oval 21"/>
          <p:cNvSpPr/>
          <p:nvPr/>
        </p:nvSpPr>
        <p:spPr>
          <a:xfrm>
            <a:off x="660000" y="4944100"/>
            <a:ext cx="476800" cy="4768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warning_tri_w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ns5:svgBlip xmlns:ns5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5360" y="5039460"/>
            <a:ext cx="286080" cy="286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96800" y="4810000"/>
            <a:ext cx="9700000" cy="745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0" i="0">
                <a:solidFill>
                  <a:srgbClr val="14332A"/>
                </a:solidFill>
              </a:rPr>
              <a:t>Những sự cố thường gặp</a:t>
            </a:r>
          </a:p>
        </p:txBody>
      </p:sp>
      <p:sp>
        <p:nvSpPr>
          <p:cNvPr id="25" name="Oval 24"/>
          <p:cNvSpPr/>
          <p:nvPr/>
        </p:nvSpPr>
        <p:spPr>
          <a:xfrm>
            <a:off x="660000" y="5689100"/>
            <a:ext cx="476800" cy="4768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afety_shield_w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6:svgBlip xmlns:ns6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5360" y="5784460"/>
            <a:ext cx="286080" cy="286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96800" y="5555000"/>
            <a:ext cx="9700000" cy="745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0" i="0">
                <a:solidFill>
                  <a:srgbClr val="14332A"/>
                </a:solidFill>
              </a:rPr>
              <a:t>An toàn lao động &amp; môi trường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9DB3AA"/>
                </a:solidFill>
              </a:rPr>
              <a:t>Báo cáo thực tập  ·  Công ty TNHH Sơn Hải Vân</a:t>
            </a:r>
          </a:p>
        </p:txBody>
      </p:sp>
      <p:pic>
        <p:nvPicPr>
          <p:cNvPr id="4" name="Picture 3" descr="deco_mol_whit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0000" y="560000"/>
            <a:ext cx="2300000" cy="2300000"/>
          </a:xfrm>
          <a:prstGeom prst="rect">
            <a:avLst/>
          </a:prstGeom>
        </p:spPr>
      </p:pic>
      <p:pic>
        <p:nvPicPr>
          <p:cNvPr id="5" name="Picture 4" descr="deco_drip_whit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000" y="4650000"/>
            <a:ext cx="950000" cy="127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00000" y="2400000"/>
            <a:ext cx="1250000" cy="12500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000" y="2450000"/>
            <a:ext cx="8600000" cy="5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PHẦN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2980000"/>
            <a:ext cx="9000000" cy="10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</a:rPr>
              <a:t>Tổng quan về công 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1.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Công ty Sơn Hải Vân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260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ctory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400" y="2743400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2000" y="238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Sản xuất sơn công nghiệp &amp; tàu biển</a:t>
            </a:r>
          </a:p>
          <a:p>
            <a:r>
              <a:rPr sz="2400" b="0" i="0">
                <a:solidFill>
                  <a:srgbClr val="34404A"/>
                </a:solidFill>
              </a:rPr>
              <a:t>Chuyên dụng bảo vệ chống ăn mòn, chống cháy</a:t>
            </a:r>
          </a:p>
        </p:txBody>
      </p:sp>
      <p:sp>
        <p:nvSpPr>
          <p:cNvPr id="13" name="Oval 12"/>
          <p:cNvSpPr/>
          <p:nvPr/>
        </p:nvSpPr>
        <p:spPr>
          <a:xfrm>
            <a:off x="640000" y="372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istory_clock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400" y="3863400"/>
            <a:ext cx="403200" cy="40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2000" y="350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Thành lập 2008 · sản xuất từ 2009</a:t>
            </a:r>
          </a:p>
          <a:p>
            <a:r>
              <a:rPr sz="2400" b="0" i="0">
                <a:solidFill>
                  <a:srgbClr val="34404A"/>
                </a:solidFill>
              </a:rPr>
              <a:t>Đăng ký tại Sở KH&amp;ĐT TP. Hồ Chí Minh</a:t>
            </a:r>
          </a:p>
        </p:txBody>
      </p:sp>
      <p:sp>
        <p:nvSpPr>
          <p:cNvPr id="16" name="Oval 15"/>
          <p:cNvSpPr/>
          <p:nvPr/>
        </p:nvSpPr>
        <p:spPr>
          <a:xfrm>
            <a:off x="640000" y="484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arget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400" y="4983400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2000" y="462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Doanh nghiệp vừa (SME) · mô hình B2B</a:t>
            </a:r>
          </a:p>
          <a:p>
            <a:r>
              <a:rPr sz="2400" b="0" i="0">
                <a:solidFill>
                  <a:srgbClr val="34404A"/>
                </a:solidFill>
              </a:rPr>
              <a:t>Một nhà máy sản xuất đặt tại Long 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1.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Chặng đường phát triển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5</a:t>
            </a:r>
          </a:p>
        </p:txBody>
      </p:sp>
      <p:pic>
        <p:nvPicPr>
          <p:cNvPr id="10" name="Picture 9" descr="big_timelin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847" y="1962872"/>
            <a:ext cx="10400000" cy="4204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1.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Thị trường &amp; khách hàng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660000" y="2463400"/>
            <a:ext cx="563200" cy="5632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2640" y="2576040"/>
            <a:ext cx="337920" cy="337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83200" y="2305000"/>
            <a:ext cx="9700000" cy="88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0" i="0">
                <a:solidFill>
                  <a:srgbClr val="14332A"/>
                </a:solidFill>
              </a:rPr>
              <a:t>Phân khúc B2B kỹ thuật, không phải sơn dân dụng</a:t>
            </a:r>
          </a:p>
        </p:txBody>
      </p:sp>
      <p:sp>
        <p:nvSpPr>
          <p:cNvPr id="13" name="Oval 12"/>
          <p:cNvSpPr/>
          <p:nvPr/>
        </p:nvSpPr>
        <p:spPr>
          <a:xfrm>
            <a:off x="660000" y="3343400"/>
            <a:ext cx="563200" cy="5632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ctory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2640" y="3456040"/>
            <a:ext cx="337920" cy="337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83200" y="3185000"/>
            <a:ext cx="9700000" cy="88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0" i="0">
                <a:solidFill>
                  <a:srgbClr val="14332A"/>
                </a:solidFill>
              </a:rPr>
              <a:t>Xưởng đóng &amp; sửa chữa tàu biển</a:t>
            </a:r>
          </a:p>
        </p:txBody>
      </p:sp>
      <p:sp>
        <p:nvSpPr>
          <p:cNvPr id="16" name="Oval 15"/>
          <p:cNvSpPr/>
          <p:nvPr/>
        </p:nvSpPr>
        <p:spPr>
          <a:xfrm>
            <a:off x="660000" y="4223400"/>
            <a:ext cx="563200" cy="5632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mpany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2640" y="4336040"/>
            <a:ext cx="337920" cy="337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83200" y="4065000"/>
            <a:ext cx="9700000" cy="88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0" i="0">
                <a:solidFill>
                  <a:srgbClr val="14332A"/>
                </a:solidFill>
              </a:rPr>
              <a:t>Chủ đầu tư công trình kết cấu thép</a:t>
            </a:r>
          </a:p>
        </p:txBody>
      </p:sp>
      <p:sp>
        <p:nvSpPr>
          <p:cNvPr id="19" name="Oval 18"/>
          <p:cNvSpPr/>
          <p:nvPr/>
        </p:nvSpPr>
        <p:spPr>
          <a:xfrm>
            <a:off x="660000" y="5103400"/>
            <a:ext cx="563200" cy="5632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terials_w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4:svgBlip xmlns:ns4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640" y="5216040"/>
            <a:ext cx="337920" cy="337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83200" y="4945000"/>
            <a:ext cx="9700000" cy="88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0" i="0">
                <a:solidFill>
                  <a:srgbClr val="14332A"/>
                </a:solidFill>
              </a:rPr>
              <a:t>Đại lý phân phối sơn bảo vệ chuyên dụng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9DB3AA"/>
                </a:solidFill>
              </a:rPr>
              <a:t>Báo cáo thực tập  ·  Công ty TNHH Sơn Hải Vân</a:t>
            </a:r>
          </a:p>
        </p:txBody>
      </p:sp>
      <p:pic>
        <p:nvPicPr>
          <p:cNvPr id="4" name="Picture 3" descr="deco_mol_whit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0000" y="560000"/>
            <a:ext cx="2300000" cy="2300000"/>
          </a:xfrm>
          <a:prstGeom prst="rect">
            <a:avLst/>
          </a:prstGeom>
        </p:spPr>
      </p:pic>
      <p:pic>
        <p:nvPicPr>
          <p:cNvPr id="5" name="Picture 4" descr="deco_drip_whit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000" y="4650000"/>
            <a:ext cx="950000" cy="127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00000" y="2400000"/>
            <a:ext cx="1250000" cy="12500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000" y="2450000"/>
            <a:ext cx="8600000" cy="5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PHẦN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2980000"/>
            <a:ext cx="9000000" cy="10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</a:rPr>
              <a:t>Nguyên vật liệu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2. NGUYÊN VẬT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Bốn nhóm nguyên liệu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8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2053500"/>
            <a:ext cx="670500" cy="6705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sin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4100" y="2187600"/>
            <a:ext cx="402300" cy="402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0500" y="1830000"/>
            <a:ext cx="9800000" cy="11175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Nhựa · 40–60%</a:t>
            </a:r>
          </a:p>
          <a:p>
            <a:r>
              <a:rPr sz="2400" b="0" i="0">
                <a:solidFill>
                  <a:srgbClr val="34404A"/>
                </a:solidFill>
              </a:rPr>
              <a:t>Khung màng, quyết định bám dính &amp; độ bền</a:t>
            </a:r>
          </a:p>
        </p:txBody>
      </p:sp>
      <p:sp>
        <p:nvSpPr>
          <p:cNvPr id="13" name="Oval 12"/>
          <p:cNvSpPr/>
          <p:nvPr/>
        </p:nvSpPr>
        <p:spPr>
          <a:xfrm>
            <a:off x="640000" y="3171000"/>
            <a:ext cx="670500" cy="6705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olvent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4100" y="3305100"/>
            <a:ext cx="402300" cy="402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0500" y="2947500"/>
            <a:ext cx="9800000" cy="11175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Dung môi · 20–40%</a:t>
            </a:r>
          </a:p>
          <a:p>
            <a:r>
              <a:rPr sz="2400" b="0" i="0">
                <a:solidFill>
                  <a:srgbClr val="34404A"/>
                </a:solidFill>
              </a:rPr>
              <a:t>Hòa tan, phân tán, điều chỉnh độ nhớt</a:t>
            </a:r>
          </a:p>
        </p:txBody>
      </p:sp>
      <p:sp>
        <p:nvSpPr>
          <p:cNvPr id="16" name="Oval 15"/>
          <p:cNvSpPr/>
          <p:nvPr/>
        </p:nvSpPr>
        <p:spPr>
          <a:xfrm>
            <a:off x="640000" y="4288500"/>
            <a:ext cx="670500" cy="6705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igment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100" y="4422600"/>
            <a:ext cx="402300" cy="402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0500" y="4065000"/>
            <a:ext cx="9800000" cy="11175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Bột màu / độn · 15–35%</a:t>
            </a:r>
          </a:p>
          <a:p>
            <a:r>
              <a:rPr sz="2400" b="0" i="0">
                <a:solidFill>
                  <a:srgbClr val="34404A"/>
                </a:solidFill>
              </a:rPr>
              <a:t>Tạo màu, tối ưu thể tích &amp; cơ tính</a:t>
            </a:r>
          </a:p>
        </p:txBody>
      </p:sp>
      <p:sp>
        <p:nvSpPr>
          <p:cNvPr id="19" name="Oval 18"/>
          <p:cNvSpPr/>
          <p:nvPr/>
        </p:nvSpPr>
        <p:spPr>
          <a:xfrm>
            <a:off x="640000" y="5406000"/>
            <a:ext cx="670500" cy="6705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dditive_w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100" y="5540100"/>
            <a:ext cx="402300" cy="402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90500" y="5182500"/>
            <a:ext cx="9800000" cy="11175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Phụ gia · ≤ 1%</a:t>
            </a:r>
          </a:p>
          <a:p>
            <a:r>
              <a:rPr sz="2400" b="0" i="0">
                <a:solidFill>
                  <a:srgbClr val="34404A"/>
                </a:solidFill>
              </a:rPr>
              <a:t>Tỉ lệ nhỏ nhưng nâng cao chất lượng màng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2. NGUYÊN VẬT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Tỉ lệ một công thức sơn điển hình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9</a:t>
            </a:r>
          </a:p>
        </p:txBody>
      </p:sp>
      <p:pic>
        <p:nvPicPr>
          <p:cNvPr id="10" name="Picture 9" descr="big_doughnut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5847" y="1830000"/>
            <a:ext cx="7740000" cy="43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0000" y="6080000"/>
            <a:ext cx="10800000" cy="36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2400" b="0" i="1">
                <a:solidFill>
                  <a:srgbClr val="5B6E66"/>
                </a:solidFill>
              </a:rPr>
              <a:t>Tỉ lệ minh họa — thay đổi theo loại sơn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2. NGUYÊN VẬT LIỆU — NHỰA ALKYD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Phân loại theo hàm lượng dầu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90000"/>
            <a:ext cx="11090000" cy="137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1890000"/>
            <a:ext cx="3400000" cy="137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600" b="1" i="0">
                <a:solidFill>
                  <a:srgbClr val="1F4E3D"/>
                </a:solidFill>
              </a:rPr>
              <a:t>Nhựa gầy</a:t>
            </a:r>
          </a:p>
        </p:txBody>
      </p:sp>
      <p:pic>
        <p:nvPicPr>
          <p:cNvPr id="12" name="Picture 11" descr="chart8_gay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50000" y="2284412"/>
            <a:ext cx="2600000" cy="581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50000" y="1890000"/>
            <a:ext cx="4300000" cy="137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0" i="0">
                <a:solidFill>
                  <a:srgbClr val="34404A"/>
                </a:solidFill>
              </a:rPr>
              <a:t>Độ nhớt cao — thi công nhúng / phun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0000"/>
            <a:ext cx="11090000" cy="137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3380000"/>
            <a:ext cx="3400000" cy="137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600" b="1" i="0">
                <a:solidFill>
                  <a:srgbClr val="1F4E3D"/>
                </a:solidFill>
              </a:rPr>
              <a:t>Nhựa trung bình</a:t>
            </a:r>
          </a:p>
        </p:txBody>
      </p:sp>
      <p:pic>
        <p:nvPicPr>
          <p:cNvPr id="16" name="Picture 15" descr="chart8_trung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50000" y="3774412"/>
            <a:ext cx="2600000" cy="581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50000" y="3380000"/>
            <a:ext cx="4300000" cy="137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0" i="0">
                <a:solidFill>
                  <a:srgbClr val="34404A"/>
                </a:solidFill>
              </a:rPr>
              <a:t>Phổ biến nhất — cọ / lăn / súng phun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70000"/>
            <a:ext cx="11090000" cy="137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4870000"/>
            <a:ext cx="3400000" cy="137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600" b="1" i="0">
                <a:solidFill>
                  <a:srgbClr val="1F4E3D"/>
                </a:solidFill>
              </a:rPr>
              <a:t>Nhựa béo</a:t>
            </a:r>
          </a:p>
        </p:txBody>
      </p:sp>
      <p:pic>
        <p:nvPicPr>
          <p:cNvPr id="20" name="Picture 19" descr="chart8_beo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0000" y="5264412"/>
            <a:ext cx="2600000" cy="581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50000" y="4870000"/>
            <a:ext cx="4300000" cy="137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0" i="0">
                <a:solidFill>
                  <a:srgbClr val="34404A"/>
                </a:solidFill>
              </a:rPr>
              <a:t>Tạo màng chính cho sơn tàu biển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2. NGUYÊN VẬT LIỆU — SƠN TÀU BIỂN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Cấu trúc hệ sơn 3 lớp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0000"/>
            <a:ext cx="11090000" cy="1020000"/>
          </a:xfrm>
          <a:prstGeom prst="roundRect">
            <a:avLst/>
          </a:prstGeom>
          <a:solidFill>
            <a:srgbClr val="7BA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1830000"/>
            <a:ext cx="10300000" cy="10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FFFFFF"/>
                </a:solidFill>
              </a:rPr>
              <a:t>Lớp 3 — Phủ hoàn thiện</a:t>
            </a:r>
          </a:p>
          <a:p>
            <a:r>
              <a:rPr sz="2400" b="0" i="0">
                <a:solidFill>
                  <a:srgbClr val="EAF3EE"/>
                </a:solidFill>
              </a:rPr>
              <a:t>Polyurethan / Alkyd béo · chịu UV, giữ màu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80000"/>
            <a:ext cx="11090000" cy="1020000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2980000"/>
            <a:ext cx="10300000" cy="10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FFFFFF"/>
                </a:solidFill>
              </a:rPr>
              <a:t>Lớp 2 — Trung gian</a:t>
            </a:r>
          </a:p>
          <a:p>
            <a:r>
              <a:rPr sz="2400" b="0" i="0">
                <a:solidFill>
                  <a:srgbClr val="EAF3EE"/>
                </a:solidFill>
              </a:rPr>
              <a:t>Epoxy MIO · chắn ẩm và ion clorua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30000"/>
            <a:ext cx="11090000" cy="1020000"/>
          </a:xfrm>
          <a:prstGeom prst="round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4130000"/>
            <a:ext cx="10300000" cy="10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FFFFFF"/>
                </a:solidFill>
              </a:rPr>
              <a:t>Lớp 1 — Lót chống rỉ</a:t>
            </a:r>
          </a:p>
          <a:p>
            <a:r>
              <a:rPr sz="2400" b="0" i="0">
                <a:solidFill>
                  <a:srgbClr val="EAF3EE"/>
                </a:solidFill>
              </a:rPr>
              <a:t>Epoxy giàu kẽm · bảo vệ điện hóa từ gốc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80000"/>
            <a:ext cx="11090000" cy="1020000"/>
          </a:xfrm>
          <a:prstGeom prst="roundRect">
            <a:avLst/>
          </a:prstGeom>
          <a:solidFill>
            <a:srgbClr val="4A4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5280000"/>
            <a:ext cx="10300000" cy="10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FFFFFF"/>
                </a:solidFill>
              </a:rPr>
              <a:t>THÉP NỀN</a:t>
            </a:r>
          </a:p>
          <a:p>
            <a:r>
              <a:rPr sz="2400" b="0" i="0">
                <a:solidFill>
                  <a:srgbClr val="EAF3EE"/>
                </a:solidFill>
              </a:rPr>
              <a:t>Đã xử lý bề mặt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9DB3AA"/>
                </a:solidFill>
              </a:rPr>
              <a:t>Báo cáo thực tập  ·  Công ty TNHH Sơn Hải Vân</a:t>
            </a:r>
          </a:p>
        </p:txBody>
      </p:sp>
      <p:pic>
        <p:nvPicPr>
          <p:cNvPr id="4" name="Picture 3" descr="deco_mol_whit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0000" y="560000"/>
            <a:ext cx="2300000" cy="2300000"/>
          </a:xfrm>
          <a:prstGeom prst="rect">
            <a:avLst/>
          </a:prstGeom>
        </p:spPr>
      </p:pic>
      <p:pic>
        <p:nvPicPr>
          <p:cNvPr id="5" name="Picture 4" descr="deco_drip_whit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000" y="4650000"/>
            <a:ext cx="950000" cy="127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00000" y="2400000"/>
            <a:ext cx="1250000" cy="12500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000" y="2450000"/>
            <a:ext cx="8600000" cy="5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PHẦN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2980000"/>
            <a:ext cx="9000000" cy="10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</a:rPr>
              <a:t>Quy trình công nghệ &amp; thiết bị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3. QUY TRÌNH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Sáu công đoạn sản xuất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0000"/>
            <a:ext cx="5395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8640" y="2057233"/>
            <a:ext cx="882199" cy="882199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nh_luong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5079" y="2233672"/>
            <a:ext cx="529319" cy="5293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40839" y="1830000"/>
            <a:ext cx="3952801" cy="133666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1. Định lượng</a:t>
            </a:r>
          </a:p>
          <a:p>
            <a:r>
              <a:rPr sz="2400" b="0" i="0">
                <a:solidFill>
                  <a:srgbClr val="34404A"/>
                </a:solidFill>
              </a:rPr>
              <a:t>Cân đúng tỉ lệ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3640" y="1830000"/>
            <a:ext cx="5395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73640" y="2057233"/>
            <a:ext cx="882199" cy="882199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anh_paste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0079" y="2233672"/>
            <a:ext cx="529319" cy="5293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35839" y="1830000"/>
            <a:ext cx="3952801" cy="133666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2. Đánh paste</a:t>
            </a:r>
          </a:p>
          <a:p>
            <a:r>
              <a:rPr sz="2400" b="0" i="0">
                <a:solidFill>
                  <a:srgbClr val="34404A"/>
                </a:solidFill>
              </a:rPr>
              <a:t>Phân tán bột màu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96666"/>
            <a:ext cx="5395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8640" y="3623899"/>
            <a:ext cx="882199" cy="882199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nghien_min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5079" y="3800338"/>
            <a:ext cx="529319" cy="52931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40839" y="3396666"/>
            <a:ext cx="3952801" cy="133666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3. Nghiền mịn</a:t>
            </a:r>
          </a:p>
          <a:p>
            <a:r>
              <a:rPr sz="2400" b="0" i="0">
                <a:solidFill>
                  <a:srgbClr val="34404A"/>
                </a:solidFill>
              </a:rPr>
              <a:t>Hạ hạt 10–20 µm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3640" y="3396666"/>
            <a:ext cx="5395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73640" y="3623899"/>
            <a:ext cx="882199" cy="882199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ngam_u_w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4:svgBlip xmlns:ns4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50079" y="3800338"/>
            <a:ext cx="529319" cy="52931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35839" y="3396666"/>
            <a:ext cx="3952801" cy="133666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4. Ngâm ủ</a:t>
            </a:r>
          </a:p>
          <a:p>
            <a:r>
              <a:rPr sz="2400" b="0" i="0">
                <a:solidFill>
                  <a:srgbClr val="34404A"/>
                </a:solidFill>
              </a:rPr>
              <a:t>Ổn định hệ, giảm bọt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63332"/>
            <a:ext cx="5395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8640" y="5190565"/>
            <a:ext cx="882199" cy="882199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ha_loang_w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ns5:svgBlip xmlns:ns5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5079" y="5367004"/>
            <a:ext cx="529319" cy="52931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940839" y="4963332"/>
            <a:ext cx="3952801" cy="133666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5. Pha loãng</a:t>
            </a:r>
          </a:p>
          <a:p>
            <a:r>
              <a:rPr sz="2400" b="0" i="0">
                <a:solidFill>
                  <a:srgbClr val="34404A"/>
                </a:solidFill>
              </a:rPr>
              <a:t>Chỉnh độ nhớt (KU)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3640" y="4963332"/>
            <a:ext cx="5395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73640" y="5190565"/>
            <a:ext cx="882199" cy="882199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c_donggoi_w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6:svgBlip xmlns:ns6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0079" y="5367004"/>
            <a:ext cx="529319" cy="52931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635839" y="4963332"/>
            <a:ext cx="3952801" cy="133666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6. Lọc &amp; đóng gói</a:t>
            </a:r>
          </a:p>
          <a:p>
            <a:r>
              <a:rPr sz="2400" b="0" i="0">
                <a:solidFill>
                  <a:srgbClr val="34404A"/>
                </a:solidFill>
              </a:rPr>
              <a:t>Loại tạp chất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3. QUY TRÌNH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Thời gian tương đối giữa các công đoạn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14</a:t>
            </a:r>
          </a:p>
        </p:txBody>
      </p:sp>
      <p:pic>
        <p:nvPicPr>
          <p:cNvPr id="10" name="Picture 9" descr="big_columns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2247" y="1905000"/>
            <a:ext cx="8467200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3. QUY TRÌNH — CHI TIẾT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Ba công đoạn đầu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0000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30000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8640" y="2060000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inh_luong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0640" y="2172000"/>
            <a:ext cx="336000" cy="33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8640" y="2660000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1 · Định lượng</a:t>
            </a:r>
          </a:p>
          <a:p>
            <a:r>
              <a:rPr sz="2400" b="0" i="0">
                <a:solidFill>
                  <a:srgbClr val="34404A"/>
                </a:solidFill>
              </a:rPr>
              <a:t>Cân tỉ lệ nhựa / dung môi / phụ gia / bột</a:t>
            </a:r>
          </a:p>
          <a:p>
            <a:r>
              <a:rPr sz="2400" b="0" i="0">
                <a:solidFill>
                  <a:srgbClr val="34404A"/>
                </a:solidFill>
              </a:rPr>
              <a:t>Bắt buộc · theo công thức R&amp;D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96666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396666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8640" y="3626666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anh_paste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0640" y="3738666"/>
            <a:ext cx="336000" cy="33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640" y="4226666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2 · Đánh paste</a:t>
            </a:r>
          </a:p>
          <a:p>
            <a:r>
              <a:rPr sz="2400" b="0" i="0">
                <a:solidFill>
                  <a:srgbClr val="34404A"/>
                </a:solidFill>
              </a:rPr>
              <a:t>Khuấy 900–1200 v/p, hòa bột vào nhựa</a:t>
            </a:r>
          </a:p>
          <a:p>
            <a:r>
              <a:rPr sz="2400" b="0" i="0">
                <a:solidFill>
                  <a:srgbClr val="34404A"/>
                </a:solidFill>
              </a:rPr>
              <a:t>Bắt buộc · vài chục phút / mẻ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63332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963332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8640" y="5193332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nghien_min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0640" y="5305332"/>
            <a:ext cx="336000" cy="33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8640" y="5793332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3 · Nghiền mịn</a:t>
            </a:r>
          </a:p>
          <a:p>
            <a:r>
              <a:rPr sz="2400" b="0" i="0">
                <a:solidFill>
                  <a:srgbClr val="34404A"/>
                </a:solidFill>
              </a:rPr>
              <a:t>Bi nghiền đưa hạt xuống 10–20 µm</a:t>
            </a:r>
          </a:p>
          <a:p>
            <a:r>
              <a:rPr sz="2400" b="0" i="0">
                <a:solidFill>
                  <a:srgbClr val="34404A"/>
                </a:solidFill>
              </a:rPr>
              <a:t>Có thể bỏ qua nếu đã đạt Hegman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3. QUY TRÌNH — CHI TIẾT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Ba công đoạn sau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0000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30000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8640" y="2060000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gam_u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0640" y="2172000"/>
            <a:ext cx="336000" cy="33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8640" y="2660000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4 · Ngâm ủ</a:t>
            </a:r>
          </a:p>
          <a:p>
            <a:r>
              <a:rPr sz="2400" b="0" i="0">
                <a:solidFill>
                  <a:srgbClr val="34404A"/>
                </a:solidFill>
              </a:rPr>
              <a:t>Giữ yên cho hệ ổn định, giảm bọt khí</a:t>
            </a:r>
          </a:p>
          <a:p>
            <a:r>
              <a:rPr sz="2400" b="0" i="0">
                <a:solidFill>
                  <a:srgbClr val="34404A"/>
                </a:solidFill>
              </a:rPr>
              <a:t>Linh hoạt · vài giờ tùy loại sơn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96666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396666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8640" y="3626666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ha_loang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0640" y="3738666"/>
            <a:ext cx="336000" cy="33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640" y="4226666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5 · Pha loãng</a:t>
            </a:r>
          </a:p>
          <a:p>
            <a:r>
              <a:rPr sz="2400" b="0" i="0">
                <a:solidFill>
                  <a:srgbClr val="34404A"/>
                </a:solidFill>
              </a:rPr>
              <a:t>Chỉnh độ nhớt (KU) về thông số đích</a:t>
            </a:r>
          </a:p>
          <a:p>
            <a:r>
              <a:rPr sz="2400" b="0" i="0">
                <a:solidFill>
                  <a:srgbClr val="34404A"/>
                </a:solidFill>
              </a:rPr>
              <a:t>Bắt buộc · quyết định độ phủ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63332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963332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8640" y="5193332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c_donggoi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0640" y="5305332"/>
            <a:ext cx="336000" cy="33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8640" y="5793332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6 · Lọc &amp; đóng gói</a:t>
            </a:r>
          </a:p>
          <a:p>
            <a:r>
              <a:rPr sz="2400" b="0" i="0">
                <a:solidFill>
                  <a:srgbClr val="34404A"/>
                </a:solidFill>
              </a:rPr>
              <a:t>Loại tạp chất / hạt vón trước xuất xưởng</a:t>
            </a:r>
          </a:p>
          <a:p>
            <a:r>
              <a:rPr sz="2400" b="0" i="0">
                <a:solidFill>
                  <a:srgbClr val="34404A"/>
                </a:solidFill>
              </a:rPr>
              <a:t>Bắt buộc · bước cuối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3. THIẾT BỊ SẢN XUẤT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Máy đánh paste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0000" y="830000"/>
            <a:ext cx="2100000" cy="470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Mã: ĐP01B</a:t>
            </a:r>
          </a:p>
        </p:txBody>
      </p:sp>
      <p:pic>
        <p:nvPicPr>
          <p:cNvPr id="11" name="Picture 10" descr="mach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30000"/>
            <a:ext cx="4900000" cy="56012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850000" y="1830000"/>
            <a:ext cx="5750000" cy="130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50000" y="1830000"/>
            <a:ext cx="70000" cy="1300000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000" y="1920000"/>
            <a:ext cx="5330000" cy="114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1F4E3D"/>
                </a:solidFill>
              </a:rPr>
              <a:t>Cấu tạo</a:t>
            </a:r>
          </a:p>
          <a:p>
            <a:r>
              <a:rPr sz="2400" b="0" i="0">
                <a:solidFill>
                  <a:srgbClr val="34404A"/>
                </a:solidFill>
              </a:rPr>
              <a:t>Động cơ 5–20 HP, cánh khuấy inox 304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0000" y="3320000"/>
            <a:ext cx="5750000" cy="130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50000" y="3320000"/>
            <a:ext cx="70000" cy="1300000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000" y="3410000"/>
            <a:ext cx="5330000" cy="114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1F4E3D"/>
                </a:solidFill>
              </a:rPr>
              <a:t>Nguyên lý</a:t>
            </a:r>
          </a:p>
          <a:p>
            <a:r>
              <a:rPr sz="2400" b="0" i="0">
                <a:solidFill>
                  <a:srgbClr val="34404A"/>
                </a:solidFill>
              </a:rPr>
              <a:t>Quay 900–1200 v/p, phân tán bột vào nhựa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0000" y="4810000"/>
            <a:ext cx="5750000" cy="130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0000" y="4810000"/>
            <a:ext cx="70000" cy="1300000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000" y="4900000"/>
            <a:ext cx="5330000" cy="114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1F4E3D"/>
                </a:solidFill>
              </a:rPr>
              <a:t>Thao tác</a:t>
            </a:r>
          </a:p>
          <a:p>
            <a:r>
              <a:rPr sz="2400" b="0" i="0">
                <a:solidFill>
                  <a:srgbClr val="34404A"/>
                </a:solidFill>
              </a:rPr>
              <a:t>Hạ cánh khuấy ngập paste, kiểm soát nhiệt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3. THIẾT BỊ SẢN XUẤT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Máy nghiền mịn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0000" y="830000"/>
            <a:ext cx="2100000" cy="470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Mã: NM06</a:t>
            </a:r>
          </a:p>
        </p:txBody>
      </p:sp>
      <p:pic>
        <p:nvPicPr>
          <p:cNvPr id="11" name="Picture 10" descr="mac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000" y="2069565"/>
            <a:ext cx="4900000" cy="38208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15000" y="2030000"/>
            <a:ext cx="34000" cy="2560000"/>
          </a:xfrm>
          <a:prstGeom prst="rect">
            <a:avLst/>
          </a:prstGeom>
          <a:solidFill>
            <a:srgbClr val="CF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0000" y="1870000"/>
            <a:ext cx="470000" cy="4700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0000" y="1800000"/>
            <a:ext cx="5250000" cy="12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Cấu tạo</a:t>
            </a:r>
          </a:p>
          <a:p>
            <a:r>
              <a:rPr sz="2400" b="0" i="0">
                <a:solidFill>
                  <a:srgbClr val="34404A"/>
                </a:solidFill>
              </a:rPr>
              <a:t>Động cơ 30–60 HP, rổ chứa bi sứ / thủy tinh</a:t>
            </a:r>
          </a:p>
        </p:txBody>
      </p:sp>
      <p:sp>
        <p:nvSpPr>
          <p:cNvPr id="15" name="Oval 14"/>
          <p:cNvSpPr/>
          <p:nvPr/>
        </p:nvSpPr>
        <p:spPr>
          <a:xfrm>
            <a:off x="700000" y="3180000"/>
            <a:ext cx="470000" cy="4700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0000" y="3110000"/>
            <a:ext cx="5250000" cy="12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Nguyên lý</a:t>
            </a:r>
          </a:p>
          <a:p>
            <a:r>
              <a:rPr sz="2400" b="0" i="0">
                <a:solidFill>
                  <a:srgbClr val="34404A"/>
                </a:solidFill>
              </a:rPr>
              <a:t>Va đập &amp; ma sát, giảm hạt xuống 10–20 µm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4490000"/>
            <a:ext cx="470000" cy="4700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0000" y="4420000"/>
            <a:ext cx="5250000" cy="12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Thao tác</a:t>
            </a:r>
          </a:p>
          <a:p>
            <a:r>
              <a:rPr sz="2400" b="0" i="0">
                <a:solidFill>
                  <a:srgbClr val="34404A"/>
                </a:solidFill>
              </a:rPr>
              <a:t>Tuần hoàn đến khi đạt độ mịn Hegman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3. THIẾT BỊ SẢN XUẤT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Máy pha loãng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0000" y="830000"/>
            <a:ext cx="2100000" cy="470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Mã: PL01–03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0000" y="1900000"/>
            <a:ext cx="5050000" cy="3500000"/>
          </a:xfrm>
          <a:prstGeom prst="round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c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000" y="2090000"/>
            <a:ext cx="4650000" cy="34831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0000" y="1780000"/>
            <a:ext cx="5600000" cy="43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Thông số kỹ thuật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20000"/>
            <a:ext cx="5750000" cy="112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640" y="2410000"/>
            <a:ext cx="5330000" cy="96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1F4E3D"/>
                </a:solidFill>
              </a:rPr>
              <a:t>Cấu tạo</a:t>
            </a:r>
          </a:p>
          <a:p>
            <a:r>
              <a:rPr sz="2400" b="0" i="0">
                <a:solidFill>
                  <a:srgbClr val="34404A"/>
                </a:solidFill>
              </a:rPr>
              <a:t>Bồn inox, cánh khuấy thủy lực, van xả côn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70000"/>
            <a:ext cx="5750000" cy="1120000"/>
          </a:xfrm>
          <a:prstGeom prst="roundRect">
            <a:avLst/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640" y="3660000"/>
            <a:ext cx="5330000" cy="96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1F4E3D"/>
                </a:solidFill>
              </a:rPr>
              <a:t>Nguyên lý</a:t>
            </a:r>
          </a:p>
          <a:p>
            <a:r>
              <a:rPr sz="2400" b="0" i="0">
                <a:solidFill>
                  <a:srgbClr val="34404A"/>
                </a:solidFill>
              </a:rPr>
              <a:t>Khuấy đối lưu, chỉnh độ nhớt bằng dung môi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20000"/>
            <a:ext cx="5750000" cy="112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640" y="4910000"/>
            <a:ext cx="5330000" cy="96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1F4E3D"/>
                </a:solidFill>
              </a:rPr>
              <a:t>Thao tác</a:t>
            </a:r>
          </a:p>
          <a:p>
            <a:r>
              <a:rPr sz="2400" b="0" i="0">
                <a:solidFill>
                  <a:srgbClr val="34404A"/>
                </a:solidFill>
              </a:rPr>
              <a:t>Bổ sung dung môi từ từ, đo KU đến đích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9DB3AA"/>
                </a:solidFill>
              </a:rPr>
              <a:t>Báo cáo thực tập  ·  Công ty TNHH Sơn Hải Vân</a:t>
            </a:r>
          </a:p>
        </p:txBody>
      </p:sp>
      <p:pic>
        <p:nvPicPr>
          <p:cNvPr id="4" name="Picture 3" descr="deco_mol_whit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0000" y="560000"/>
            <a:ext cx="2300000" cy="2300000"/>
          </a:xfrm>
          <a:prstGeom prst="rect">
            <a:avLst/>
          </a:prstGeom>
        </p:spPr>
      </p:pic>
      <p:pic>
        <p:nvPicPr>
          <p:cNvPr id="5" name="Picture 4" descr="deco_drip_whit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000" y="4650000"/>
            <a:ext cx="950000" cy="127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00000" y="2400000"/>
            <a:ext cx="1250000" cy="12500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000" y="2450000"/>
            <a:ext cx="8600000" cy="5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PHẦN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2980000"/>
            <a:ext cx="9000000" cy="10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</a:rPr>
              <a:t>Kiểm soát chất lượng (KCS)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4. KIỂM SOÁT CHẤT LƯỢNG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Kiểm tra nhanh tại xưởng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21</a:t>
            </a:r>
          </a:p>
        </p:txBody>
      </p:sp>
      <p:sp>
        <p:nvSpPr>
          <p:cNvPr id="10" name="Oval 9"/>
          <p:cNvSpPr/>
          <p:nvPr/>
        </p:nvSpPr>
        <p:spPr>
          <a:xfrm>
            <a:off x="560000" y="1800000"/>
            <a:ext cx="1350000" cy="135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opwatch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000" y="2070000"/>
            <a:ext cx="810000" cy="8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50000" y="1900000"/>
            <a:ext cx="9400000" cy="115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0" i="1">
                <a:solidFill>
                  <a:srgbClr val="34404A"/>
                </a:solidFill>
              </a:rPr>
              <a:t>Theo dõi từng mẻ, cho qua công đoạn — dụng cụ đo nhanh cầm tay.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356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Tỷ trọng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000" y="356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Màu sắc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00" y="421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Độ phủ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000" y="421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Độ mịn (Hegman)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00" y="486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Thời gian khô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000" y="486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Độ nhớt (Stormer)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4. KIỂM SOÁT CHẤT LƯỢNG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Kiểm tra sâu tại phòng 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22</a:t>
            </a:r>
          </a:p>
        </p:txBody>
      </p:sp>
      <p:sp>
        <p:nvSpPr>
          <p:cNvPr id="10" name="Oval 9"/>
          <p:cNvSpPr/>
          <p:nvPr/>
        </p:nvSpPr>
        <p:spPr>
          <a:xfrm>
            <a:off x="560000" y="1800000"/>
            <a:ext cx="1350000" cy="135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icroscope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000" y="2070000"/>
            <a:ext cx="810000" cy="8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50000" y="1900000"/>
            <a:ext cx="9400000" cy="115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0" i="1">
                <a:solidFill>
                  <a:srgbClr val="34404A"/>
                </a:solidFill>
              </a:rPr>
              <a:t>Đánh giá độ bền dài hạn của màng sơn — cơ sở nghiệm thu.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356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Độ bám dính (Pull-off)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000" y="356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Bền uốn · va đập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00" y="421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Độ bóng · hàm rắn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000" y="421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Phun sương muối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00" y="486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Lão hóa UV / QUV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000" y="4860000"/>
            <a:ext cx="5850000" cy="65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400" b="1" i="0">
                <a:solidFill>
                  <a:srgbClr val="2C7A5A"/>
                </a:solidFill>
              </a:rPr>
              <a:t>✔  </a:t>
            </a:r>
            <a:r>
              <a:rPr sz="2400" b="0" i="0">
                <a:solidFill>
                  <a:srgbClr val="14332A"/>
                </a:solidFill>
              </a:rPr>
              <a:t>Đối chiếu TCVN / ASTM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4. KIỂM SOÁT CHẤT LƯỢNG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Sơn tàu biển vs sơn trang trí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23</a:t>
            </a:r>
          </a:p>
        </p:txBody>
      </p:sp>
      <p:pic>
        <p:nvPicPr>
          <p:cNvPr id="10" name="Picture 9" descr="big_radar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347" y="1865000"/>
            <a:ext cx="4125000" cy="440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4. KCS — SƠN TÀU BIỂN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Ba phép thử bắt buộc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0000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30000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8640" y="2060000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dhesion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0640" y="2172000"/>
            <a:ext cx="336000" cy="33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8640" y="2660000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Độ bám dính (Pull-off)</a:t>
            </a:r>
          </a:p>
          <a:p>
            <a:r>
              <a:rPr sz="2400" b="0" i="0">
                <a:solidFill>
                  <a:srgbClr val="34404A"/>
                </a:solidFill>
              </a:rPr>
              <a:t>ISO 4624 / ASTM D4541 — đo bằng MPa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96666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396666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8640" y="3626666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alt_spray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0640" y="3738666"/>
            <a:ext cx="336000" cy="33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640" y="4226666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Phun sương muối 1000 giờ</a:t>
            </a:r>
          </a:p>
          <a:p>
            <a:r>
              <a:rPr sz="2400" b="0" i="0">
                <a:solidFill>
                  <a:srgbClr val="34404A"/>
                </a:solidFill>
              </a:rPr>
              <a:t>NaCl 5% ở 35°C — mô phỏng khí hậu biển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63332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963332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8640" y="5193332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un_uv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0640" y="5305332"/>
            <a:ext cx="336000" cy="33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8640" y="5793332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Lão hóa nhanh QUV</a:t>
            </a:r>
          </a:p>
          <a:p>
            <a:r>
              <a:rPr sz="2400" b="0" i="0">
                <a:solidFill>
                  <a:srgbClr val="34404A"/>
                </a:solidFill>
              </a:rPr>
              <a:t>Chu trình UV-A / UV-B — phấn hóa, phai màu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4. KCS — DỤNG CỤ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Thiết bị kiểm tra tại xưởng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25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260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hesion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400" y="2743400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2000" y="238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Bộ đo bám dính Pull-off</a:t>
            </a:r>
          </a:p>
          <a:p>
            <a:r>
              <a:rPr sz="2400" b="0" i="0">
                <a:solidFill>
                  <a:srgbClr val="34404A"/>
                </a:solidFill>
              </a:rPr>
              <a:t>Đo lực kéo đứt màng sơn (MPa)</a:t>
            </a:r>
          </a:p>
        </p:txBody>
      </p:sp>
      <p:sp>
        <p:nvSpPr>
          <p:cNvPr id="13" name="Oval 12"/>
          <p:cNvSpPr/>
          <p:nvPr/>
        </p:nvSpPr>
        <p:spPr>
          <a:xfrm>
            <a:off x="640000" y="372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uality_check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400" y="3863400"/>
            <a:ext cx="403200" cy="40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2000" y="350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Thước đo độ mịn Hegman</a:t>
            </a:r>
          </a:p>
          <a:p>
            <a:r>
              <a:rPr sz="2400" b="0" i="0">
                <a:solidFill>
                  <a:srgbClr val="34404A"/>
                </a:solidFill>
              </a:rPr>
              <a:t>Kiểm tra độ mịn hạt sau nghiền</a:t>
            </a:r>
          </a:p>
        </p:txBody>
      </p:sp>
      <p:sp>
        <p:nvSpPr>
          <p:cNvPr id="16" name="Oval 15"/>
          <p:cNvSpPr/>
          <p:nvPr/>
        </p:nvSpPr>
        <p:spPr>
          <a:xfrm>
            <a:off x="640000" y="484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icroscope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400" y="4983400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2000" y="462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Thiết bị phòng thí nghiệm</a:t>
            </a:r>
          </a:p>
          <a:p>
            <a:r>
              <a:rPr sz="2400" b="0" i="0">
                <a:solidFill>
                  <a:srgbClr val="34404A"/>
                </a:solidFill>
              </a:rPr>
              <a:t>Đánh giá độ bền dài hạn của màng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9DB3AA"/>
                </a:solidFill>
              </a:rPr>
              <a:t>Báo cáo thực tập  ·  Công ty TNHH Sơn Hải Vân</a:t>
            </a:r>
          </a:p>
        </p:txBody>
      </p:sp>
      <p:pic>
        <p:nvPicPr>
          <p:cNvPr id="4" name="Picture 3" descr="deco_mol_whit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0000" y="560000"/>
            <a:ext cx="2300000" cy="2300000"/>
          </a:xfrm>
          <a:prstGeom prst="rect">
            <a:avLst/>
          </a:prstGeom>
        </p:spPr>
      </p:pic>
      <p:pic>
        <p:nvPicPr>
          <p:cNvPr id="5" name="Picture 4" descr="deco_drip_whit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000" y="4650000"/>
            <a:ext cx="950000" cy="127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00000" y="2400000"/>
            <a:ext cx="1250000" cy="12500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000" y="2450000"/>
            <a:ext cx="8600000" cy="5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PHẦN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2980000"/>
            <a:ext cx="9000000" cy="10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</a:rPr>
              <a:t>Những sự cố thường gặp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5. SỰ CỐ THƯỜNG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Bốn sự cố điển hình (1/2)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0000"/>
            <a:ext cx="11090000" cy="212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30000"/>
            <a:ext cx="80000" cy="2120000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8640" y="2060000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rning_tri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640" y="2172000"/>
            <a:ext cx="336000" cy="33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8640" y="2660000"/>
            <a:ext cx="10630000" cy="114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Sốc nhựa — vón cục, kết tủa</a:t>
            </a:r>
          </a:p>
          <a:p>
            <a:r>
              <a:rPr sz="2400" b="0" i="0">
                <a:solidFill>
                  <a:srgbClr val="34404A"/>
                </a:solidFill>
              </a:rPr>
              <a:t>Nguyên nhân: dung môi mới có chỉ số KB thấp</a:t>
            </a:r>
          </a:p>
          <a:p>
            <a:r>
              <a:rPr sz="2400" b="0" i="0">
                <a:solidFill>
                  <a:srgbClr val="34404A"/>
                </a:solidFill>
              </a:rPr>
              <a:t>Xử lý: châm dung môi phân cực + khuấy nghiền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80000"/>
            <a:ext cx="11090000" cy="212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180000"/>
            <a:ext cx="80000" cy="2120000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8640" y="4410000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arning_tri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640" y="4522000"/>
            <a:ext cx="336000" cy="33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640" y="5010000"/>
            <a:ext cx="10630000" cy="114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Chảy xệ màng khi thi công</a:t>
            </a:r>
          </a:p>
          <a:p>
            <a:r>
              <a:rPr sz="2400" b="0" i="0">
                <a:solidFill>
                  <a:srgbClr val="34404A"/>
                </a:solidFill>
              </a:rPr>
              <a:t>Nguyên nhân: dung môi bay hơi chậm, KB lệch</a:t>
            </a:r>
          </a:p>
          <a:p>
            <a:r>
              <a:rPr sz="2400" b="0" i="0">
                <a:solidFill>
                  <a:srgbClr val="34404A"/>
                </a:solidFill>
              </a:rPr>
              <a:t>Xử lý: hiệu chỉnh hệ dung môi, kiểm độ nhớt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5. SỰ CỐ THƯỜNG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Bốn sự cố điển hình (2/2)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0000"/>
            <a:ext cx="11090000" cy="212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30000"/>
            <a:ext cx="80000" cy="2120000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8640" y="2060000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rning_tri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640" y="2172000"/>
            <a:ext cx="336000" cy="33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8640" y="2660000"/>
            <a:ext cx="10630000" cy="114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Lắng cứng đáy bồn</a:t>
            </a:r>
          </a:p>
          <a:p>
            <a:r>
              <a:rPr sz="2400" b="0" i="0">
                <a:solidFill>
                  <a:srgbClr val="34404A"/>
                </a:solidFill>
              </a:rPr>
              <a:t>Nguyên nhân: độ hút dầu bột mới vượt PVC</a:t>
            </a:r>
          </a:p>
          <a:p>
            <a:r>
              <a:rPr sz="2400" b="0" i="0">
                <a:solidFill>
                  <a:srgbClr val="34404A"/>
                </a:solidFill>
              </a:rPr>
              <a:t>Xử lý: tính lại tỉ lệ, thêm chất chống lắng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80000"/>
            <a:ext cx="11090000" cy="212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180000"/>
            <a:ext cx="80000" cy="2120000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8640" y="4410000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arning_tri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640" y="4522000"/>
            <a:ext cx="336000" cy="33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640" y="5010000"/>
            <a:ext cx="10630000" cy="114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Mất bóng / nứt giòn</a:t>
            </a:r>
          </a:p>
          <a:p>
            <a:r>
              <a:rPr sz="2400" b="0" i="0">
                <a:solidFill>
                  <a:srgbClr val="34404A"/>
                </a:solidFill>
              </a:rPr>
              <a:t>Nguyên nhân: vượt PVC, thiếu nhựa liên kết</a:t>
            </a:r>
          </a:p>
          <a:p>
            <a:r>
              <a:rPr sz="2400" b="0" i="0">
                <a:solidFill>
                  <a:srgbClr val="34404A"/>
                </a:solidFill>
              </a:rPr>
              <a:t>Xử lý: cân đối PVC, tăng chất tạo màng dẻo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5. SỰ CỐ TIÊU ĐIỂM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“Sốc nhựa” khi thay dung môi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29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260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rning_tri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400" y="2743400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2000" y="238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Hiện tượng</a:t>
            </a:r>
          </a:p>
          <a:p>
            <a:r>
              <a:rPr sz="2400" b="0" i="0">
                <a:solidFill>
                  <a:srgbClr val="34404A"/>
                </a:solidFill>
              </a:rPr>
              <a:t>Sơn vón cục, kết tủa; màng chảy xệ khi thi công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00" y="372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olvent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400" y="3863400"/>
            <a:ext cx="403200" cy="40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2000" y="350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Nguyên nhân</a:t>
            </a:r>
          </a:p>
          <a:p>
            <a:r>
              <a:rPr sz="2400" b="0" i="0">
                <a:solidFill>
                  <a:srgbClr val="34404A"/>
                </a:solidFill>
              </a:rPr>
              <a:t>Dung môi mới có chỉ số KB thấp → keo tụ</a:t>
            </a:r>
          </a:p>
        </p:txBody>
      </p:sp>
      <p:sp>
        <p:nvSpPr>
          <p:cNvPr id="16" name="Oval 15"/>
          <p:cNvSpPr/>
          <p:nvPr/>
        </p:nvSpPr>
        <p:spPr>
          <a:xfrm>
            <a:off x="640000" y="484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ear_proc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400" y="4983400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2000" y="462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Xử lý</a:t>
            </a:r>
          </a:p>
          <a:p>
            <a:r>
              <a:rPr sz="2400" b="0" i="0">
                <a:solidFill>
                  <a:srgbClr val="34404A"/>
                </a:solidFill>
              </a:rPr>
              <a:t>Châm Butyl Acetate / Xylene + khuấy nghiền 1200–1500 v/p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9DB3AA"/>
                </a:solidFill>
              </a:rPr>
              <a:t>Báo cáo thực tập  ·  Công ty TNHH Sơn Hải Vân</a:t>
            </a:r>
          </a:p>
        </p:txBody>
      </p:sp>
      <p:pic>
        <p:nvPicPr>
          <p:cNvPr id="4" name="Picture 3" descr="deco_mol_whit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0000" y="560000"/>
            <a:ext cx="2300000" cy="2300000"/>
          </a:xfrm>
          <a:prstGeom prst="rect">
            <a:avLst/>
          </a:prstGeom>
        </p:spPr>
      </p:pic>
      <p:pic>
        <p:nvPicPr>
          <p:cNvPr id="5" name="Picture 4" descr="deco_drip_whit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000" y="4650000"/>
            <a:ext cx="950000" cy="127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00000" y="2400000"/>
            <a:ext cx="1250000" cy="12500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000" y="2450000"/>
            <a:ext cx="8600000" cy="5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PHẦN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2980000"/>
            <a:ext cx="9000000" cy="10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</a:rPr>
              <a:t>An toàn lao động &amp; môi trường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6. AN TOÀN LAO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Cháy nổ &amp; hơi dung môi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0000"/>
            <a:ext cx="11090000" cy="212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0000" y="2390000"/>
            <a:ext cx="1000000" cy="10000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lame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000" y="2590000"/>
            <a:ext cx="600000" cy="6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00000" y="1950000"/>
            <a:ext cx="9200000" cy="188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Cháy nổ dung môi</a:t>
            </a:r>
          </a:p>
          <a:p>
            <a:r>
              <a:rPr sz="2400" b="1" i="0">
                <a:solidFill>
                  <a:srgbClr val="C88A2E"/>
                </a:solidFill>
              </a:rPr>
              <a:t>Nguy cơ: </a:t>
            </a:r>
            <a:r>
              <a:rPr sz="2400" b="0" i="0">
                <a:solidFill>
                  <a:srgbClr val="34404A"/>
                </a:solidFill>
              </a:rPr>
              <a:t>dung môi hữu cơ dễ bay hơi, bắt lửa</a:t>
            </a:r>
          </a:p>
          <a:p>
            <a:r>
              <a:rPr sz="2400" b="1" i="0">
                <a:solidFill>
                  <a:srgbClr val="2C7A5A"/>
                </a:solidFill>
              </a:rPr>
              <a:t>Biện pháp: </a:t>
            </a:r>
            <a:r>
              <a:rPr sz="2400" b="0" i="0">
                <a:solidFill>
                  <a:srgbClr val="34404A"/>
                </a:solidFill>
              </a:rPr>
              <a:t>chống tĩnh điện, thiết bị phòng nổ, PCCC tại chỗ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80000"/>
            <a:ext cx="11090000" cy="212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0000" y="4740000"/>
            <a:ext cx="1000000" cy="10000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asmask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000" y="4940000"/>
            <a:ext cx="600000" cy="60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00000" y="4300000"/>
            <a:ext cx="9200000" cy="188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Hơi dung môi độc hại</a:t>
            </a:r>
          </a:p>
          <a:p>
            <a:r>
              <a:rPr sz="2400" b="1" i="0">
                <a:solidFill>
                  <a:srgbClr val="C88A2E"/>
                </a:solidFill>
              </a:rPr>
              <a:t>Nguy cơ: </a:t>
            </a:r>
            <a:r>
              <a:rPr sz="2400" b="0" i="0">
                <a:solidFill>
                  <a:srgbClr val="34404A"/>
                </a:solidFill>
              </a:rPr>
              <a:t>hít VOC hại hô hấp, thần kinh</a:t>
            </a:r>
          </a:p>
          <a:p>
            <a:r>
              <a:rPr sz="2400" b="1" i="0">
                <a:solidFill>
                  <a:srgbClr val="2C7A5A"/>
                </a:solidFill>
              </a:rPr>
              <a:t>Biện pháp: </a:t>
            </a:r>
            <a:r>
              <a:rPr sz="2400" b="0" i="0">
                <a:solidFill>
                  <a:srgbClr val="34404A"/>
                </a:solidFill>
              </a:rPr>
              <a:t>thông gió cưỡng bức, mặt nạ, quan trắc không khí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6. AN TOÀN LAO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Hóa chất, bụi &amp; an toàn cơ khí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0000"/>
            <a:ext cx="11090000" cy="212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0000" y="2390000"/>
            <a:ext cx="1000000" cy="10000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mical_glove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0000" y="2590000"/>
            <a:ext cx="600000" cy="6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00000" y="1950000"/>
            <a:ext cx="9200000" cy="188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Hóa chất &amp; bột màu</a:t>
            </a:r>
          </a:p>
          <a:p>
            <a:r>
              <a:rPr sz="2400" b="1" i="0">
                <a:solidFill>
                  <a:srgbClr val="C88A2E"/>
                </a:solidFill>
              </a:rPr>
              <a:t>Nguy cơ: </a:t>
            </a:r>
            <a:r>
              <a:rPr sz="2400" b="0" i="0">
                <a:solidFill>
                  <a:srgbClr val="34404A"/>
                </a:solidFill>
              </a:rPr>
              <a:t>tiếp xúc da/mắt, bụi bột vô cơ</a:t>
            </a:r>
          </a:p>
          <a:p>
            <a:r>
              <a:rPr sz="2400" b="1" i="0">
                <a:solidFill>
                  <a:srgbClr val="2C7A5A"/>
                </a:solidFill>
              </a:rPr>
              <a:t>Biện pháp: </a:t>
            </a:r>
            <a:r>
              <a:rPr sz="2400" b="0" i="0">
                <a:solidFill>
                  <a:srgbClr val="34404A"/>
                </a:solidFill>
              </a:rPr>
              <a:t>PPE đầy đủ, vòi rửa mắt, nhãn &amp; MSDS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80000"/>
            <a:ext cx="11090000" cy="2120000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0000" y="4740000"/>
            <a:ext cx="1000000" cy="10000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ear_proc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000" y="4940000"/>
            <a:ext cx="600000" cy="60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00000" y="4300000"/>
            <a:ext cx="9200000" cy="188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Cơ khí — máy khuấy / nghiền</a:t>
            </a:r>
          </a:p>
          <a:p>
            <a:r>
              <a:rPr sz="2400" b="1" i="0">
                <a:solidFill>
                  <a:srgbClr val="C88A2E"/>
                </a:solidFill>
              </a:rPr>
              <a:t>Nguy cơ: </a:t>
            </a:r>
            <a:r>
              <a:rPr sz="2400" b="0" i="0">
                <a:solidFill>
                  <a:srgbClr val="34404A"/>
                </a:solidFill>
              </a:rPr>
              <a:t>cuốn kẹt, văng bắn tốc độ cao</a:t>
            </a:r>
          </a:p>
          <a:p>
            <a:r>
              <a:rPr sz="2400" b="1" i="0">
                <a:solidFill>
                  <a:srgbClr val="2C7A5A"/>
                </a:solidFill>
              </a:rPr>
              <a:t>Biện pháp: </a:t>
            </a:r>
            <a:r>
              <a:rPr sz="2400" b="0" i="0">
                <a:solidFill>
                  <a:srgbClr val="34404A"/>
                </a:solidFill>
              </a:rPr>
              <a:t>che chắn, nút dừng khẩn, quy trình LOTO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6. VẤN ĐỀ MÔI TRƯỜNG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Kiểm soát chất thải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0000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30000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8640" y="2060000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moke_air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0640" y="2172000"/>
            <a:ext cx="336000" cy="33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8640" y="2660000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Khí thải — hơi VOC</a:t>
            </a:r>
          </a:p>
          <a:p>
            <a:r>
              <a:rPr sz="2400" b="0" i="0">
                <a:solidFill>
                  <a:srgbClr val="34404A"/>
                </a:solidFill>
              </a:rPr>
              <a:t>Thu qua chụp hút → than hoạt tính / buồng đốt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96666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396666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8640" y="3626666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ater_waste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0640" y="3738666"/>
            <a:ext cx="336000" cy="33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640" y="4226666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Nước thải &amp; dung môi</a:t>
            </a:r>
          </a:p>
          <a:p>
            <a:r>
              <a:rPr sz="2400" b="0" i="0">
                <a:solidFill>
                  <a:srgbClr val="34404A"/>
                </a:solidFill>
              </a:rPr>
              <a:t>Lắng tách cặn, thu hồi dung môi tái chưng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63332"/>
            <a:ext cx="11090000" cy="1336666"/>
          </a:xfrm>
          <a:prstGeom prst="round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963332"/>
            <a:ext cx="80000" cy="1336666"/>
          </a:xfrm>
          <a:prstGeom prst="round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8640" y="5193332"/>
            <a:ext cx="560000" cy="56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olid_waste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0640" y="5305332"/>
            <a:ext cx="336000" cy="33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8640" y="5793332"/>
            <a:ext cx="10630000" cy="356666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Chất thải rắn</a:t>
            </a:r>
          </a:p>
          <a:p>
            <a:r>
              <a:rPr sz="2400" b="0" i="0">
                <a:solidFill>
                  <a:srgbClr val="34404A"/>
                </a:solidFill>
              </a:rPr>
              <a:t>Phân loại tại nguồn, hợp đồng đơn vị xử lý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0000"/>
            <a:ext cx="720000" cy="720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0000" y="430000"/>
            <a:ext cx="9200000" cy="3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1" i="0">
                <a:solidFill>
                  <a:srgbClr val="C88A2E"/>
                </a:solidFill>
              </a:rPr>
              <a:t>KẾT LUẬN &amp; KIẾN NGHỊ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0000" y="850000"/>
            <a:ext cx="10250000" cy="7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300" b="1" i="0">
                <a:solidFill>
                  <a:srgbClr val="1F4E3D"/>
                </a:solidFill>
              </a:rPr>
              <a:t>Tổng kết đợt thực tập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5000" y="1560000"/>
            <a:ext cx="900000" cy="55000"/>
          </a:xfrm>
          <a:prstGeom prst="round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o_mol_pal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0000" y="470000"/>
            <a:ext cx="760000" cy="7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6E7F77"/>
                </a:solidFill>
              </a:rPr>
              <a:t>Báo cáo thực tập  ·  Công ty TNHH Sơn Hải Vân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0000" y="6485000"/>
            <a:ext cx="7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1" i="0">
                <a:solidFill>
                  <a:srgbClr val="6E7F77"/>
                </a:solidFill>
              </a:rPr>
              <a:t>34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260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rad_check_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400" y="2743400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2000" y="238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Kết quả đạt được</a:t>
            </a:r>
          </a:p>
          <a:p>
            <a:r>
              <a:rPr sz="2400" b="0" i="0">
                <a:solidFill>
                  <a:srgbClr val="34404A"/>
                </a:solidFill>
              </a:rPr>
              <a:t>Nắm quy trình sản xuất, hệ QC &amp; vận hành thiết bị</a:t>
            </a:r>
          </a:p>
        </p:txBody>
      </p:sp>
      <p:sp>
        <p:nvSpPr>
          <p:cNvPr id="13" name="Oval 12"/>
          <p:cNvSpPr/>
          <p:nvPr/>
        </p:nvSpPr>
        <p:spPr>
          <a:xfrm>
            <a:off x="640000" y="372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lette_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2:svgBlip xmlns:ns2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400" y="3863400"/>
            <a:ext cx="403200" cy="40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2000" y="350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Kiến nghị 1 — Số hóa màu sắc</a:t>
            </a:r>
          </a:p>
          <a:p>
            <a:r>
              <a:rPr sz="2400" b="0" i="0">
                <a:solidFill>
                  <a:srgbClr val="34404A"/>
                </a:solidFill>
              </a:rPr>
              <a:t>Thư viện màu chuẩn điện tử, giảm sai lệch mẻ</a:t>
            </a:r>
          </a:p>
        </p:txBody>
      </p:sp>
      <p:sp>
        <p:nvSpPr>
          <p:cNvPr id="16" name="Oval 15"/>
          <p:cNvSpPr/>
          <p:nvPr/>
        </p:nvSpPr>
        <p:spPr>
          <a:xfrm>
            <a:off x="640000" y="4849000"/>
            <a:ext cx="672000" cy="67200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r_code_w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400" y="4983400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2000" y="4625000"/>
            <a:ext cx="9800000" cy="11200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500" b="1" i="0">
                <a:solidFill>
                  <a:srgbClr val="1F4E3D"/>
                </a:solidFill>
              </a:rPr>
              <a:t>Kiến nghị 2 — Truy xuất nguồn gốc</a:t>
            </a:r>
          </a:p>
          <a:p>
            <a:r>
              <a:rPr sz="2400" b="0" i="0">
                <a:solidFill>
                  <a:srgbClr val="34404A"/>
                </a:solidFill>
              </a:rPr>
              <a:t>QR / Barcode từng mẻ, liên kết dữ liệu đo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85000"/>
            <a:ext cx="8200000" cy="3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9DB3AA"/>
                </a:solidFill>
              </a:rPr>
              <a:t>Báo cáo thực tập  ·  Công ty TNHH Sơn Hải Vân</a:t>
            </a:r>
          </a:p>
        </p:txBody>
      </p:sp>
      <p:pic>
        <p:nvPicPr>
          <p:cNvPr id="4" name="Picture 3" descr="deco_mol_whit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50000" y="560000"/>
            <a:ext cx="2400000" cy="2400000"/>
          </a:xfrm>
          <a:prstGeom prst="rect">
            <a:avLst/>
          </a:prstGeom>
        </p:spPr>
      </p:pic>
      <p:pic>
        <p:nvPicPr>
          <p:cNvPr id="5" name="Picture 4" descr="deco_drip_whit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000" y="4900000"/>
            <a:ext cx="1000000" cy="133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0000" y="2650000"/>
            <a:ext cx="10400000" cy="10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</a:rPr>
              <a:t>Xin chân thành cảm ơn!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750000"/>
            <a:ext cx="10400000" cy="70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0" i="0">
                <a:solidFill>
                  <a:srgbClr val="CFE2D8"/>
                </a:solidFill>
              </a:rPr>
              <a:t>Cảm ơn quý thầy cô và Công ty TNHH Sơn Hải Vân đã hướng dẫn.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