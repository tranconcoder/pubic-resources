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  <Default Extension="svg" ContentType="image/svg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image" Target="../media/ic_brush_amber.svg"/><Relationship Id="rId8" Type="http://schemas.openxmlformats.org/officeDocument/2006/relationships/image" Target="../media/ic_hex_pale.svg"/><Relationship Id="rId9" Type="http://schemas.openxmlformats.org/officeDocument/2006/relationships/image" Target="../media/ic_swash_pale.sv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7.png"/><Relationship Id="rId4" Type="http://schemas.openxmlformats.org/officeDocument/2006/relationships/image" Target="../media/ic_deco_mol_white.svg"/><Relationship Id="rId5" Type="http://schemas.openxmlformats.org/officeDocument/2006/relationships/image" Target="../media/ic_divbg.sv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5.png"/><Relationship Id="rId5" Type="http://schemas.openxmlformats.org/officeDocument/2006/relationships/image" Target="../media/image8.png"/><Relationship Id="rId6" Type="http://schemas.openxmlformats.org/officeDocument/2006/relationships/image" Target="../media/image9.png"/><Relationship Id="rId7" Type="http://schemas.openxmlformats.org/officeDocument/2006/relationships/image" Target="../media/image10.png"/><Relationship Id="rId8" Type="http://schemas.openxmlformats.org/officeDocument/2006/relationships/image" Target="../media/image11.png"/><Relationship Id="rId9" Type="http://schemas.openxmlformats.org/officeDocument/2006/relationships/image" Target="../media/image12.png"/><Relationship Id="rId10" Type="http://schemas.openxmlformats.org/officeDocument/2006/relationships/image" Target="../media/image13.png"/><Relationship Id="rId11" Type="http://schemas.openxmlformats.org/officeDocument/2006/relationships/image" Target="../media/ic_brush_amber.svg"/><Relationship Id="rId12" Type="http://schemas.openxmlformats.org/officeDocument/2006/relationships/image" Target="../media/ic_company_w.svg"/><Relationship Id="rId13" Type="http://schemas.openxmlformats.org/officeDocument/2006/relationships/image" Target="../media/ic_gear_proc_w.svg"/><Relationship Id="rId14" Type="http://schemas.openxmlformats.org/officeDocument/2006/relationships/image" Target="../media/ic_hex_pale.svg"/><Relationship Id="rId15" Type="http://schemas.openxmlformats.org/officeDocument/2006/relationships/image" Target="../media/ic_materials_w.svg"/><Relationship Id="rId16" Type="http://schemas.openxmlformats.org/officeDocument/2006/relationships/image" Target="../media/ic_quality_check_w.svg"/><Relationship Id="rId17" Type="http://schemas.openxmlformats.org/officeDocument/2006/relationships/image" Target="../media/ic_safety_shield_w.svg"/><Relationship Id="rId18" Type="http://schemas.openxmlformats.org/officeDocument/2006/relationships/image" Target="../media/ic_swash_pale.svg"/><Relationship Id="rId19" Type="http://schemas.openxmlformats.org/officeDocument/2006/relationships/image" Target="../media/ic_warning_tri_w.sv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8.png"/><Relationship Id="rId4" Type="http://schemas.openxmlformats.org/officeDocument/2006/relationships/image" Target="../media/ic_company_w.svg"/><Relationship Id="rId5" Type="http://schemas.openxmlformats.org/officeDocument/2006/relationships/image" Target="../media/ic_divbg.sv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5.png"/><Relationship Id="rId5" Type="http://schemas.openxmlformats.org/officeDocument/2006/relationships/image" Target="../media/image14.png"/><Relationship Id="rId6" Type="http://schemas.openxmlformats.org/officeDocument/2006/relationships/image" Target="../media/image15.png"/><Relationship Id="rId7" Type="http://schemas.openxmlformats.org/officeDocument/2006/relationships/image" Target="../media/image16.png"/><Relationship Id="rId8" Type="http://schemas.openxmlformats.org/officeDocument/2006/relationships/image" Target="../media/image17.png"/><Relationship Id="rId9" Type="http://schemas.openxmlformats.org/officeDocument/2006/relationships/image" Target="../media/ic_brush_amber.svg"/><Relationship Id="rId10" Type="http://schemas.openxmlformats.org/officeDocument/2006/relationships/image" Target="../media/ic_factory_w.svg"/><Relationship Id="rId11" Type="http://schemas.openxmlformats.org/officeDocument/2006/relationships/image" Target="../media/ic_hex_pale.svg"/><Relationship Id="rId12" Type="http://schemas.openxmlformats.org/officeDocument/2006/relationships/image" Target="../media/ic_history_clock_w.svg"/><Relationship Id="rId13" Type="http://schemas.openxmlformats.org/officeDocument/2006/relationships/image" Target="../media/ic_paint_can_w.svg"/><Relationship Id="rId14" Type="http://schemas.openxmlformats.org/officeDocument/2006/relationships/image" Target="../media/ic_swash_pale.svg"/><Relationship Id="rId15" Type="http://schemas.openxmlformats.org/officeDocument/2006/relationships/image" Target="../media/ic_target_w.sv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5.png"/><Relationship Id="rId5" Type="http://schemas.openxmlformats.org/officeDocument/2006/relationships/image" Target="../media/image18.png"/><Relationship Id="rId6" Type="http://schemas.openxmlformats.org/officeDocument/2006/relationships/image" Target="../media/ic_big_timeline.svg"/><Relationship Id="rId7" Type="http://schemas.openxmlformats.org/officeDocument/2006/relationships/image" Target="../media/ic_brush_amber.svg"/><Relationship Id="rId8" Type="http://schemas.openxmlformats.org/officeDocument/2006/relationships/image" Target="../media/ic_hex_pale.svg"/><Relationship Id="rId9" Type="http://schemas.openxmlformats.org/officeDocument/2006/relationships/image" Target="../media/ic_swash_pale.sv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5.png"/><Relationship Id="rId5" Type="http://schemas.openxmlformats.org/officeDocument/2006/relationships/image" Target="../media/image16.png"/><Relationship Id="rId6" Type="http://schemas.openxmlformats.org/officeDocument/2006/relationships/image" Target="../media/image14.png"/><Relationship Id="rId7" Type="http://schemas.openxmlformats.org/officeDocument/2006/relationships/image" Target="../media/image8.png"/><Relationship Id="rId8" Type="http://schemas.openxmlformats.org/officeDocument/2006/relationships/image" Target="../media/image9.png"/><Relationship Id="rId9" Type="http://schemas.openxmlformats.org/officeDocument/2006/relationships/image" Target="../media/ic_brush_amber.svg"/><Relationship Id="rId10" Type="http://schemas.openxmlformats.org/officeDocument/2006/relationships/image" Target="../media/ic_company_w.svg"/><Relationship Id="rId11" Type="http://schemas.openxmlformats.org/officeDocument/2006/relationships/image" Target="../media/ic_factory_w.svg"/><Relationship Id="rId12" Type="http://schemas.openxmlformats.org/officeDocument/2006/relationships/image" Target="../media/ic_hex_pale.svg"/><Relationship Id="rId13" Type="http://schemas.openxmlformats.org/officeDocument/2006/relationships/image" Target="../media/ic_materials_w.svg"/><Relationship Id="rId14" Type="http://schemas.openxmlformats.org/officeDocument/2006/relationships/image" Target="../media/ic_swash_pale.svg"/><Relationship Id="rId15" Type="http://schemas.openxmlformats.org/officeDocument/2006/relationships/image" Target="../media/ic_target_w.sv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9.png"/><Relationship Id="rId4" Type="http://schemas.openxmlformats.org/officeDocument/2006/relationships/image" Target="../media/ic_divbg.svg"/><Relationship Id="rId5" Type="http://schemas.openxmlformats.org/officeDocument/2006/relationships/image" Target="../media/ic_materials_w.sv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5.png"/><Relationship Id="rId5" Type="http://schemas.openxmlformats.org/officeDocument/2006/relationships/image" Target="../media/image19.png"/><Relationship Id="rId6" Type="http://schemas.openxmlformats.org/officeDocument/2006/relationships/image" Target="../media/ic_big_materials.svg"/><Relationship Id="rId7" Type="http://schemas.openxmlformats.org/officeDocument/2006/relationships/image" Target="../media/ic_brush_amber.svg"/><Relationship Id="rId8" Type="http://schemas.openxmlformats.org/officeDocument/2006/relationships/image" Target="../media/ic_hex_pale.svg"/><Relationship Id="rId9" Type="http://schemas.openxmlformats.org/officeDocument/2006/relationships/image" Target="../media/ic_swash_pale.sv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5.png"/><Relationship Id="rId5" Type="http://schemas.openxmlformats.org/officeDocument/2006/relationships/image" Target="../media/image20.png"/><Relationship Id="rId6" Type="http://schemas.openxmlformats.org/officeDocument/2006/relationships/image" Target="../media/ic_big_doughnut.svg"/><Relationship Id="rId7" Type="http://schemas.openxmlformats.org/officeDocument/2006/relationships/image" Target="../media/ic_brush_amber.svg"/><Relationship Id="rId8" Type="http://schemas.openxmlformats.org/officeDocument/2006/relationships/image" Target="../media/ic_hex_pale.svg"/><Relationship Id="rId9" Type="http://schemas.openxmlformats.org/officeDocument/2006/relationships/image" Target="../media/ic_swash_pale.sv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5.png"/><Relationship Id="rId5" Type="http://schemas.openxmlformats.org/officeDocument/2006/relationships/image" Target="../media/image21.png"/><Relationship Id="rId6" Type="http://schemas.openxmlformats.org/officeDocument/2006/relationships/image" Target="../media/image22.png"/><Relationship Id="rId7" Type="http://schemas.openxmlformats.org/officeDocument/2006/relationships/image" Target="../media/image23.png"/><Relationship Id="rId8" Type="http://schemas.openxmlformats.org/officeDocument/2006/relationships/image" Target="../media/ic_brush_amber.svg"/><Relationship Id="rId9" Type="http://schemas.openxmlformats.org/officeDocument/2006/relationships/image" Target="../media/ic_chart8_beo.svg"/><Relationship Id="rId10" Type="http://schemas.openxmlformats.org/officeDocument/2006/relationships/image" Target="../media/ic_chart8_gay.svg"/><Relationship Id="rId11" Type="http://schemas.openxmlformats.org/officeDocument/2006/relationships/image" Target="../media/ic_chart8_trung.svg"/><Relationship Id="rId12" Type="http://schemas.openxmlformats.org/officeDocument/2006/relationships/image" Target="../media/ic_hex_pale.svg"/><Relationship Id="rId13" Type="http://schemas.openxmlformats.org/officeDocument/2006/relationships/image" Target="../media/ic_swash_pale.sv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5.png"/><Relationship Id="rId5" Type="http://schemas.openxmlformats.org/officeDocument/2006/relationships/image" Target="../media/image24.jpg"/><Relationship Id="rId6" Type="http://schemas.openxmlformats.org/officeDocument/2006/relationships/image" Target="../media/ic_brush_amber.svg"/><Relationship Id="rId7" Type="http://schemas.openxmlformats.org/officeDocument/2006/relationships/image" Target="../media/ic_hex_pale.svg"/><Relationship Id="rId8" Type="http://schemas.openxmlformats.org/officeDocument/2006/relationships/image" Target="../media/ic_swash_pale.sv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10.png"/><Relationship Id="rId4" Type="http://schemas.openxmlformats.org/officeDocument/2006/relationships/image" Target="../media/ic_divbg.svg"/><Relationship Id="rId5" Type="http://schemas.openxmlformats.org/officeDocument/2006/relationships/image" Target="../media/ic_gear_proc_w.sv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5.png"/><Relationship Id="rId5" Type="http://schemas.openxmlformats.org/officeDocument/2006/relationships/image" Target="../media/image25.png"/><Relationship Id="rId6" Type="http://schemas.openxmlformats.org/officeDocument/2006/relationships/image" Target="../media/image26.png"/><Relationship Id="rId7" Type="http://schemas.openxmlformats.org/officeDocument/2006/relationships/image" Target="../media/image27.png"/><Relationship Id="rId8" Type="http://schemas.openxmlformats.org/officeDocument/2006/relationships/image" Target="../media/image28.png"/><Relationship Id="rId9" Type="http://schemas.openxmlformats.org/officeDocument/2006/relationships/image" Target="../media/image29.png"/><Relationship Id="rId10" Type="http://schemas.openxmlformats.org/officeDocument/2006/relationships/image" Target="../media/image30.png"/><Relationship Id="rId11" Type="http://schemas.openxmlformats.org/officeDocument/2006/relationships/image" Target="../media/ic_brush_amber.svg"/><Relationship Id="rId12" Type="http://schemas.openxmlformats.org/officeDocument/2006/relationships/image" Target="../media/ic_danh_paste_w.svg"/><Relationship Id="rId13" Type="http://schemas.openxmlformats.org/officeDocument/2006/relationships/image" Target="../media/ic_dinh_luong_w.svg"/><Relationship Id="rId14" Type="http://schemas.openxmlformats.org/officeDocument/2006/relationships/image" Target="../media/ic_hex_pale.svg"/><Relationship Id="rId15" Type="http://schemas.openxmlformats.org/officeDocument/2006/relationships/image" Target="../media/ic_loc_donggoi_w.svg"/><Relationship Id="rId16" Type="http://schemas.openxmlformats.org/officeDocument/2006/relationships/image" Target="../media/ic_ngam_u_w.svg"/><Relationship Id="rId17" Type="http://schemas.openxmlformats.org/officeDocument/2006/relationships/image" Target="../media/ic_nghien_min_w.svg"/><Relationship Id="rId18" Type="http://schemas.openxmlformats.org/officeDocument/2006/relationships/image" Target="../media/ic_pha_loang_w.svg"/><Relationship Id="rId19" Type="http://schemas.openxmlformats.org/officeDocument/2006/relationships/image" Target="../media/ic_swash_pale.sv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5.png"/><Relationship Id="rId5" Type="http://schemas.openxmlformats.org/officeDocument/2006/relationships/image" Target="../media/image31.png"/><Relationship Id="rId6" Type="http://schemas.openxmlformats.org/officeDocument/2006/relationships/image" Target="../media/ic_big_flow.svg"/><Relationship Id="rId7" Type="http://schemas.openxmlformats.org/officeDocument/2006/relationships/image" Target="../media/ic_brush_amber.svg"/><Relationship Id="rId8" Type="http://schemas.openxmlformats.org/officeDocument/2006/relationships/image" Target="../media/ic_hex_pale.svg"/><Relationship Id="rId9" Type="http://schemas.openxmlformats.org/officeDocument/2006/relationships/image" Target="../media/ic_swash_pale.sv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5.png"/><Relationship Id="rId5" Type="http://schemas.openxmlformats.org/officeDocument/2006/relationships/image" Target="../media/image32.png"/><Relationship Id="rId6" Type="http://schemas.openxmlformats.org/officeDocument/2006/relationships/image" Target="../media/ic_big_columns.svg"/><Relationship Id="rId7" Type="http://schemas.openxmlformats.org/officeDocument/2006/relationships/image" Target="../media/ic_brush_amber.svg"/><Relationship Id="rId8" Type="http://schemas.openxmlformats.org/officeDocument/2006/relationships/image" Target="../media/ic_hex_pale.svg"/><Relationship Id="rId9" Type="http://schemas.openxmlformats.org/officeDocument/2006/relationships/image" Target="../media/ic_swash_pale.sv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5.png"/><Relationship Id="rId5" Type="http://schemas.openxmlformats.org/officeDocument/2006/relationships/image" Target="../media/image25.png"/><Relationship Id="rId6" Type="http://schemas.openxmlformats.org/officeDocument/2006/relationships/image" Target="../media/image26.png"/><Relationship Id="rId7" Type="http://schemas.openxmlformats.org/officeDocument/2006/relationships/image" Target="../media/image27.png"/><Relationship Id="rId8" Type="http://schemas.openxmlformats.org/officeDocument/2006/relationships/image" Target="../media/ic_brush_amber.svg"/><Relationship Id="rId9" Type="http://schemas.openxmlformats.org/officeDocument/2006/relationships/image" Target="../media/ic_danh_paste_w.svg"/><Relationship Id="rId10" Type="http://schemas.openxmlformats.org/officeDocument/2006/relationships/image" Target="../media/ic_dinh_luong_w.svg"/><Relationship Id="rId11" Type="http://schemas.openxmlformats.org/officeDocument/2006/relationships/image" Target="../media/ic_hex_pale.svg"/><Relationship Id="rId12" Type="http://schemas.openxmlformats.org/officeDocument/2006/relationships/image" Target="../media/ic_nghien_min_w.svg"/><Relationship Id="rId13" Type="http://schemas.openxmlformats.org/officeDocument/2006/relationships/image" Target="../media/ic_swash_pale.sv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5.png"/><Relationship Id="rId5" Type="http://schemas.openxmlformats.org/officeDocument/2006/relationships/image" Target="../media/image28.png"/><Relationship Id="rId6" Type="http://schemas.openxmlformats.org/officeDocument/2006/relationships/image" Target="../media/image29.png"/><Relationship Id="rId7" Type="http://schemas.openxmlformats.org/officeDocument/2006/relationships/image" Target="../media/image30.png"/><Relationship Id="rId8" Type="http://schemas.openxmlformats.org/officeDocument/2006/relationships/image" Target="../media/ic_brush_amber.svg"/><Relationship Id="rId9" Type="http://schemas.openxmlformats.org/officeDocument/2006/relationships/image" Target="../media/ic_hex_pale.svg"/><Relationship Id="rId10" Type="http://schemas.openxmlformats.org/officeDocument/2006/relationships/image" Target="../media/ic_loc_donggoi_w.svg"/><Relationship Id="rId11" Type="http://schemas.openxmlformats.org/officeDocument/2006/relationships/image" Target="../media/ic_ngam_u_w.svg"/><Relationship Id="rId12" Type="http://schemas.openxmlformats.org/officeDocument/2006/relationships/image" Target="../media/ic_pha_loang_w.svg"/><Relationship Id="rId13" Type="http://schemas.openxmlformats.org/officeDocument/2006/relationships/image" Target="../media/ic_swash_pale.sv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5.png"/><Relationship Id="rId5" Type="http://schemas.openxmlformats.org/officeDocument/2006/relationships/image" Target="../media/image33.jpg"/><Relationship Id="rId6" Type="http://schemas.openxmlformats.org/officeDocument/2006/relationships/image" Target="../media/ic_brush_amber.svg"/><Relationship Id="rId7" Type="http://schemas.openxmlformats.org/officeDocument/2006/relationships/image" Target="../media/ic_hex_pale.svg"/><Relationship Id="rId8" Type="http://schemas.openxmlformats.org/officeDocument/2006/relationships/image" Target="../media/ic_swash_pale.sv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5.png"/><Relationship Id="rId5" Type="http://schemas.openxmlformats.org/officeDocument/2006/relationships/image" Target="../media/image34.jpg"/><Relationship Id="rId6" Type="http://schemas.openxmlformats.org/officeDocument/2006/relationships/image" Target="../media/ic_brush_amber.svg"/><Relationship Id="rId7" Type="http://schemas.openxmlformats.org/officeDocument/2006/relationships/image" Target="../media/ic_hex_pale.svg"/><Relationship Id="rId8" Type="http://schemas.openxmlformats.org/officeDocument/2006/relationships/image" Target="../media/ic_swash_pale.sv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5.png"/><Relationship Id="rId5" Type="http://schemas.openxmlformats.org/officeDocument/2006/relationships/image" Target="../media/image35.jpg"/><Relationship Id="rId6" Type="http://schemas.openxmlformats.org/officeDocument/2006/relationships/image" Target="../media/ic_brush_amber.svg"/><Relationship Id="rId7" Type="http://schemas.openxmlformats.org/officeDocument/2006/relationships/image" Target="../media/ic_hex_pale.svg"/><Relationship Id="rId8" Type="http://schemas.openxmlformats.org/officeDocument/2006/relationships/image" Target="../media/ic_swash_pale.sv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11.png"/><Relationship Id="rId4" Type="http://schemas.openxmlformats.org/officeDocument/2006/relationships/image" Target="../media/ic_divbg.svg"/><Relationship Id="rId5" Type="http://schemas.openxmlformats.org/officeDocument/2006/relationships/image" Target="../media/ic_quality_check_w.sv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5.png"/><Relationship Id="rId5" Type="http://schemas.openxmlformats.org/officeDocument/2006/relationships/image" Target="../media/image36.png"/><Relationship Id="rId6" Type="http://schemas.openxmlformats.org/officeDocument/2006/relationships/image" Target="../media/ic_big_qc_shop.svg"/><Relationship Id="rId7" Type="http://schemas.openxmlformats.org/officeDocument/2006/relationships/image" Target="../media/ic_brush_amber.svg"/><Relationship Id="rId8" Type="http://schemas.openxmlformats.org/officeDocument/2006/relationships/image" Target="../media/ic_hex_pale.svg"/><Relationship Id="rId9" Type="http://schemas.openxmlformats.org/officeDocument/2006/relationships/image" Target="../media/ic_swash_pale.sv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5.png"/><Relationship Id="rId5" Type="http://schemas.openxmlformats.org/officeDocument/2006/relationships/image" Target="../media/image37.png"/><Relationship Id="rId6" Type="http://schemas.openxmlformats.org/officeDocument/2006/relationships/image" Target="../media/ic_big_qc_lab.svg"/><Relationship Id="rId7" Type="http://schemas.openxmlformats.org/officeDocument/2006/relationships/image" Target="../media/ic_brush_amber.svg"/><Relationship Id="rId8" Type="http://schemas.openxmlformats.org/officeDocument/2006/relationships/image" Target="../media/ic_hex_pale.svg"/><Relationship Id="rId9" Type="http://schemas.openxmlformats.org/officeDocument/2006/relationships/image" Target="../media/ic_swash_pale.sv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5.png"/><Relationship Id="rId5" Type="http://schemas.openxmlformats.org/officeDocument/2006/relationships/image" Target="../media/image38.png"/><Relationship Id="rId6" Type="http://schemas.openxmlformats.org/officeDocument/2006/relationships/image" Target="../media/ic_big_radar.svg"/><Relationship Id="rId7" Type="http://schemas.openxmlformats.org/officeDocument/2006/relationships/image" Target="../media/ic_brush_amber.svg"/><Relationship Id="rId8" Type="http://schemas.openxmlformats.org/officeDocument/2006/relationships/image" Target="../media/ic_hex_pale.svg"/><Relationship Id="rId9" Type="http://schemas.openxmlformats.org/officeDocument/2006/relationships/image" Target="../media/ic_swash_pale.sv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5.png"/><Relationship Id="rId5" Type="http://schemas.openxmlformats.org/officeDocument/2006/relationships/image" Target="../media/image39.png"/><Relationship Id="rId6" Type="http://schemas.openxmlformats.org/officeDocument/2006/relationships/image" Target="../media/image40.png"/><Relationship Id="rId7" Type="http://schemas.openxmlformats.org/officeDocument/2006/relationships/image" Target="../media/image41.png"/><Relationship Id="rId8" Type="http://schemas.openxmlformats.org/officeDocument/2006/relationships/image" Target="../media/ic_adhesion_w.svg"/><Relationship Id="rId9" Type="http://schemas.openxmlformats.org/officeDocument/2006/relationships/image" Target="../media/ic_brush_amber.svg"/><Relationship Id="rId10" Type="http://schemas.openxmlformats.org/officeDocument/2006/relationships/image" Target="../media/ic_hex_pale.svg"/><Relationship Id="rId11" Type="http://schemas.openxmlformats.org/officeDocument/2006/relationships/image" Target="../media/ic_salt_spray_w.svg"/><Relationship Id="rId12" Type="http://schemas.openxmlformats.org/officeDocument/2006/relationships/image" Target="../media/ic_sun_uv_w.svg"/><Relationship Id="rId13" Type="http://schemas.openxmlformats.org/officeDocument/2006/relationships/image" Target="../media/ic_swash_pale.sv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5.png"/><Relationship Id="rId5" Type="http://schemas.openxmlformats.org/officeDocument/2006/relationships/image" Target="../media/image39.png"/><Relationship Id="rId6" Type="http://schemas.openxmlformats.org/officeDocument/2006/relationships/image" Target="../media/image11.png"/><Relationship Id="rId7" Type="http://schemas.openxmlformats.org/officeDocument/2006/relationships/image" Target="../media/image42.png"/><Relationship Id="rId8" Type="http://schemas.openxmlformats.org/officeDocument/2006/relationships/image" Target="../media/image9.png"/><Relationship Id="rId9" Type="http://schemas.openxmlformats.org/officeDocument/2006/relationships/image" Target="../media/ic_adhesion_w.svg"/><Relationship Id="rId10" Type="http://schemas.openxmlformats.org/officeDocument/2006/relationships/image" Target="../media/ic_brush_amber.svg"/><Relationship Id="rId11" Type="http://schemas.openxmlformats.org/officeDocument/2006/relationships/image" Target="../media/ic_hex_pale.svg"/><Relationship Id="rId12" Type="http://schemas.openxmlformats.org/officeDocument/2006/relationships/image" Target="../media/ic_materials_w.svg"/><Relationship Id="rId13" Type="http://schemas.openxmlformats.org/officeDocument/2006/relationships/image" Target="../media/ic_microscope_w.svg"/><Relationship Id="rId14" Type="http://schemas.openxmlformats.org/officeDocument/2006/relationships/image" Target="../media/ic_quality_check_w.svg"/><Relationship Id="rId15" Type="http://schemas.openxmlformats.org/officeDocument/2006/relationships/image" Target="../media/ic_swash_pale.sv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12.png"/><Relationship Id="rId4" Type="http://schemas.openxmlformats.org/officeDocument/2006/relationships/image" Target="../media/ic_divbg.svg"/><Relationship Id="rId5" Type="http://schemas.openxmlformats.org/officeDocument/2006/relationships/image" Target="../media/ic_warning_tri_w.sv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5.png"/><Relationship Id="rId5" Type="http://schemas.openxmlformats.org/officeDocument/2006/relationships/image" Target="../media/image12.png"/><Relationship Id="rId6" Type="http://schemas.openxmlformats.org/officeDocument/2006/relationships/image" Target="../media/ic_brush_amber.svg"/><Relationship Id="rId7" Type="http://schemas.openxmlformats.org/officeDocument/2006/relationships/image" Target="../media/ic_hex_pale.svg"/><Relationship Id="rId8" Type="http://schemas.openxmlformats.org/officeDocument/2006/relationships/image" Target="../media/ic_swash_pale.svg"/><Relationship Id="rId9" Type="http://schemas.openxmlformats.org/officeDocument/2006/relationships/image" Target="../media/ic_warning_tri_w.sv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5.png"/><Relationship Id="rId5" Type="http://schemas.openxmlformats.org/officeDocument/2006/relationships/image" Target="../media/image12.png"/><Relationship Id="rId6" Type="http://schemas.openxmlformats.org/officeDocument/2006/relationships/image" Target="../media/ic_brush_amber.svg"/><Relationship Id="rId7" Type="http://schemas.openxmlformats.org/officeDocument/2006/relationships/image" Target="../media/ic_hex_pale.svg"/><Relationship Id="rId8" Type="http://schemas.openxmlformats.org/officeDocument/2006/relationships/image" Target="../media/ic_swash_pale.svg"/><Relationship Id="rId9" Type="http://schemas.openxmlformats.org/officeDocument/2006/relationships/image" Target="../media/ic_warning_tri_w.sv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5.png"/><Relationship Id="rId5" Type="http://schemas.openxmlformats.org/officeDocument/2006/relationships/image" Target="../media/image12.png"/><Relationship Id="rId6" Type="http://schemas.openxmlformats.org/officeDocument/2006/relationships/image" Target="../media/image43.png"/><Relationship Id="rId7" Type="http://schemas.openxmlformats.org/officeDocument/2006/relationships/image" Target="../media/image10.png"/><Relationship Id="rId8" Type="http://schemas.openxmlformats.org/officeDocument/2006/relationships/image" Target="../media/ic_brush_amber.svg"/><Relationship Id="rId9" Type="http://schemas.openxmlformats.org/officeDocument/2006/relationships/image" Target="../media/ic_gear_proc_w.svg"/><Relationship Id="rId10" Type="http://schemas.openxmlformats.org/officeDocument/2006/relationships/image" Target="../media/ic_hex_pale.svg"/><Relationship Id="rId11" Type="http://schemas.openxmlformats.org/officeDocument/2006/relationships/image" Target="../media/ic_solvent_w.svg"/><Relationship Id="rId12" Type="http://schemas.openxmlformats.org/officeDocument/2006/relationships/image" Target="../media/ic_swash_pale.svg"/><Relationship Id="rId13" Type="http://schemas.openxmlformats.org/officeDocument/2006/relationships/image" Target="../media/ic_warning_tri_w.sv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13.png"/><Relationship Id="rId4" Type="http://schemas.openxmlformats.org/officeDocument/2006/relationships/image" Target="../media/ic_divbg.svg"/><Relationship Id="rId5" Type="http://schemas.openxmlformats.org/officeDocument/2006/relationships/image" Target="../media/ic_safety_shield_w.sv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5.png"/><Relationship Id="rId5" Type="http://schemas.openxmlformats.org/officeDocument/2006/relationships/image" Target="../media/image44.png"/><Relationship Id="rId6" Type="http://schemas.openxmlformats.org/officeDocument/2006/relationships/image" Target="../media/image45.png"/><Relationship Id="rId7" Type="http://schemas.openxmlformats.org/officeDocument/2006/relationships/image" Target="../media/image46.jpg"/><Relationship Id="rId8" Type="http://schemas.openxmlformats.org/officeDocument/2006/relationships/image" Target="../media/ic_brush_amber.svg"/><Relationship Id="rId9" Type="http://schemas.openxmlformats.org/officeDocument/2006/relationships/image" Target="../media/ic_flame_w.svg"/><Relationship Id="rId10" Type="http://schemas.openxmlformats.org/officeDocument/2006/relationships/image" Target="../media/ic_gasmask_w.svg"/><Relationship Id="rId11" Type="http://schemas.openxmlformats.org/officeDocument/2006/relationships/image" Target="../media/ic_hex_pale.svg"/><Relationship Id="rId12" Type="http://schemas.openxmlformats.org/officeDocument/2006/relationships/image" Target="../media/ic_swash_pale.sv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5.png"/><Relationship Id="rId5" Type="http://schemas.openxmlformats.org/officeDocument/2006/relationships/image" Target="../media/image47.png"/><Relationship Id="rId6" Type="http://schemas.openxmlformats.org/officeDocument/2006/relationships/image" Target="../media/image10.png"/><Relationship Id="rId7" Type="http://schemas.openxmlformats.org/officeDocument/2006/relationships/image" Target="../media/ic_brush_amber.svg"/><Relationship Id="rId8" Type="http://schemas.openxmlformats.org/officeDocument/2006/relationships/image" Target="../media/ic_chemical_glove_w.svg"/><Relationship Id="rId9" Type="http://schemas.openxmlformats.org/officeDocument/2006/relationships/image" Target="../media/ic_gear_proc_w.svg"/><Relationship Id="rId10" Type="http://schemas.openxmlformats.org/officeDocument/2006/relationships/image" Target="../media/ic_hex_pale.svg"/><Relationship Id="rId11" Type="http://schemas.openxmlformats.org/officeDocument/2006/relationships/image" Target="../media/ic_swash_pale.sv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5.png"/><Relationship Id="rId5" Type="http://schemas.openxmlformats.org/officeDocument/2006/relationships/image" Target="../media/image48.jpg"/><Relationship Id="rId6" Type="http://schemas.openxmlformats.org/officeDocument/2006/relationships/image" Target="../media/image49.png"/><Relationship Id="rId7" Type="http://schemas.openxmlformats.org/officeDocument/2006/relationships/image" Target="../media/image50.png"/><Relationship Id="rId8" Type="http://schemas.openxmlformats.org/officeDocument/2006/relationships/image" Target="../media/image51.png"/><Relationship Id="rId9" Type="http://schemas.openxmlformats.org/officeDocument/2006/relationships/image" Target="../media/ic_brush_amber.svg"/><Relationship Id="rId10" Type="http://schemas.openxmlformats.org/officeDocument/2006/relationships/image" Target="../media/ic_hex_pale.svg"/><Relationship Id="rId11" Type="http://schemas.openxmlformats.org/officeDocument/2006/relationships/image" Target="../media/ic_smoke_air_w.svg"/><Relationship Id="rId12" Type="http://schemas.openxmlformats.org/officeDocument/2006/relationships/image" Target="../media/ic_solid_waste_w.svg"/><Relationship Id="rId13" Type="http://schemas.openxmlformats.org/officeDocument/2006/relationships/image" Target="../media/ic_swash_pale.svg"/><Relationship Id="rId14" Type="http://schemas.openxmlformats.org/officeDocument/2006/relationships/image" Target="../media/ic_water_waste_w.sv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5.png"/><Relationship Id="rId5" Type="http://schemas.openxmlformats.org/officeDocument/2006/relationships/image" Target="../media/image52.png"/><Relationship Id="rId6" Type="http://schemas.openxmlformats.org/officeDocument/2006/relationships/image" Target="../media/image53.png"/><Relationship Id="rId7" Type="http://schemas.openxmlformats.org/officeDocument/2006/relationships/image" Target="../media/image54.png"/><Relationship Id="rId8" Type="http://schemas.openxmlformats.org/officeDocument/2006/relationships/image" Target="../media/ic_brush_amber.svg"/><Relationship Id="rId9" Type="http://schemas.openxmlformats.org/officeDocument/2006/relationships/image" Target="../media/ic_grad_check_w.svg"/><Relationship Id="rId10" Type="http://schemas.openxmlformats.org/officeDocument/2006/relationships/image" Target="../media/ic_hex_pale.svg"/><Relationship Id="rId11" Type="http://schemas.openxmlformats.org/officeDocument/2006/relationships/image" Target="../media/ic_palette_w.svg"/><Relationship Id="rId12" Type="http://schemas.openxmlformats.org/officeDocument/2006/relationships/image" Target="../media/ic_qr_code_w.svg"/><Relationship Id="rId13" Type="http://schemas.openxmlformats.org/officeDocument/2006/relationships/image" Target="../media/ic_swash_pale.sv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7.png"/><Relationship Id="rId4" Type="http://schemas.openxmlformats.org/officeDocument/2006/relationships/image" Target="../media/ic_deco_mol_white.svg"/><Relationship Id="rId5" Type="http://schemas.openxmlformats.org/officeDocument/2006/relationships/image" Target="../media/ic_divbg.sv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hex_pale.png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0:svgBlip xmlns:ns0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0141695" y="-450000"/>
            <a:ext cx="2600000" cy="2600000"/>
          </a:xfrm>
          <a:prstGeom prst="rect">
            <a:avLst/>
          </a:prstGeom>
        </p:spPr>
      </p:pic>
      <p:pic>
        <p:nvPicPr>
          <p:cNvPr id="4" name="Picture 3" descr="swash_pale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ns1:svgBlip xmlns:ns1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8991695" y="5358000"/>
            <a:ext cx="3300000" cy="173000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0" y="0"/>
            <a:ext cx="4600000" cy="6858000"/>
          </a:xfrm>
          <a:prstGeom prst="rect">
            <a:avLst/>
          </a:prstGeom>
          <a:solidFill>
            <a:srgbClr val="1F4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600000" y="0"/>
            <a:ext cx="70000" cy="6858000"/>
          </a:xfrm>
          <a:prstGeom prst="rect">
            <a:avLst/>
          </a:prstGeom>
          <a:solidFill>
            <a:srgbClr val="C8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50000" y="620000"/>
            <a:ext cx="3300000" cy="11500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iuh_log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75000" y="789000"/>
            <a:ext cx="2850000" cy="81225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300000" y="1990000"/>
            <a:ext cx="4000000" cy="98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</a:rPr>
              <a:t>TRƯỜNG ĐẠI HỌC CÔNG NGHIỆP</a:t>
            </a:r>
          </a:p>
          <a:p>
            <a:pPr algn="ctr"/>
            <a:r>
              <a:rPr sz="1600" b="1" i="0">
                <a:solidFill>
                  <a:srgbClr val="FFFFFF"/>
                </a:solidFill>
              </a:rPr>
              <a:t>TP. HỒ CHÍ MINH</a:t>
            </a:r>
          </a:p>
          <a:p>
            <a:pPr algn="ctr"/>
            <a:r>
              <a:rPr sz="1400" b="1" i="0">
                <a:solidFill>
                  <a:srgbClr val="CFE2D8"/>
                </a:solidFill>
              </a:rPr>
              <a:t>KHOA CÔNG NGHỆ HÓA HỌC</a:t>
            </a:r>
          </a:p>
        </p:txBody>
      </p:sp>
      <p:sp>
        <p:nvSpPr>
          <p:cNvPr id="10" name="Rectangle 9"/>
          <p:cNvSpPr/>
          <p:nvPr/>
        </p:nvSpPr>
        <p:spPr>
          <a:xfrm>
            <a:off x="1850000" y="3080000"/>
            <a:ext cx="900000" cy="24000"/>
          </a:xfrm>
          <a:prstGeom prst="rect">
            <a:avLst/>
          </a:prstGeom>
          <a:solidFill>
            <a:srgbClr val="C8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00000" y="3200000"/>
            <a:ext cx="4000000" cy="32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pPr algn="ctr"/>
            <a:r>
              <a:rPr sz="1300" b="1" i="0">
                <a:solidFill>
                  <a:srgbClr val="CFE2D8"/>
                </a:solidFill>
              </a:rPr>
              <a:t>ĐƠN VỊ THỰC TẬP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50000" y="3560000"/>
            <a:ext cx="3300000" cy="10000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shv_logo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00000" y="3667000"/>
            <a:ext cx="2400000" cy="78600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300000" y="4680000"/>
            <a:ext cx="4000000" cy="35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</a:rPr>
              <a:t>Công ty TNHH Sơn Hải Vân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00000" y="6260000"/>
            <a:ext cx="4000000" cy="32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pPr algn="ctr"/>
            <a:r>
              <a:rPr sz="1300" b="0" i="1">
                <a:solidFill>
                  <a:srgbClr val="CFE2D8"/>
                </a:solidFill>
              </a:rPr>
              <a:t>TP. Hồ Chí Minh — 2026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150000" y="1150000"/>
            <a:ext cx="6300000" cy="40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1700" b="1" i="0">
                <a:solidFill>
                  <a:srgbClr val="C88A2E"/>
                </a:solidFill>
              </a:rPr>
              <a:t>BÁO CÁO THỰC TẬP TỐT NGHIỆP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150000" y="1620000"/>
            <a:ext cx="6500000" cy="150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3100" b="1" i="0">
                <a:solidFill>
                  <a:srgbClr val="1F4E3D"/>
                </a:solidFill>
              </a:rPr>
              <a:t>Quy trình sản xuất &amp;</a:t>
            </a:r>
          </a:p>
          <a:p>
            <a:r>
              <a:rPr sz="3100" b="1" i="0">
                <a:solidFill>
                  <a:srgbClr val="1F4E3D"/>
                </a:solidFill>
              </a:rPr>
              <a:t>kiểm soát chất lượng sơn</a:t>
            </a:r>
          </a:p>
        </p:txBody>
      </p:sp>
      <p:pic>
        <p:nvPicPr>
          <p:cNvPr id="18" name="Picture 17" descr="brush_amber.png"/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ns2:svgBlip xmlns:ns2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5190000" y="3170000"/>
            <a:ext cx="1500000" cy="281000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5150000" y="3620000"/>
            <a:ext cx="6300000" cy="42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2100" b="1" i="0">
                <a:solidFill>
                  <a:srgbClr val="2C7A5A"/>
                </a:solidFill>
              </a:rPr>
              <a:t>tại Công ty TNHH Sơn Hải Vân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150000" y="4430000"/>
            <a:ext cx="50000" cy="1360000"/>
          </a:xfrm>
          <a:prstGeom prst="rect">
            <a:avLst/>
          </a:prstGeom>
          <a:solidFill>
            <a:srgbClr val="C8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410000" y="4430000"/>
            <a:ext cx="6200000" cy="145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1600" b="1" i="0">
                <a:solidFill>
                  <a:srgbClr val="1F4E3D"/>
                </a:solidFill>
              </a:rPr>
              <a:t>GVHD:  </a:t>
            </a:r>
            <a:r>
              <a:rPr sz="1600" b="0" i="0">
                <a:solidFill>
                  <a:srgbClr val="14332A"/>
                </a:solidFill>
              </a:rPr>
              <a:t>Lê Nhất Thống</a:t>
            </a:r>
          </a:p>
          <a:p>
            <a:r>
              <a:rPr sz="1600" b="1" i="0">
                <a:solidFill>
                  <a:srgbClr val="1F4E3D"/>
                </a:solidFill>
              </a:rPr>
              <a:t>CBHD:  </a:t>
            </a:r>
            <a:r>
              <a:rPr sz="1600" b="0" i="0">
                <a:solidFill>
                  <a:srgbClr val="14332A"/>
                </a:solidFill>
              </a:rPr>
              <a:t>Lê Quốc</a:t>
            </a:r>
          </a:p>
          <a:p>
            <a:r>
              <a:rPr sz="1600" b="1" i="0">
                <a:solidFill>
                  <a:srgbClr val="1F4E3D"/>
                </a:solidFill>
              </a:rPr>
              <a:t>Thực hiện:  </a:t>
            </a:r>
            <a:r>
              <a:rPr sz="1600" b="0" i="0">
                <a:solidFill>
                  <a:srgbClr val="14332A"/>
                </a:solidFill>
              </a:rPr>
              <a:t>Nhóm 8 SV thực tập · Lớp DHHO18A–D</a:t>
            </a:r>
          </a:p>
          <a:p>
            <a:r>
              <a:rPr sz="1600" b="1" i="0">
                <a:solidFill>
                  <a:srgbClr val="1F4E3D"/>
                </a:solidFill>
              </a:rPr>
              <a:t>Năm học:  </a:t>
            </a:r>
            <a:r>
              <a:rPr sz="1600" b="0" i="0">
                <a:solidFill>
                  <a:srgbClr val="14332A"/>
                </a:solidFill>
              </a:rPr>
              <a:t>2025–2026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4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divbg.png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0:svgBlip xmlns:ns0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6485000"/>
            <a:ext cx="8200000" cy="30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1100" b="0" i="0">
                <a:solidFill>
                  <a:srgbClr val="9DB3AA"/>
                </a:solidFill>
              </a:rPr>
              <a:t>Báo cáo thực tập  ·  Công ty TNHH Sơn Hải Vân</a:t>
            </a:r>
          </a:p>
        </p:txBody>
      </p:sp>
      <p:pic>
        <p:nvPicPr>
          <p:cNvPr id="5" name="Picture 4" descr="deco_mol_white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ns1:svgBlip xmlns:ns1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450000" y="560000"/>
            <a:ext cx="2500000" cy="2500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900000" y="1250000"/>
            <a:ext cx="10600000" cy="52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2000" b="1" i="0">
                <a:solidFill>
                  <a:srgbClr val="CFE2D8"/>
                </a:solidFill>
              </a:rPr>
              <a:t>TRƯỜNG ĐH CÔNG NGHIỆP TP. HCM  ·  KHOA CNHH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00000" y="2000000"/>
            <a:ext cx="10500000" cy="170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4300" b="1" i="0">
                <a:solidFill>
                  <a:srgbClr val="FFFFFF"/>
                </a:solidFill>
              </a:rPr>
              <a:t>Quy trình sản xuất &amp;</a:t>
            </a:r>
          </a:p>
          <a:p>
            <a:r>
              <a:rPr sz="4300" b="1" i="0">
                <a:solidFill>
                  <a:srgbClr val="FFFFFF"/>
                </a:solidFill>
              </a:rPr>
              <a:t>kiểm soát chất lượng sơn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00000" y="3820000"/>
            <a:ext cx="10400000" cy="52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2800" b="1" i="0">
                <a:solidFill>
                  <a:srgbClr val="C88A2E"/>
                </a:solidFill>
              </a:rPr>
              <a:t>tại Công ty TNHH Sơn Hải Vân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00000" y="5150000"/>
            <a:ext cx="10500000" cy="100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2000" b="0" i="0">
                <a:solidFill>
                  <a:srgbClr val="CFE2D8"/>
                </a:solidFill>
              </a:rPr>
              <a:t>Nhóm 8 SV thực tập  ·  Lớp DHHO18A–D  ·  2025–2026</a:t>
            </a:r>
          </a:p>
          <a:p>
            <a:r>
              <a:rPr sz="2000" b="0" i="0">
                <a:solidFill>
                  <a:srgbClr val="CFE2D8"/>
                </a:solidFill>
              </a:rPr>
              <a:t>GVHD: Lê Nhất Thống    ·    CBHD: Lê Quốc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hex_pale.png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0:svgBlip xmlns:ns0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10600000" y="-260000"/>
            <a:ext cx="2100000" cy="2100000"/>
          </a:xfrm>
          <a:prstGeom prst="rect">
            <a:avLst/>
          </a:prstGeom>
        </p:spPr>
      </p:pic>
      <p:pic>
        <p:nvPicPr>
          <p:cNvPr id="4" name="Picture 3" descr="swash_pale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ns1:svgBlip xmlns:ns1="http://schemas.microsoft.com/office/drawing/2016/SVG/main" r:embed="rId18"/>
              </a:ext>
            </a:extLst>
          </a:blip>
          <a:stretch>
            <a:fillRect/>
          </a:stretch>
        </p:blipFill>
        <p:spPr>
          <a:xfrm>
            <a:off x="9550000" y="5150000"/>
            <a:ext cx="2500000" cy="1300000"/>
          </a:xfrm>
          <a:prstGeom prst="rect">
            <a:avLst/>
          </a:prstGeom>
        </p:spPr>
      </p:pic>
      <p:sp>
        <p:nvSpPr>
          <p:cNvPr id="5" name="Oval 4"/>
          <p:cNvSpPr/>
          <p:nvPr/>
        </p:nvSpPr>
        <p:spPr>
          <a:xfrm>
            <a:off x="548640" y="470000"/>
            <a:ext cx="720000" cy="720000"/>
          </a:xfrm>
          <a:prstGeom prst="ellipse">
            <a:avLst/>
          </a:prstGeom>
          <a:solidFill>
            <a:srgbClr val="1F4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762000" y="690000"/>
            <a:ext cx="66000" cy="660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72000" y="700000"/>
            <a:ext cx="300000" cy="460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762000" y="830000"/>
            <a:ext cx="66000" cy="660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872000" y="840000"/>
            <a:ext cx="300000" cy="460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762000" y="970000"/>
            <a:ext cx="66000" cy="660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872000" y="980000"/>
            <a:ext cx="300000" cy="460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430000" y="430000"/>
            <a:ext cx="9000000" cy="38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2000" b="1" i="0">
                <a:solidFill>
                  <a:srgbClr val="C88A2E"/>
                </a:solidFill>
              </a:rPr>
              <a:t>NỘI DUNG BÁO CÁO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30000" y="850000"/>
            <a:ext cx="9800000" cy="78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3300" b="1" i="0">
                <a:solidFill>
                  <a:srgbClr val="1F4E3D"/>
                </a:solidFill>
              </a:rPr>
              <a:t>Báo cáo gồm 6 phần</a:t>
            </a:r>
          </a:p>
        </p:txBody>
      </p:sp>
      <p:pic>
        <p:nvPicPr>
          <p:cNvPr id="14" name="Picture 13" descr="brush_amber.png"/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ns2:svgBlip xmlns:ns2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1430000" y="1500000"/>
            <a:ext cx="1200000" cy="225000"/>
          </a:xfrm>
          <a:prstGeom prst="rect">
            <a:avLst/>
          </a:prstGeom>
        </p:spPr>
      </p:pic>
      <p:sp>
        <p:nvSpPr>
          <p:cNvPr id="15" name="Rectangle 14"/>
          <p:cNvSpPr/>
          <p:nvPr/>
        </p:nvSpPr>
        <p:spPr>
          <a:xfrm>
            <a:off x="548640" y="6430000"/>
            <a:ext cx="11090000" cy="9000"/>
          </a:xfrm>
          <a:prstGeom prst="rect">
            <a:avLst/>
          </a:prstGeom>
          <a:solidFill>
            <a:srgbClr val="DCE7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48640" y="6485000"/>
            <a:ext cx="8200000" cy="30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1100" b="0" i="0">
                <a:solidFill>
                  <a:srgbClr val="6E7F77"/>
                </a:solidFill>
              </a:rPr>
              <a:t>Báo cáo thực tập  ·  Công ty TNHH Sơn Hải Vân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250000" y="6485000"/>
            <a:ext cx="700000" cy="30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pPr algn="r"/>
            <a:r>
              <a:rPr sz="1200" b="1" i="0">
                <a:solidFill>
                  <a:srgbClr val="6E7F77"/>
                </a:solidFill>
              </a:rPr>
              <a:t>3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1830000"/>
            <a:ext cx="3510000" cy="2100000"/>
          </a:xfrm>
          <a:prstGeom prst="roundRect">
            <a:avLst/>
          </a:prstGeom>
          <a:solidFill>
            <a:srgbClr val="EE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548640" y="1830000"/>
            <a:ext cx="3510000" cy="70000"/>
          </a:xfrm>
          <a:prstGeom prst="roundRect">
            <a:avLst/>
          </a:prstGeom>
          <a:solidFill>
            <a:srgbClr val="2C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893640" y="2060000"/>
            <a:ext cx="820000" cy="820000"/>
          </a:xfrm>
          <a:prstGeom prst="ellipse">
            <a:avLst/>
          </a:prstGeom>
          <a:solidFill>
            <a:srgbClr val="1F4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1" name="Picture 20" descr="company_w.png"/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ns3:svgBlip xmlns:ns3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2057640" y="2224000"/>
            <a:ext cx="492000" cy="492000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668640" y="2940000"/>
            <a:ext cx="3270000" cy="920000"/>
          </a:xfrm>
          <a:prstGeom prst="rect">
            <a:avLst/>
          </a:prstGeom>
          <a:noFill/>
        </p:spPr>
        <p:txBody>
          <a:bodyPr wrap="square" lIns="50000" rIns="50000" tIns="20000" bIns="20000" anchor="t">
            <a:spAutoFit/>
          </a:bodyPr>
          <a:lstStyle/>
          <a:p>
            <a:pPr algn="ctr"/>
            <a:r>
              <a:rPr sz="2000" b="1" i="0">
                <a:solidFill>
                  <a:srgbClr val="1F4E3D"/>
                </a:solidFill>
              </a:rPr>
              <a:t>Tổng quan về công ty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338640" y="1830000"/>
            <a:ext cx="3510000" cy="2100000"/>
          </a:xfrm>
          <a:prstGeom prst="roundRect">
            <a:avLst/>
          </a:prstGeom>
          <a:solidFill>
            <a:srgbClr val="EE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4338640" y="1830000"/>
            <a:ext cx="3510000" cy="70000"/>
          </a:xfrm>
          <a:prstGeom prst="roundRect">
            <a:avLst/>
          </a:prstGeom>
          <a:solidFill>
            <a:srgbClr val="2C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5683640" y="2060000"/>
            <a:ext cx="820000" cy="820000"/>
          </a:xfrm>
          <a:prstGeom prst="ellipse">
            <a:avLst/>
          </a:prstGeom>
          <a:solidFill>
            <a:srgbClr val="1F4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6" name="Picture 25" descr="materials_w.png"/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ns4:svgBlip xmlns:ns4="http://schemas.microsoft.com/office/drawing/2016/SVG/main" r:embed="rId15"/>
              </a:ext>
            </a:extLst>
          </a:blip>
          <a:stretch>
            <a:fillRect/>
          </a:stretch>
        </p:blipFill>
        <p:spPr>
          <a:xfrm>
            <a:off x="5847640" y="2224000"/>
            <a:ext cx="492000" cy="492000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4458640" y="2940000"/>
            <a:ext cx="3270000" cy="920000"/>
          </a:xfrm>
          <a:prstGeom prst="rect">
            <a:avLst/>
          </a:prstGeom>
          <a:noFill/>
        </p:spPr>
        <p:txBody>
          <a:bodyPr wrap="square" lIns="50000" rIns="50000" tIns="20000" bIns="20000" anchor="t">
            <a:spAutoFit/>
          </a:bodyPr>
          <a:lstStyle/>
          <a:p>
            <a:pPr algn="ctr"/>
            <a:r>
              <a:rPr sz="2000" b="1" i="0">
                <a:solidFill>
                  <a:srgbClr val="1F4E3D"/>
                </a:solidFill>
              </a:rPr>
              <a:t>Nguyên vật liệu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128640" y="1830000"/>
            <a:ext cx="3510000" cy="2100000"/>
          </a:xfrm>
          <a:prstGeom prst="roundRect">
            <a:avLst/>
          </a:prstGeom>
          <a:solidFill>
            <a:srgbClr val="EE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8128640" y="1830000"/>
            <a:ext cx="3510000" cy="70000"/>
          </a:xfrm>
          <a:prstGeom prst="roundRect">
            <a:avLst/>
          </a:prstGeom>
          <a:solidFill>
            <a:srgbClr val="2C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9473640" y="2060000"/>
            <a:ext cx="820000" cy="820000"/>
          </a:xfrm>
          <a:prstGeom prst="ellipse">
            <a:avLst/>
          </a:prstGeom>
          <a:solidFill>
            <a:srgbClr val="1F4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1" name="Picture 30" descr="gear_proc_w.png"/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ns5:svgBlip xmlns:ns5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9637640" y="2224000"/>
            <a:ext cx="492000" cy="492000"/>
          </a:xfrm>
          <a:prstGeom prst="rect">
            <a:avLst/>
          </a:prstGeom>
        </p:spPr>
      </p:pic>
      <p:sp>
        <p:nvSpPr>
          <p:cNvPr id="32" name="TextBox 31"/>
          <p:cNvSpPr txBox="1"/>
          <p:nvPr/>
        </p:nvSpPr>
        <p:spPr>
          <a:xfrm>
            <a:off x="8248640" y="2940000"/>
            <a:ext cx="3270000" cy="920000"/>
          </a:xfrm>
          <a:prstGeom prst="rect">
            <a:avLst/>
          </a:prstGeom>
          <a:noFill/>
        </p:spPr>
        <p:txBody>
          <a:bodyPr wrap="square" lIns="50000" rIns="50000" tIns="20000" bIns="20000" anchor="t">
            <a:spAutoFit/>
          </a:bodyPr>
          <a:lstStyle/>
          <a:p>
            <a:pPr algn="ctr"/>
            <a:r>
              <a:rPr sz="2000" b="1" i="0">
                <a:solidFill>
                  <a:srgbClr val="1F4E3D"/>
                </a:solidFill>
              </a:rPr>
              <a:t>Quy trình công nghệ &amp; thiết bị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548640" y="4200000"/>
            <a:ext cx="3510000" cy="2100000"/>
          </a:xfrm>
          <a:prstGeom prst="roundRect">
            <a:avLst/>
          </a:prstGeom>
          <a:solidFill>
            <a:srgbClr val="EE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548640" y="4200000"/>
            <a:ext cx="3510000" cy="70000"/>
          </a:xfrm>
          <a:prstGeom prst="roundRect">
            <a:avLst/>
          </a:prstGeom>
          <a:solidFill>
            <a:srgbClr val="2C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1893640" y="4430000"/>
            <a:ext cx="820000" cy="820000"/>
          </a:xfrm>
          <a:prstGeom prst="ellipse">
            <a:avLst/>
          </a:prstGeom>
          <a:solidFill>
            <a:srgbClr val="1F4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6" name="Picture 35" descr="quality_check_w.png"/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ns6:svgBlip xmlns:ns6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2057640" y="4594000"/>
            <a:ext cx="492000" cy="492000"/>
          </a:xfrm>
          <a:prstGeom prst="rect">
            <a:avLst/>
          </a:prstGeom>
        </p:spPr>
      </p:pic>
      <p:sp>
        <p:nvSpPr>
          <p:cNvPr id="37" name="TextBox 36"/>
          <p:cNvSpPr txBox="1"/>
          <p:nvPr/>
        </p:nvSpPr>
        <p:spPr>
          <a:xfrm>
            <a:off x="668640" y="5310000"/>
            <a:ext cx="3270000" cy="920000"/>
          </a:xfrm>
          <a:prstGeom prst="rect">
            <a:avLst/>
          </a:prstGeom>
          <a:noFill/>
        </p:spPr>
        <p:txBody>
          <a:bodyPr wrap="square" lIns="50000" rIns="50000" tIns="20000" bIns="20000" anchor="t">
            <a:spAutoFit/>
          </a:bodyPr>
          <a:lstStyle/>
          <a:p>
            <a:pPr algn="ctr"/>
            <a:r>
              <a:rPr sz="2000" b="1" i="0">
                <a:solidFill>
                  <a:srgbClr val="1F4E3D"/>
                </a:solidFill>
              </a:rPr>
              <a:t>Kiểm soát chất lượng (KCS)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4338640" y="4200000"/>
            <a:ext cx="3510000" cy="2100000"/>
          </a:xfrm>
          <a:prstGeom prst="roundRect">
            <a:avLst/>
          </a:prstGeom>
          <a:solidFill>
            <a:srgbClr val="EE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ounded Rectangle 38"/>
          <p:cNvSpPr/>
          <p:nvPr/>
        </p:nvSpPr>
        <p:spPr>
          <a:xfrm>
            <a:off x="4338640" y="4200000"/>
            <a:ext cx="3510000" cy="70000"/>
          </a:xfrm>
          <a:prstGeom prst="roundRect">
            <a:avLst/>
          </a:prstGeom>
          <a:solidFill>
            <a:srgbClr val="2C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5683640" y="4430000"/>
            <a:ext cx="820000" cy="820000"/>
          </a:xfrm>
          <a:prstGeom prst="ellipse">
            <a:avLst/>
          </a:prstGeom>
          <a:solidFill>
            <a:srgbClr val="1F4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1" name="Picture 40" descr="warning_tri_w.png"/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ns7:svgBlip xmlns:ns7="http://schemas.microsoft.com/office/drawing/2016/SVG/main" r:embed="rId19"/>
              </a:ext>
            </a:extLst>
          </a:blip>
          <a:stretch>
            <a:fillRect/>
          </a:stretch>
        </p:blipFill>
        <p:spPr>
          <a:xfrm>
            <a:off x="5847640" y="4594000"/>
            <a:ext cx="492000" cy="492000"/>
          </a:xfrm>
          <a:prstGeom prst="rect">
            <a:avLst/>
          </a:prstGeom>
        </p:spPr>
      </p:pic>
      <p:sp>
        <p:nvSpPr>
          <p:cNvPr id="42" name="TextBox 41"/>
          <p:cNvSpPr txBox="1"/>
          <p:nvPr/>
        </p:nvSpPr>
        <p:spPr>
          <a:xfrm>
            <a:off x="4458640" y="5310000"/>
            <a:ext cx="3270000" cy="920000"/>
          </a:xfrm>
          <a:prstGeom prst="rect">
            <a:avLst/>
          </a:prstGeom>
          <a:noFill/>
        </p:spPr>
        <p:txBody>
          <a:bodyPr wrap="square" lIns="50000" rIns="50000" tIns="20000" bIns="20000" anchor="t">
            <a:spAutoFit/>
          </a:bodyPr>
          <a:lstStyle/>
          <a:p>
            <a:pPr algn="ctr"/>
            <a:r>
              <a:rPr sz="2000" b="1" i="0">
                <a:solidFill>
                  <a:srgbClr val="1F4E3D"/>
                </a:solidFill>
              </a:rPr>
              <a:t>Những sự cố thường gặp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8128640" y="4200000"/>
            <a:ext cx="3510000" cy="2100000"/>
          </a:xfrm>
          <a:prstGeom prst="roundRect">
            <a:avLst/>
          </a:prstGeom>
          <a:solidFill>
            <a:srgbClr val="EE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ounded Rectangle 43"/>
          <p:cNvSpPr/>
          <p:nvPr/>
        </p:nvSpPr>
        <p:spPr>
          <a:xfrm>
            <a:off x="8128640" y="4200000"/>
            <a:ext cx="3510000" cy="70000"/>
          </a:xfrm>
          <a:prstGeom prst="roundRect">
            <a:avLst/>
          </a:prstGeom>
          <a:solidFill>
            <a:srgbClr val="2C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9473640" y="4430000"/>
            <a:ext cx="820000" cy="820000"/>
          </a:xfrm>
          <a:prstGeom prst="ellipse">
            <a:avLst/>
          </a:prstGeom>
          <a:solidFill>
            <a:srgbClr val="1F4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6" name="Picture 45" descr="safety_shield_w.png"/>
          <p:cNvPicPr>
            <a:picLocks noChangeAspect="1"/>
          </p:cNvPicPr>
          <p:nvPr/>
        </p:nvPicPr>
        <p:blipFill>
          <a:blip r:embed="rId10">
            <a:extLst>
              <a:ext uri="{96DAC541-7B7A-43D3-8B79-37D633B846F1}">
                <ns8:svgBlip xmlns:ns8="http://schemas.microsoft.com/office/drawing/2016/SVG/main" r:embed="rId17"/>
              </a:ext>
            </a:extLst>
          </a:blip>
          <a:stretch>
            <a:fillRect/>
          </a:stretch>
        </p:blipFill>
        <p:spPr>
          <a:xfrm>
            <a:off x="9637640" y="4594000"/>
            <a:ext cx="492000" cy="492000"/>
          </a:xfrm>
          <a:prstGeom prst="rect">
            <a:avLst/>
          </a:prstGeom>
        </p:spPr>
      </p:pic>
      <p:sp>
        <p:nvSpPr>
          <p:cNvPr id="47" name="TextBox 46"/>
          <p:cNvSpPr txBox="1"/>
          <p:nvPr/>
        </p:nvSpPr>
        <p:spPr>
          <a:xfrm>
            <a:off x="8248640" y="5310000"/>
            <a:ext cx="3270000" cy="920000"/>
          </a:xfrm>
          <a:prstGeom prst="rect">
            <a:avLst/>
          </a:prstGeom>
          <a:noFill/>
        </p:spPr>
        <p:txBody>
          <a:bodyPr wrap="square" lIns="50000" rIns="50000" tIns="20000" bIns="20000" anchor="t">
            <a:spAutoFit/>
          </a:bodyPr>
          <a:lstStyle/>
          <a:p>
            <a:pPr algn="ctr"/>
            <a:r>
              <a:rPr sz="2000" b="1" i="0">
                <a:solidFill>
                  <a:srgbClr val="1F4E3D"/>
                </a:solidFill>
              </a:rPr>
              <a:t>An toàn lao động &amp; môi trường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4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divbg.png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0:svgBlip xmlns:ns0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6485000"/>
            <a:ext cx="8200000" cy="30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1100" b="0" i="0">
                <a:solidFill>
                  <a:srgbClr val="9DB3AA"/>
                </a:solidFill>
              </a:rPr>
              <a:t>Báo cáo thực tập  ·  Công ty TNHH Sơn Hải Vân</a:t>
            </a:r>
          </a:p>
        </p:txBody>
      </p:sp>
      <p:pic>
        <p:nvPicPr>
          <p:cNvPr id="5" name="Picture 4" descr="company_w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ns1:svgBlip xmlns:ns1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8850000" y="2050000"/>
            <a:ext cx="2650000" cy="265000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905000" y="2360000"/>
            <a:ext cx="240000" cy="1300000"/>
          </a:xfrm>
          <a:prstGeom prst="roundRect">
            <a:avLst/>
          </a:prstGeom>
          <a:solidFill>
            <a:srgbClr val="C8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360000" y="2400000"/>
            <a:ext cx="1250000" cy="1250000"/>
          </a:xfrm>
          <a:prstGeom prst="ellipse">
            <a:avLst/>
          </a:prstGeom>
          <a:solidFill>
            <a:srgbClr val="C8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4600" b="1" i="0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2450000"/>
            <a:ext cx="6200000" cy="52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2000" b="1" i="0">
                <a:solidFill>
                  <a:srgbClr val="C88A2E"/>
                </a:solidFill>
              </a:rPr>
              <a:t>PHẦN 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900000" y="2980000"/>
            <a:ext cx="6300000" cy="140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3800" b="1" i="0">
                <a:solidFill>
                  <a:srgbClr val="FFFFFF"/>
                </a:solidFill>
              </a:rPr>
              <a:t>Tổng quan về công ty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hex_pale.png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0:svgBlip xmlns:ns0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10600000" y="-260000"/>
            <a:ext cx="2100000" cy="2100000"/>
          </a:xfrm>
          <a:prstGeom prst="rect">
            <a:avLst/>
          </a:prstGeom>
        </p:spPr>
      </p:pic>
      <p:pic>
        <p:nvPicPr>
          <p:cNvPr id="4" name="Picture 3" descr="swash_pale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ns1:svgBlip xmlns:ns1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9550000" y="5150000"/>
            <a:ext cx="2500000" cy="1300000"/>
          </a:xfrm>
          <a:prstGeom prst="rect">
            <a:avLst/>
          </a:prstGeom>
        </p:spPr>
      </p:pic>
      <p:sp>
        <p:nvSpPr>
          <p:cNvPr id="5" name="Oval 4"/>
          <p:cNvSpPr/>
          <p:nvPr/>
        </p:nvSpPr>
        <p:spPr>
          <a:xfrm>
            <a:off x="548640" y="470000"/>
            <a:ext cx="720000" cy="720000"/>
          </a:xfrm>
          <a:prstGeom prst="ellipse">
            <a:avLst/>
          </a:prstGeom>
          <a:solidFill>
            <a:srgbClr val="1F4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600" b="1" i="0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30000" y="430000"/>
            <a:ext cx="9000000" cy="38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2000" b="1" i="0">
                <a:solidFill>
                  <a:srgbClr val="C88A2E"/>
                </a:solidFill>
              </a:rPr>
              <a:t>1. TỔNG QUAN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30000" y="850000"/>
            <a:ext cx="9800000" cy="78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3300" b="1" i="0">
                <a:solidFill>
                  <a:srgbClr val="1F4E3D"/>
                </a:solidFill>
              </a:rPr>
              <a:t>Công ty Sơn Hải Vân</a:t>
            </a:r>
          </a:p>
        </p:txBody>
      </p:sp>
      <p:pic>
        <p:nvPicPr>
          <p:cNvPr id="8" name="Picture 7" descr="brush_amber.png"/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ns2:svgBlip xmlns:ns2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1430000" y="1500000"/>
            <a:ext cx="1200000" cy="22500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548640" y="6430000"/>
            <a:ext cx="11090000" cy="9000"/>
          </a:xfrm>
          <a:prstGeom prst="rect">
            <a:avLst/>
          </a:prstGeom>
          <a:solidFill>
            <a:srgbClr val="DCE7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6485000"/>
            <a:ext cx="8200000" cy="30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1100" b="0" i="0">
                <a:solidFill>
                  <a:srgbClr val="6E7F77"/>
                </a:solidFill>
              </a:rPr>
              <a:t>Báo cáo thực tập  ·  Công ty TNHH Sơn Hải Vân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250000" y="6485000"/>
            <a:ext cx="700000" cy="30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pPr algn="r"/>
            <a:r>
              <a:rPr sz="1200" b="1" i="0">
                <a:solidFill>
                  <a:srgbClr val="6E7F77"/>
                </a:solidFill>
              </a:rPr>
              <a:t>5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1830000"/>
            <a:ext cx="4450000" cy="4470000"/>
          </a:xfrm>
          <a:prstGeom prst="roundRect">
            <a:avLst/>
          </a:prstGeom>
          <a:solidFill>
            <a:srgbClr val="1F4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2148640" y="2350000"/>
            <a:ext cx="1250000" cy="1250000"/>
          </a:xfrm>
          <a:prstGeom prst="ellipse">
            <a:avLst/>
          </a:prstGeom>
          <a:solidFill>
            <a:srgbClr val="C8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factory_w.png"/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ns3:svgBlip xmlns:ns3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2398640" y="2600000"/>
            <a:ext cx="750000" cy="75000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798640" y="3930000"/>
            <a:ext cx="3950000" cy="1700000"/>
          </a:xfrm>
          <a:prstGeom prst="rect">
            <a:avLst/>
          </a:prstGeom>
          <a:noFill/>
        </p:spPr>
        <p:txBody>
          <a:bodyPr wrap="square" lIns="50000" rIns="50000" tIns="20000" bIns="20000" anchor="t">
            <a:spAutoFit/>
          </a:bodyPr>
          <a:lstStyle/>
          <a:p>
            <a:pPr algn="ctr"/>
            <a:r>
              <a:rPr sz="3000" b="1" i="0">
                <a:solidFill>
                  <a:srgbClr val="FFFFFF"/>
                </a:solidFill>
              </a:rPr>
              <a:t>Sơn Hải Vân</a:t>
            </a:r>
          </a:p>
          <a:p>
            <a:pPr algn="ctr"/>
            <a:r>
              <a:rPr sz="2000" b="0" i="0">
                <a:solidFill>
                  <a:srgbClr val="CFE2D8"/>
                </a:solidFill>
              </a:rPr>
              <a:t>Sơn công nghiệp &amp; tàu biển bảo vệ chuyên dụng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278640" y="1830000"/>
            <a:ext cx="6360000" cy="1336666"/>
          </a:xfrm>
          <a:prstGeom prst="roundRect">
            <a:avLst/>
          </a:prstGeom>
          <a:solidFill>
            <a:srgbClr val="EE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5278640" y="1830000"/>
            <a:ext cx="80000" cy="1336666"/>
          </a:xfrm>
          <a:prstGeom prst="roundRect">
            <a:avLst/>
          </a:prstGeom>
          <a:solidFill>
            <a:srgbClr val="2C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5558640" y="2198333"/>
            <a:ext cx="600000" cy="600000"/>
          </a:xfrm>
          <a:prstGeom prst="ellipse">
            <a:avLst/>
          </a:prstGeom>
          <a:solidFill>
            <a:srgbClr val="1F4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history_clock_w.png"/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ns4:svgBlip xmlns:ns4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5678640" y="2318333"/>
            <a:ext cx="360000" cy="36000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6478640" y="1830000"/>
            <a:ext cx="4860000" cy="1336666"/>
          </a:xfrm>
          <a:prstGeom prst="rect">
            <a:avLst/>
          </a:prstGeom>
          <a:noFill/>
        </p:spPr>
        <p:txBody>
          <a:bodyPr wrap="square" lIns="50000" rIns="50000" tIns="20000" bIns="20000" anchor="ctr">
            <a:spAutoFit/>
          </a:bodyPr>
          <a:lstStyle/>
          <a:p>
            <a:r>
              <a:rPr sz="2000" b="1" i="0">
                <a:solidFill>
                  <a:srgbClr val="1F4E3D"/>
                </a:solidFill>
              </a:rPr>
              <a:t>Thành lập 2008 · SX 2009</a:t>
            </a:r>
          </a:p>
          <a:p>
            <a:r>
              <a:rPr sz="2000" b="0" i="0">
                <a:solidFill>
                  <a:srgbClr val="34404A"/>
                </a:solidFill>
              </a:rPr>
              <a:t>Đăng ký tại Sở KH&amp;ĐT TP.HCM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278640" y="3396666"/>
            <a:ext cx="6360000" cy="1336666"/>
          </a:xfrm>
          <a:prstGeom prst="roundRect">
            <a:avLst/>
          </a:prstGeom>
          <a:solidFill>
            <a:srgbClr val="EE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5278640" y="3396666"/>
            <a:ext cx="80000" cy="1336666"/>
          </a:xfrm>
          <a:prstGeom prst="roundRect">
            <a:avLst/>
          </a:prstGeom>
          <a:solidFill>
            <a:srgbClr val="2C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5558640" y="3764999"/>
            <a:ext cx="600000" cy="600000"/>
          </a:xfrm>
          <a:prstGeom prst="ellipse">
            <a:avLst/>
          </a:prstGeom>
          <a:solidFill>
            <a:srgbClr val="1F4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4" name="Picture 23" descr="target_w.png"/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ns5:svgBlip xmlns:ns5="http://schemas.microsoft.com/office/drawing/2016/SVG/main" r:embed="rId15"/>
              </a:ext>
            </a:extLst>
          </a:blip>
          <a:stretch>
            <a:fillRect/>
          </a:stretch>
        </p:blipFill>
        <p:spPr>
          <a:xfrm>
            <a:off x="5678640" y="3884999"/>
            <a:ext cx="360000" cy="360000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6478640" y="3396666"/>
            <a:ext cx="4860000" cy="1336666"/>
          </a:xfrm>
          <a:prstGeom prst="rect">
            <a:avLst/>
          </a:prstGeom>
          <a:noFill/>
        </p:spPr>
        <p:txBody>
          <a:bodyPr wrap="square" lIns="50000" rIns="50000" tIns="20000" bIns="20000" anchor="ctr">
            <a:spAutoFit/>
          </a:bodyPr>
          <a:lstStyle/>
          <a:p>
            <a:r>
              <a:rPr sz="2000" b="1" i="0">
                <a:solidFill>
                  <a:srgbClr val="1F4E3D"/>
                </a:solidFill>
              </a:rPr>
              <a:t>Doanh nghiệp vừa (SME) · B2B</a:t>
            </a:r>
          </a:p>
          <a:p>
            <a:r>
              <a:rPr sz="2000" b="0" i="0">
                <a:solidFill>
                  <a:srgbClr val="34404A"/>
                </a:solidFill>
              </a:rPr>
              <a:t>Sản xuất theo dự án / hợp đồng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278640" y="4963332"/>
            <a:ext cx="6360000" cy="1336666"/>
          </a:xfrm>
          <a:prstGeom prst="roundRect">
            <a:avLst/>
          </a:prstGeom>
          <a:solidFill>
            <a:srgbClr val="EE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5278640" y="4963332"/>
            <a:ext cx="80000" cy="1336666"/>
          </a:xfrm>
          <a:prstGeom prst="roundRect">
            <a:avLst/>
          </a:prstGeom>
          <a:solidFill>
            <a:srgbClr val="2C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5558640" y="5331665"/>
            <a:ext cx="600000" cy="600000"/>
          </a:xfrm>
          <a:prstGeom prst="ellipse">
            <a:avLst/>
          </a:prstGeom>
          <a:solidFill>
            <a:srgbClr val="1F4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9" name="Picture 28" descr="paint_can_w.png"/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ns6:svgBlip xmlns:ns6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5678640" y="5451665"/>
            <a:ext cx="360000" cy="360000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6478640" y="4963332"/>
            <a:ext cx="4860000" cy="1336666"/>
          </a:xfrm>
          <a:prstGeom prst="rect">
            <a:avLst/>
          </a:prstGeom>
          <a:noFill/>
        </p:spPr>
        <p:txBody>
          <a:bodyPr wrap="square" lIns="50000" rIns="50000" tIns="20000" bIns="20000" anchor="ctr">
            <a:spAutoFit/>
          </a:bodyPr>
          <a:lstStyle/>
          <a:p>
            <a:r>
              <a:rPr sz="2000" b="1" i="0">
                <a:solidFill>
                  <a:srgbClr val="1F4E3D"/>
                </a:solidFill>
              </a:rPr>
              <a:t>Sơn chống ăn mòn, chống cháy</a:t>
            </a:r>
          </a:p>
          <a:p>
            <a:r>
              <a:rPr sz="2000" b="0" i="0">
                <a:solidFill>
                  <a:srgbClr val="34404A"/>
                </a:solidFill>
              </a:rPr>
              <a:t>Bảo vệ công trình &amp; hàng hải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hex_pale.png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0:svgBlip xmlns:ns0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0600000" y="-260000"/>
            <a:ext cx="2100000" cy="2100000"/>
          </a:xfrm>
          <a:prstGeom prst="rect">
            <a:avLst/>
          </a:prstGeom>
        </p:spPr>
      </p:pic>
      <p:pic>
        <p:nvPicPr>
          <p:cNvPr id="4" name="Picture 3" descr="swash_pale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ns1:svgBlip xmlns:ns1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9550000" y="5150000"/>
            <a:ext cx="2500000" cy="1300000"/>
          </a:xfrm>
          <a:prstGeom prst="rect">
            <a:avLst/>
          </a:prstGeom>
        </p:spPr>
      </p:pic>
      <p:sp>
        <p:nvSpPr>
          <p:cNvPr id="5" name="Oval 4"/>
          <p:cNvSpPr/>
          <p:nvPr/>
        </p:nvSpPr>
        <p:spPr>
          <a:xfrm>
            <a:off x="548640" y="470000"/>
            <a:ext cx="720000" cy="720000"/>
          </a:xfrm>
          <a:prstGeom prst="ellipse">
            <a:avLst/>
          </a:prstGeom>
          <a:solidFill>
            <a:srgbClr val="1F4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600" b="1" i="0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30000" y="430000"/>
            <a:ext cx="9000000" cy="38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2000" b="1" i="0">
                <a:solidFill>
                  <a:srgbClr val="C88A2E"/>
                </a:solidFill>
              </a:rPr>
              <a:t>1. TỔNG QUAN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30000" y="850000"/>
            <a:ext cx="9800000" cy="78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3300" b="1" i="0">
                <a:solidFill>
                  <a:srgbClr val="1F4E3D"/>
                </a:solidFill>
              </a:rPr>
              <a:t>Chặng đường phát triển</a:t>
            </a:r>
          </a:p>
        </p:txBody>
      </p:sp>
      <p:pic>
        <p:nvPicPr>
          <p:cNvPr id="8" name="Picture 7" descr="brush_amber.png"/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ns2:svgBlip xmlns:ns2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1430000" y="1500000"/>
            <a:ext cx="1200000" cy="22500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548640" y="6430000"/>
            <a:ext cx="11090000" cy="9000"/>
          </a:xfrm>
          <a:prstGeom prst="rect">
            <a:avLst/>
          </a:prstGeom>
          <a:solidFill>
            <a:srgbClr val="DCE7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6485000"/>
            <a:ext cx="8200000" cy="30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1100" b="0" i="0">
                <a:solidFill>
                  <a:srgbClr val="6E7F77"/>
                </a:solidFill>
              </a:rPr>
              <a:t>Báo cáo thực tập  ·  Công ty TNHH Sơn Hải Vân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250000" y="6485000"/>
            <a:ext cx="700000" cy="30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pPr algn="r"/>
            <a:r>
              <a:rPr sz="1200" b="1" i="0">
                <a:solidFill>
                  <a:srgbClr val="6E7F77"/>
                </a:solidFill>
              </a:rPr>
              <a:t>6</a:t>
            </a:r>
          </a:p>
        </p:txBody>
      </p:sp>
      <p:pic>
        <p:nvPicPr>
          <p:cNvPr id="12" name="Picture 11" descr="big_timeline.png"/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ns3:svgBlip xmlns:ns3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95847" y="1962872"/>
            <a:ext cx="10400000" cy="4204255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hex_pale.png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0:svgBlip xmlns:ns0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10600000" y="-260000"/>
            <a:ext cx="2100000" cy="2100000"/>
          </a:xfrm>
          <a:prstGeom prst="rect">
            <a:avLst/>
          </a:prstGeom>
        </p:spPr>
      </p:pic>
      <p:pic>
        <p:nvPicPr>
          <p:cNvPr id="4" name="Picture 3" descr="swash_pale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ns1:svgBlip xmlns:ns1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9550000" y="5150000"/>
            <a:ext cx="2500000" cy="1300000"/>
          </a:xfrm>
          <a:prstGeom prst="rect">
            <a:avLst/>
          </a:prstGeom>
        </p:spPr>
      </p:pic>
      <p:sp>
        <p:nvSpPr>
          <p:cNvPr id="5" name="Oval 4"/>
          <p:cNvSpPr/>
          <p:nvPr/>
        </p:nvSpPr>
        <p:spPr>
          <a:xfrm>
            <a:off x="548640" y="470000"/>
            <a:ext cx="720000" cy="720000"/>
          </a:xfrm>
          <a:prstGeom prst="ellipse">
            <a:avLst/>
          </a:prstGeom>
          <a:solidFill>
            <a:srgbClr val="1F4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600" b="1" i="0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30000" y="430000"/>
            <a:ext cx="9000000" cy="38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2000" b="1" i="0">
                <a:solidFill>
                  <a:srgbClr val="C88A2E"/>
                </a:solidFill>
              </a:rPr>
              <a:t>1. TỔNG QUAN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30000" y="850000"/>
            <a:ext cx="9800000" cy="78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3300" b="1" i="0">
                <a:solidFill>
                  <a:srgbClr val="1F4E3D"/>
                </a:solidFill>
              </a:rPr>
              <a:t>Thị trường &amp; khách hàng</a:t>
            </a:r>
          </a:p>
        </p:txBody>
      </p:sp>
      <p:pic>
        <p:nvPicPr>
          <p:cNvPr id="8" name="Picture 7" descr="brush_amber.png"/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ns2:svgBlip xmlns:ns2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1430000" y="1500000"/>
            <a:ext cx="1200000" cy="22500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548640" y="6430000"/>
            <a:ext cx="11090000" cy="9000"/>
          </a:xfrm>
          <a:prstGeom prst="rect">
            <a:avLst/>
          </a:prstGeom>
          <a:solidFill>
            <a:srgbClr val="DCE7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6485000"/>
            <a:ext cx="8200000" cy="30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1100" b="0" i="0">
                <a:solidFill>
                  <a:srgbClr val="6E7F77"/>
                </a:solidFill>
              </a:rPr>
              <a:t>Báo cáo thực tập  ·  Công ty TNHH Sơn Hải Vân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250000" y="6485000"/>
            <a:ext cx="700000" cy="30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pPr algn="r"/>
            <a:r>
              <a:rPr sz="1200" b="1" i="0">
                <a:solidFill>
                  <a:srgbClr val="6E7F77"/>
                </a:solidFill>
              </a:rPr>
              <a:t>7</a:t>
            </a:r>
          </a:p>
        </p:txBody>
      </p:sp>
      <p:sp>
        <p:nvSpPr>
          <p:cNvPr id="12" name="Oval 11"/>
          <p:cNvSpPr/>
          <p:nvPr/>
        </p:nvSpPr>
        <p:spPr>
          <a:xfrm>
            <a:off x="660000" y="2193000"/>
            <a:ext cx="624000" cy="624000"/>
          </a:xfrm>
          <a:prstGeom prst="ellipse">
            <a:avLst/>
          </a:prstGeom>
          <a:solidFill>
            <a:srgbClr val="2C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target_w.png"/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ns3:svgBlip xmlns:ns3="http://schemas.microsoft.com/office/drawing/2016/SVG/main" r:embed="rId15"/>
              </a:ext>
            </a:extLst>
          </a:blip>
          <a:stretch>
            <a:fillRect/>
          </a:stretch>
        </p:blipFill>
        <p:spPr>
          <a:xfrm>
            <a:off x="784800" y="2317800"/>
            <a:ext cx="374400" cy="37440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1644000" y="1985000"/>
            <a:ext cx="9700000" cy="1040000"/>
          </a:xfrm>
          <a:prstGeom prst="rect">
            <a:avLst/>
          </a:prstGeom>
          <a:noFill/>
        </p:spPr>
        <p:txBody>
          <a:bodyPr wrap="square" lIns="50000" rIns="50000" tIns="20000" bIns="20000" anchor="ctr">
            <a:spAutoFit/>
          </a:bodyPr>
          <a:lstStyle/>
          <a:p>
            <a:r>
              <a:rPr sz="2075" b="0" i="0">
                <a:solidFill>
                  <a:srgbClr val="14332A"/>
                </a:solidFill>
              </a:rPr>
              <a:t>Phân khúc B2B kỹ thuật, không phải sơn dân dụng</a:t>
            </a:r>
          </a:p>
        </p:txBody>
      </p:sp>
      <p:sp>
        <p:nvSpPr>
          <p:cNvPr id="15" name="Oval 14"/>
          <p:cNvSpPr/>
          <p:nvPr/>
        </p:nvSpPr>
        <p:spPr>
          <a:xfrm>
            <a:off x="660000" y="3233000"/>
            <a:ext cx="624000" cy="624000"/>
          </a:xfrm>
          <a:prstGeom prst="ellipse">
            <a:avLst/>
          </a:prstGeom>
          <a:solidFill>
            <a:srgbClr val="2C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Picture 15" descr="factory_w.png"/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ns4:svgBlip xmlns:ns4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784800" y="3357800"/>
            <a:ext cx="374400" cy="374400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1644000" y="3025000"/>
            <a:ext cx="9700000" cy="1040000"/>
          </a:xfrm>
          <a:prstGeom prst="rect">
            <a:avLst/>
          </a:prstGeom>
          <a:noFill/>
        </p:spPr>
        <p:txBody>
          <a:bodyPr wrap="square" lIns="50000" rIns="50000" tIns="20000" bIns="20000" anchor="ctr">
            <a:spAutoFit/>
          </a:bodyPr>
          <a:lstStyle/>
          <a:p>
            <a:r>
              <a:rPr sz="2075" b="0" i="0">
                <a:solidFill>
                  <a:srgbClr val="14332A"/>
                </a:solidFill>
              </a:rPr>
              <a:t>Xưởng đóng &amp; sửa chữa tàu biển</a:t>
            </a:r>
          </a:p>
        </p:txBody>
      </p:sp>
      <p:sp>
        <p:nvSpPr>
          <p:cNvPr id="18" name="Oval 17"/>
          <p:cNvSpPr/>
          <p:nvPr/>
        </p:nvSpPr>
        <p:spPr>
          <a:xfrm>
            <a:off x="660000" y="4273000"/>
            <a:ext cx="624000" cy="624000"/>
          </a:xfrm>
          <a:prstGeom prst="ellipse">
            <a:avLst/>
          </a:prstGeom>
          <a:solidFill>
            <a:srgbClr val="2C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company_w.png"/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ns5:svgBlip xmlns:ns5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784800" y="4397800"/>
            <a:ext cx="374400" cy="37440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1644000" y="4065000"/>
            <a:ext cx="9700000" cy="1040000"/>
          </a:xfrm>
          <a:prstGeom prst="rect">
            <a:avLst/>
          </a:prstGeom>
          <a:noFill/>
        </p:spPr>
        <p:txBody>
          <a:bodyPr wrap="square" lIns="50000" rIns="50000" tIns="20000" bIns="20000" anchor="ctr">
            <a:spAutoFit/>
          </a:bodyPr>
          <a:lstStyle/>
          <a:p>
            <a:r>
              <a:rPr sz="2075" b="0" i="0">
                <a:solidFill>
                  <a:srgbClr val="14332A"/>
                </a:solidFill>
              </a:rPr>
              <a:t>Chủ đầu tư công trình kết cấu thép</a:t>
            </a:r>
          </a:p>
        </p:txBody>
      </p:sp>
      <p:sp>
        <p:nvSpPr>
          <p:cNvPr id="21" name="Oval 20"/>
          <p:cNvSpPr/>
          <p:nvPr/>
        </p:nvSpPr>
        <p:spPr>
          <a:xfrm>
            <a:off x="660000" y="5313000"/>
            <a:ext cx="624000" cy="624000"/>
          </a:xfrm>
          <a:prstGeom prst="ellipse">
            <a:avLst/>
          </a:prstGeom>
          <a:solidFill>
            <a:srgbClr val="2C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2" name="Picture 21" descr="materials_w.png"/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ns6:svgBlip xmlns:ns6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784800" y="5437800"/>
            <a:ext cx="374400" cy="374400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1644000" y="5105000"/>
            <a:ext cx="9700000" cy="1040000"/>
          </a:xfrm>
          <a:prstGeom prst="rect">
            <a:avLst/>
          </a:prstGeom>
          <a:noFill/>
        </p:spPr>
        <p:txBody>
          <a:bodyPr wrap="square" lIns="50000" rIns="50000" tIns="20000" bIns="20000" anchor="ctr">
            <a:spAutoFit/>
          </a:bodyPr>
          <a:lstStyle/>
          <a:p>
            <a:r>
              <a:rPr sz="2075" b="0" i="0">
                <a:solidFill>
                  <a:srgbClr val="14332A"/>
                </a:solidFill>
              </a:rPr>
              <a:t>Đại lý phân phối sơn bảo vệ chuyên dụng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4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divbg.png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0:svgBlip xmlns:ns0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6485000"/>
            <a:ext cx="8200000" cy="30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1100" b="0" i="0">
                <a:solidFill>
                  <a:srgbClr val="9DB3AA"/>
                </a:solidFill>
              </a:rPr>
              <a:t>Báo cáo thực tập  ·  Công ty TNHH Sơn Hải Vân</a:t>
            </a:r>
          </a:p>
        </p:txBody>
      </p:sp>
      <p:pic>
        <p:nvPicPr>
          <p:cNvPr id="5" name="Picture 4" descr="materials_w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ns1:svgBlip xmlns:ns1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8850000" y="2050000"/>
            <a:ext cx="2650000" cy="265000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905000" y="2360000"/>
            <a:ext cx="240000" cy="1300000"/>
          </a:xfrm>
          <a:prstGeom prst="roundRect">
            <a:avLst/>
          </a:prstGeom>
          <a:solidFill>
            <a:srgbClr val="C8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360000" y="2400000"/>
            <a:ext cx="1250000" cy="1250000"/>
          </a:xfrm>
          <a:prstGeom prst="ellipse">
            <a:avLst/>
          </a:prstGeom>
          <a:solidFill>
            <a:srgbClr val="C8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4600" b="1" i="0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2450000"/>
            <a:ext cx="6200000" cy="52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2000" b="1" i="0">
                <a:solidFill>
                  <a:srgbClr val="C88A2E"/>
                </a:solidFill>
              </a:rPr>
              <a:t>PHẦN 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900000" y="2980000"/>
            <a:ext cx="6300000" cy="140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3800" b="1" i="0">
                <a:solidFill>
                  <a:srgbClr val="FFFFFF"/>
                </a:solidFill>
              </a:rPr>
              <a:t>Nguyên vật liệu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hex_pale.png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0:svgBlip xmlns:ns0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0600000" y="-260000"/>
            <a:ext cx="2100000" cy="2100000"/>
          </a:xfrm>
          <a:prstGeom prst="rect">
            <a:avLst/>
          </a:prstGeom>
        </p:spPr>
      </p:pic>
      <p:pic>
        <p:nvPicPr>
          <p:cNvPr id="4" name="Picture 3" descr="swash_pale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ns1:svgBlip xmlns:ns1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9550000" y="5150000"/>
            <a:ext cx="2500000" cy="1300000"/>
          </a:xfrm>
          <a:prstGeom prst="rect">
            <a:avLst/>
          </a:prstGeom>
        </p:spPr>
      </p:pic>
      <p:sp>
        <p:nvSpPr>
          <p:cNvPr id="5" name="Oval 4"/>
          <p:cNvSpPr/>
          <p:nvPr/>
        </p:nvSpPr>
        <p:spPr>
          <a:xfrm>
            <a:off x="548640" y="470000"/>
            <a:ext cx="720000" cy="720000"/>
          </a:xfrm>
          <a:prstGeom prst="ellipse">
            <a:avLst/>
          </a:prstGeom>
          <a:solidFill>
            <a:srgbClr val="1F4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600" b="1" i="0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30000" y="430000"/>
            <a:ext cx="9000000" cy="38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2000" b="1" i="0">
                <a:solidFill>
                  <a:srgbClr val="C88A2E"/>
                </a:solidFill>
              </a:rPr>
              <a:t>2. NGUYÊN VẬT LIỆU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30000" y="850000"/>
            <a:ext cx="9800000" cy="78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3300" b="1" i="0">
                <a:solidFill>
                  <a:srgbClr val="1F4E3D"/>
                </a:solidFill>
              </a:rPr>
              <a:t>Bốn nhóm nguyên liệu &amp; tỉ lệ</a:t>
            </a:r>
          </a:p>
        </p:txBody>
      </p:sp>
      <p:pic>
        <p:nvPicPr>
          <p:cNvPr id="8" name="Picture 7" descr="brush_amber.png"/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ns2:svgBlip xmlns:ns2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1430000" y="1500000"/>
            <a:ext cx="1200000" cy="22500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548640" y="6430000"/>
            <a:ext cx="11090000" cy="9000"/>
          </a:xfrm>
          <a:prstGeom prst="rect">
            <a:avLst/>
          </a:prstGeom>
          <a:solidFill>
            <a:srgbClr val="DCE7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6485000"/>
            <a:ext cx="8200000" cy="30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1100" b="0" i="0">
                <a:solidFill>
                  <a:srgbClr val="6E7F77"/>
                </a:solidFill>
              </a:rPr>
              <a:t>Báo cáo thực tập  ·  Công ty TNHH Sơn Hải Vân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250000" y="6485000"/>
            <a:ext cx="700000" cy="30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pPr algn="r"/>
            <a:r>
              <a:rPr sz="1200" b="1" i="0">
                <a:solidFill>
                  <a:srgbClr val="6E7F77"/>
                </a:solidFill>
              </a:rPr>
              <a:t>9</a:t>
            </a:r>
          </a:p>
        </p:txBody>
      </p:sp>
      <p:pic>
        <p:nvPicPr>
          <p:cNvPr id="12" name="Picture 11" descr="big_materials.png"/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ns3:svgBlip xmlns:ns3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595847" y="1910833"/>
            <a:ext cx="11000000" cy="4308333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hex_pale.png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0:svgBlip xmlns:ns0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0600000" y="-260000"/>
            <a:ext cx="2100000" cy="2100000"/>
          </a:xfrm>
          <a:prstGeom prst="rect">
            <a:avLst/>
          </a:prstGeom>
        </p:spPr>
      </p:pic>
      <p:pic>
        <p:nvPicPr>
          <p:cNvPr id="4" name="Picture 3" descr="swash_pale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ns1:svgBlip xmlns:ns1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9550000" y="5150000"/>
            <a:ext cx="2500000" cy="1300000"/>
          </a:xfrm>
          <a:prstGeom prst="rect">
            <a:avLst/>
          </a:prstGeom>
        </p:spPr>
      </p:pic>
      <p:sp>
        <p:nvSpPr>
          <p:cNvPr id="5" name="Oval 4"/>
          <p:cNvSpPr/>
          <p:nvPr/>
        </p:nvSpPr>
        <p:spPr>
          <a:xfrm>
            <a:off x="548640" y="470000"/>
            <a:ext cx="720000" cy="720000"/>
          </a:xfrm>
          <a:prstGeom prst="ellipse">
            <a:avLst/>
          </a:prstGeom>
          <a:solidFill>
            <a:srgbClr val="1F4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600" b="1" i="0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30000" y="430000"/>
            <a:ext cx="9000000" cy="38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2000" b="1" i="0">
                <a:solidFill>
                  <a:srgbClr val="C88A2E"/>
                </a:solidFill>
              </a:rPr>
              <a:t>2. NGUYÊN VẬT LIỆU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30000" y="850000"/>
            <a:ext cx="9800000" cy="78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3300" b="1" i="0">
                <a:solidFill>
                  <a:srgbClr val="1F4E3D"/>
                </a:solidFill>
              </a:rPr>
              <a:t>Tỉ lệ một công thức sơn điển hình</a:t>
            </a:r>
          </a:p>
        </p:txBody>
      </p:sp>
      <p:pic>
        <p:nvPicPr>
          <p:cNvPr id="8" name="Picture 7" descr="brush_amber.png"/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ns2:svgBlip xmlns:ns2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1430000" y="1500000"/>
            <a:ext cx="1200000" cy="22500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548640" y="6430000"/>
            <a:ext cx="11090000" cy="9000"/>
          </a:xfrm>
          <a:prstGeom prst="rect">
            <a:avLst/>
          </a:prstGeom>
          <a:solidFill>
            <a:srgbClr val="DCE7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6485000"/>
            <a:ext cx="8200000" cy="30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1100" b="0" i="0">
                <a:solidFill>
                  <a:srgbClr val="6E7F77"/>
                </a:solidFill>
              </a:rPr>
              <a:t>Báo cáo thực tập  ·  Công ty TNHH Sơn Hải Vân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250000" y="6485000"/>
            <a:ext cx="700000" cy="30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pPr algn="r"/>
            <a:r>
              <a:rPr sz="1200" b="1" i="0">
                <a:solidFill>
                  <a:srgbClr val="6E7F77"/>
                </a:solidFill>
              </a:rPr>
              <a:t>10</a:t>
            </a:r>
          </a:p>
        </p:txBody>
      </p:sp>
      <p:pic>
        <p:nvPicPr>
          <p:cNvPr id="12" name="Picture 11" descr="big_doughnut.png"/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ns3:svgBlip xmlns:ns3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2270847" y="1830000"/>
            <a:ext cx="7650000" cy="425000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700000" y="6080000"/>
            <a:ext cx="10800000" cy="36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pPr algn="ctr"/>
            <a:r>
              <a:rPr sz="2000" b="0" i="1">
                <a:solidFill>
                  <a:srgbClr val="5B6E66"/>
                </a:solidFill>
              </a:rPr>
              <a:t>Tỉ lệ minh họa — thay đổi theo loại sơn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hex_pale.png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0:svgBlip xmlns:ns0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10600000" y="-260000"/>
            <a:ext cx="2100000" cy="2100000"/>
          </a:xfrm>
          <a:prstGeom prst="rect">
            <a:avLst/>
          </a:prstGeom>
        </p:spPr>
      </p:pic>
      <p:pic>
        <p:nvPicPr>
          <p:cNvPr id="4" name="Picture 3" descr="swash_pale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ns1:svgBlip xmlns:ns1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9550000" y="5150000"/>
            <a:ext cx="2500000" cy="1300000"/>
          </a:xfrm>
          <a:prstGeom prst="rect">
            <a:avLst/>
          </a:prstGeom>
        </p:spPr>
      </p:pic>
      <p:sp>
        <p:nvSpPr>
          <p:cNvPr id="5" name="Oval 4"/>
          <p:cNvSpPr/>
          <p:nvPr/>
        </p:nvSpPr>
        <p:spPr>
          <a:xfrm>
            <a:off x="548640" y="470000"/>
            <a:ext cx="720000" cy="720000"/>
          </a:xfrm>
          <a:prstGeom prst="ellipse">
            <a:avLst/>
          </a:prstGeom>
          <a:solidFill>
            <a:srgbClr val="1F4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600" b="1" i="0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30000" y="430000"/>
            <a:ext cx="9000000" cy="38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2000" b="1" i="0">
                <a:solidFill>
                  <a:srgbClr val="C88A2E"/>
                </a:solidFill>
              </a:rPr>
              <a:t>2. NGUYÊN VẬT LIỆU — NHỰA ALKYD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30000" y="850000"/>
            <a:ext cx="9800000" cy="78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3300" b="1" i="0">
                <a:solidFill>
                  <a:srgbClr val="1F4E3D"/>
                </a:solidFill>
              </a:rPr>
              <a:t>Phân loại theo hàm lượng dầu</a:t>
            </a:r>
          </a:p>
        </p:txBody>
      </p:sp>
      <p:pic>
        <p:nvPicPr>
          <p:cNvPr id="8" name="Picture 7" descr="brush_amber.png"/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ns2:svgBlip xmlns:ns2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430000" y="1500000"/>
            <a:ext cx="1200000" cy="22500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548640" y="6430000"/>
            <a:ext cx="11090000" cy="9000"/>
          </a:xfrm>
          <a:prstGeom prst="rect">
            <a:avLst/>
          </a:prstGeom>
          <a:solidFill>
            <a:srgbClr val="DCE7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6485000"/>
            <a:ext cx="8200000" cy="30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1100" b="0" i="0">
                <a:solidFill>
                  <a:srgbClr val="6E7F77"/>
                </a:solidFill>
              </a:rPr>
              <a:t>Báo cáo thực tập  ·  Công ty TNHH Sơn Hải Vân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250000" y="6485000"/>
            <a:ext cx="700000" cy="30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pPr algn="r"/>
            <a:r>
              <a:rPr sz="1200" b="1" i="0">
                <a:solidFill>
                  <a:srgbClr val="6E7F77"/>
                </a:solidFill>
              </a:rPr>
              <a:t>11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1890000"/>
            <a:ext cx="11090000" cy="1370000"/>
          </a:xfrm>
          <a:prstGeom prst="roundRect">
            <a:avLst/>
          </a:prstGeom>
          <a:solidFill>
            <a:srgbClr val="EE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0000" y="1890000"/>
            <a:ext cx="3400000" cy="1370000"/>
          </a:xfrm>
          <a:prstGeom prst="rect">
            <a:avLst/>
          </a:prstGeom>
          <a:noFill/>
        </p:spPr>
        <p:txBody>
          <a:bodyPr wrap="square" lIns="50000" rIns="50000" tIns="20000" bIns="20000" anchor="ctr">
            <a:spAutoFit/>
          </a:bodyPr>
          <a:lstStyle/>
          <a:p>
            <a:r>
              <a:rPr sz="2158" b="1" i="0">
                <a:solidFill>
                  <a:srgbClr val="1F4E3D"/>
                </a:solidFill>
              </a:rPr>
              <a:t>Nhựa gầy</a:t>
            </a:r>
          </a:p>
        </p:txBody>
      </p:sp>
      <p:pic>
        <p:nvPicPr>
          <p:cNvPr id="14" name="Picture 13" descr="chart8_gay.png"/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ns3:svgBlip xmlns:ns3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4250000" y="2284412"/>
            <a:ext cx="2600000" cy="581176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7150000" y="1890000"/>
            <a:ext cx="4300000" cy="1370000"/>
          </a:xfrm>
          <a:prstGeom prst="rect">
            <a:avLst/>
          </a:prstGeom>
          <a:noFill/>
        </p:spPr>
        <p:txBody>
          <a:bodyPr wrap="square" lIns="50000" rIns="50000" tIns="20000" bIns="20000" anchor="ctr">
            <a:spAutoFit/>
          </a:bodyPr>
          <a:lstStyle/>
          <a:p>
            <a:r>
              <a:rPr sz="2000" b="0" i="0">
                <a:solidFill>
                  <a:srgbClr val="34404A"/>
                </a:solidFill>
              </a:rPr>
              <a:t>Độ nhớt cao — thi công nhúng / phun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3380000"/>
            <a:ext cx="11090000" cy="1370000"/>
          </a:xfrm>
          <a:prstGeom prst="roundRect">
            <a:avLst/>
          </a:prstGeom>
          <a:solidFill>
            <a:srgbClr val="EE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0000" y="3380000"/>
            <a:ext cx="3400000" cy="1370000"/>
          </a:xfrm>
          <a:prstGeom prst="rect">
            <a:avLst/>
          </a:prstGeom>
          <a:noFill/>
        </p:spPr>
        <p:txBody>
          <a:bodyPr wrap="square" lIns="50000" rIns="50000" tIns="20000" bIns="20000" anchor="ctr">
            <a:spAutoFit/>
          </a:bodyPr>
          <a:lstStyle/>
          <a:p>
            <a:r>
              <a:rPr sz="2158" b="1" i="0">
                <a:solidFill>
                  <a:srgbClr val="1F4E3D"/>
                </a:solidFill>
              </a:rPr>
              <a:t>Nhựa trung bình</a:t>
            </a:r>
          </a:p>
        </p:txBody>
      </p:sp>
      <p:pic>
        <p:nvPicPr>
          <p:cNvPr id="18" name="Picture 17" descr="chart8_trung.png"/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ns4:svgBlip xmlns:ns4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4250000" y="3774412"/>
            <a:ext cx="2600000" cy="581176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7150000" y="3380000"/>
            <a:ext cx="4300000" cy="1370000"/>
          </a:xfrm>
          <a:prstGeom prst="rect">
            <a:avLst/>
          </a:prstGeom>
          <a:noFill/>
        </p:spPr>
        <p:txBody>
          <a:bodyPr wrap="square" lIns="50000" rIns="50000" tIns="20000" bIns="20000" anchor="ctr">
            <a:spAutoFit/>
          </a:bodyPr>
          <a:lstStyle/>
          <a:p>
            <a:r>
              <a:rPr sz="2000" b="0" i="0">
                <a:solidFill>
                  <a:srgbClr val="34404A"/>
                </a:solidFill>
              </a:rPr>
              <a:t>Phổ biến nhất — cọ / lăn / súng phun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48640" y="4870000"/>
            <a:ext cx="11090000" cy="1370000"/>
          </a:xfrm>
          <a:prstGeom prst="roundRect">
            <a:avLst/>
          </a:prstGeom>
          <a:solidFill>
            <a:srgbClr val="EE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0000" y="4870000"/>
            <a:ext cx="3400000" cy="1370000"/>
          </a:xfrm>
          <a:prstGeom prst="rect">
            <a:avLst/>
          </a:prstGeom>
          <a:noFill/>
        </p:spPr>
        <p:txBody>
          <a:bodyPr wrap="square" lIns="50000" rIns="50000" tIns="20000" bIns="20000" anchor="ctr">
            <a:spAutoFit/>
          </a:bodyPr>
          <a:lstStyle/>
          <a:p>
            <a:r>
              <a:rPr sz="2158" b="1" i="0">
                <a:solidFill>
                  <a:srgbClr val="1F4E3D"/>
                </a:solidFill>
              </a:rPr>
              <a:t>Nhựa béo</a:t>
            </a:r>
          </a:p>
        </p:txBody>
      </p:sp>
      <p:pic>
        <p:nvPicPr>
          <p:cNvPr id="22" name="Picture 21" descr="chart8_beo.png"/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ns5:svgBlip xmlns:ns5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4250000" y="5264412"/>
            <a:ext cx="2600000" cy="581176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7150000" y="4870000"/>
            <a:ext cx="4300000" cy="1370000"/>
          </a:xfrm>
          <a:prstGeom prst="rect">
            <a:avLst/>
          </a:prstGeom>
          <a:noFill/>
        </p:spPr>
        <p:txBody>
          <a:bodyPr wrap="square" lIns="50000" rIns="50000" tIns="20000" bIns="20000" anchor="ctr">
            <a:spAutoFit/>
          </a:bodyPr>
          <a:lstStyle/>
          <a:p>
            <a:r>
              <a:rPr sz="2000" b="0" i="0">
                <a:solidFill>
                  <a:srgbClr val="34404A"/>
                </a:solidFill>
              </a:rPr>
              <a:t>Tạo màng chính cho sơn tàu biển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hex_pale.png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0:svgBlip xmlns:ns0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10600000" y="-260000"/>
            <a:ext cx="2100000" cy="2100000"/>
          </a:xfrm>
          <a:prstGeom prst="rect">
            <a:avLst/>
          </a:prstGeom>
        </p:spPr>
      </p:pic>
      <p:pic>
        <p:nvPicPr>
          <p:cNvPr id="4" name="Picture 3" descr="swash_pale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ns1:svgBlip xmlns:ns1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9550000" y="5150000"/>
            <a:ext cx="2500000" cy="1300000"/>
          </a:xfrm>
          <a:prstGeom prst="rect">
            <a:avLst/>
          </a:prstGeom>
        </p:spPr>
      </p:pic>
      <p:sp>
        <p:nvSpPr>
          <p:cNvPr id="5" name="Oval 4"/>
          <p:cNvSpPr/>
          <p:nvPr/>
        </p:nvSpPr>
        <p:spPr>
          <a:xfrm>
            <a:off x="548640" y="470000"/>
            <a:ext cx="720000" cy="720000"/>
          </a:xfrm>
          <a:prstGeom prst="ellipse">
            <a:avLst/>
          </a:prstGeom>
          <a:solidFill>
            <a:srgbClr val="1F4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600" b="1" i="0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30000" y="430000"/>
            <a:ext cx="9000000" cy="38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2000" b="1" i="0">
                <a:solidFill>
                  <a:srgbClr val="C88A2E"/>
                </a:solidFill>
              </a:rPr>
              <a:t>2. NGUYÊN VẬT LIỆU — SƠN TÀU BIỂN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30000" y="850000"/>
            <a:ext cx="9800000" cy="78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3300" b="1" i="0">
                <a:solidFill>
                  <a:srgbClr val="1F4E3D"/>
                </a:solidFill>
              </a:rPr>
              <a:t>Cấu trúc hệ sơn 3 lớp</a:t>
            </a:r>
          </a:p>
        </p:txBody>
      </p:sp>
      <p:pic>
        <p:nvPicPr>
          <p:cNvPr id="8" name="Picture 7" descr="brush_amber.png"/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ns2:svgBlip xmlns:ns2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430000" y="1500000"/>
            <a:ext cx="1200000" cy="22500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548640" y="6430000"/>
            <a:ext cx="11090000" cy="9000"/>
          </a:xfrm>
          <a:prstGeom prst="rect">
            <a:avLst/>
          </a:prstGeom>
          <a:solidFill>
            <a:srgbClr val="DCE7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6485000"/>
            <a:ext cx="8200000" cy="30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1100" b="0" i="0">
                <a:solidFill>
                  <a:srgbClr val="6E7F77"/>
                </a:solidFill>
              </a:rPr>
              <a:t>Báo cáo thực tập  ·  Công ty TNHH Sơn Hải Vân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250000" y="6485000"/>
            <a:ext cx="700000" cy="30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pPr algn="r"/>
            <a:r>
              <a:rPr sz="1200" b="1" i="0">
                <a:solidFill>
                  <a:srgbClr val="6E7F77"/>
                </a:solidFill>
              </a:rPr>
              <a:t>12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1830000"/>
            <a:ext cx="6550000" cy="1020000"/>
          </a:xfrm>
          <a:prstGeom prst="roundRect">
            <a:avLst/>
          </a:prstGeom>
          <a:solidFill>
            <a:srgbClr val="7BA8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0000" y="1830000"/>
            <a:ext cx="6130000" cy="1020000"/>
          </a:xfrm>
          <a:prstGeom prst="rect">
            <a:avLst/>
          </a:prstGeom>
          <a:noFill/>
        </p:spPr>
        <p:txBody>
          <a:bodyPr wrap="square" lIns="50000" rIns="50000" tIns="20000" bIns="20000" anchor="ctr">
            <a:spAutoFit/>
          </a:bodyPr>
          <a:lstStyle/>
          <a:p>
            <a:r>
              <a:rPr sz="2000" b="1" i="0">
                <a:solidFill>
                  <a:srgbClr val="FFFFFF"/>
                </a:solidFill>
              </a:rPr>
              <a:t>Lớp 3 — Phủ hoàn thiện</a:t>
            </a:r>
          </a:p>
          <a:p>
            <a:r>
              <a:rPr sz="2000" b="0" i="0">
                <a:solidFill>
                  <a:srgbClr val="EAF3EE"/>
                </a:solidFill>
              </a:rPr>
              <a:t>Polyurethan / Alkyd béo · chịu UV, giữ màu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2980000"/>
            <a:ext cx="6550000" cy="1020000"/>
          </a:xfrm>
          <a:prstGeom prst="roundRect">
            <a:avLst/>
          </a:prstGeom>
          <a:solidFill>
            <a:srgbClr val="2C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0000" y="2980000"/>
            <a:ext cx="6130000" cy="1020000"/>
          </a:xfrm>
          <a:prstGeom prst="rect">
            <a:avLst/>
          </a:prstGeom>
          <a:noFill/>
        </p:spPr>
        <p:txBody>
          <a:bodyPr wrap="square" lIns="50000" rIns="50000" tIns="20000" bIns="20000" anchor="ctr">
            <a:spAutoFit/>
          </a:bodyPr>
          <a:lstStyle/>
          <a:p>
            <a:r>
              <a:rPr sz="2000" b="1" i="0">
                <a:solidFill>
                  <a:srgbClr val="FFFFFF"/>
                </a:solidFill>
              </a:rPr>
              <a:t>Lớp 2 — Trung gian</a:t>
            </a:r>
          </a:p>
          <a:p>
            <a:r>
              <a:rPr sz="2000" b="0" i="0">
                <a:solidFill>
                  <a:srgbClr val="EAF3EE"/>
                </a:solidFill>
              </a:rPr>
              <a:t>Epoxy MIO · chắn ẩm và ion clorua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4130000"/>
            <a:ext cx="6550000" cy="1020000"/>
          </a:xfrm>
          <a:prstGeom prst="roundRect">
            <a:avLst/>
          </a:prstGeom>
          <a:solidFill>
            <a:srgbClr val="1F4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0000" y="4130000"/>
            <a:ext cx="6130000" cy="1020000"/>
          </a:xfrm>
          <a:prstGeom prst="rect">
            <a:avLst/>
          </a:prstGeom>
          <a:noFill/>
        </p:spPr>
        <p:txBody>
          <a:bodyPr wrap="square" lIns="50000" rIns="50000" tIns="20000" bIns="20000" anchor="ctr">
            <a:spAutoFit/>
          </a:bodyPr>
          <a:lstStyle/>
          <a:p>
            <a:r>
              <a:rPr sz="2000" b="1" i="0">
                <a:solidFill>
                  <a:srgbClr val="FFFFFF"/>
                </a:solidFill>
              </a:rPr>
              <a:t>Lớp 1 — Lót chống rỉ</a:t>
            </a:r>
          </a:p>
          <a:p>
            <a:r>
              <a:rPr sz="2000" b="0" i="0">
                <a:solidFill>
                  <a:srgbClr val="EAF3EE"/>
                </a:solidFill>
              </a:rPr>
              <a:t>Epoxy giàu kẽm · bảo vệ điện hóa từ gốc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5280000"/>
            <a:ext cx="6550000" cy="1020000"/>
          </a:xfrm>
          <a:prstGeom prst="roundRect">
            <a:avLst/>
          </a:prstGeom>
          <a:solidFill>
            <a:srgbClr val="4A4F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0000" y="5280000"/>
            <a:ext cx="6130000" cy="1020000"/>
          </a:xfrm>
          <a:prstGeom prst="rect">
            <a:avLst/>
          </a:prstGeom>
          <a:noFill/>
        </p:spPr>
        <p:txBody>
          <a:bodyPr wrap="square" lIns="50000" rIns="50000" tIns="20000" bIns="20000" anchor="ctr">
            <a:spAutoFit/>
          </a:bodyPr>
          <a:lstStyle/>
          <a:p>
            <a:r>
              <a:rPr sz="2000" b="1" i="0">
                <a:solidFill>
                  <a:srgbClr val="FFFFFF"/>
                </a:solidFill>
              </a:rPr>
              <a:t>THÉP NỀN</a:t>
            </a:r>
          </a:p>
          <a:p>
            <a:r>
              <a:rPr sz="2000" b="0" i="0">
                <a:solidFill>
                  <a:srgbClr val="EAF3EE"/>
                </a:solidFill>
              </a:rPr>
              <a:t>Đã xử lý bề mặt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386000" y="2196217"/>
            <a:ext cx="4288000" cy="3737565"/>
          </a:xfrm>
          <a:prstGeom prst="rect">
            <a:avLst/>
          </a:prstGeom>
          <a:solidFill>
            <a:srgbClr val="1F4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1" name="Picture 20" descr="ship_c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420000" y="2230217"/>
            <a:ext cx="4220000" cy="3669565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7386000" y="5949782"/>
            <a:ext cx="4288000" cy="30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pPr algn="ctr"/>
            <a:r>
              <a:rPr sz="1500" b="0" i="1">
                <a:solidFill>
                  <a:srgbClr val="5B6E66"/>
                </a:solidFill>
              </a:rPr>
              <a:t>Sơn phủ bảo vệ thân tàu (minh họa)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4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divbg.png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0:svgBlip xmlns:ns0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6485000"/>
            <a:ext cx="8200000" cy="30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1100" b="0" i="0">
                <a:solidFill>
                  <a:srgbClr val="9DB3AA"/>
                </a:solidFill>
              </a:rPr>
              <a:t>Báo cáo thực tập  ·  Công ty TNHH Sơn Hải Vân</a:t>
            </a:r>
          </a:p>
        </p:txBody>
      </p:sp>
      <p:pic>
        <p:nvPicPr>
          <p:cNvPr id="5" name="Picture 4" descr="gear_proc_w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ns1:svgBlip xmlns:ns1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8850000" y="2050000"/>
            <a:ext cx="2650000" cy="265000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905000" y="2360000"/>
            <a:ext cx="240000" cy="1300000"/>
          </a:xfrm>
          <a:prstGeom prst="roundRect">
            <a:avLst/>
          </a:prstGeom>
          <a:solidFill>
            <a:srgbClr val="C8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360000" y="2400000"/>
            <a:ext cx="1250000" cy="1250000"/>
          </a:xfrm>
          <a:prstGeom prst="ellipse">
            <a:avLst/>
          </a:prstGeom>
          <a:solidFill>
            <a:srgbClr val="C8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4600" b="1" i="0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2450000"/>
            <a:ext cx="6200000" cy="52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2000" b="1" i="0">
                <a:solidFill>
                  <a:srgbClr val="C88A2E"/>
                </a:solidFill>
              </a:rPr>
              <a:t>PHẦN 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900000" y="2980000"/>
            <a:ext cx="6300000" cy="140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3800" b="1" i="0">
                <a:solidFill>
                  <a:srgbClr val="FFFFFF"/>
                </a:solidFill>
              </a:rPr>
              <a:t>Quy trình công nghệ &amp; thiết bị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hex_pale.png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0:svgBlip xmlns:ns0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10600000" y="-260000"/>
            <a:ext cx="2100000" cy="2100000"/>
          </a:xfrm>
          <a:prstGeom prst="rect">
            <a:avLst/>
          </a:prstGeom>
        </p:spPr>
      </p:pic>
      <p:pic>
        <p:nvPicPr>
          <p:cNvPr id="4" name="Picture 3" descr="swash_pale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ns1:svgBlip xmlns:ns1="http://schemas.microsoft.com/office/drawing/2016/SVG/main" r:embed="rId19"/>
              </a:ext>
            </a:extLst>
          </a:blip>
          <a:stretch>
            <a:fillRect/>
          </a:stretch>
        </p:blipFill>
        <p:spPr>
          <a:xfrm>
            <a:off x="9550000" y="5150000"/>
            <a:ext cx="2500000" cy="1300000"/>
          </a:xfrm>
          <a:prstGeom prst="rect">
            <a:avLst/>
          </a:prstGeom>
        </p:spPr>
      </p:pic>
      <p:sp>
        <p:nvSpPr>
          <p:cNvPr id="5" name="Oval 4"/>
          <p:cNvSpPr/>
          <p:nvPr/>
        </p:nvSpPr>
        <p:spPr>
          <a:xfrm>
            <a:off x="548640" y="470000"/>
            <a:ext cx="720000" cy="720000"/>
          </a:xfrm>
          <a:prstGeom prst="ellipse">
            <a:avLst/>
          </a:prstGeom>
          <a:solidFill>
            <a:srgbClr val="1F4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600" b="1" i="0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30000" y="430000"/>
            <a:ext cx="9000000" cy="38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2000" b="1" i="0">
                <a:solidFill>
                  <a:srgbClr val="C88A2E"/>
                </a:solidFill>
              </a:rPr>
              <a:t>3. QUY TRÌNH CÔNG NGHỆ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30000" y="850000"/>
            <a:ext cx="9800000" cy="78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3300" b="1" i="0">
                <a:solidFill>
                  <a:srgbClr val="1F4E3D"/>
                </a:solidFill>
              </a:rPr>
              <a:t>Sáu công đoạn sản xuất</a:t>
            </a:r>
          </a:p>
        </p:txBody>
      </p:sp>
      <p:pic>
        <p:nvPicPr>
          <p:cNvPr id="8" name="Picture 7" descr="brush_amber.png"/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ns2:svgBlip xmlns:ns2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1430000" y="1500000"/>
            <a:ext cx="1200000" cy="22500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548640" y="6430000"/>
            <a:ext cx="11090000" cy="9000"/>
          </a:xfrm>
          <a:prstGeom prst="rect">
            <a:avLst/>
          </a:prstGeom>
          <a:solidFill>
            <a:srgbClr val="DCE7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6485000"/>
            <a:ext cx="8200000" cy="30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1100" b="0" i="0">
                <a:solidFill>
                  <a:srgbClr val="6E7F77"/>
                </a:solidFill>
              </a:rPr>
              <a:t>Báo cáo thực tập  ·  Công ty TNHH Sơn Hải Vân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250000" y="6485000"/>
            <a:ext cx="700000" cy="30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pPr algn="r"/>
            <a:r>
              <a:rPr sz="1200" b="1" i="0">
                <a:solidFill>
                  <a:srgbClr val="6E7F77"/>
                </a:solidFill>
              </a:rPr>
              <a:t>14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1830000"/>
            <a:ext cx="5395000" cy="1336666"/>
          </a:xfrm>
          <a:prstGeom prst="roundRect">
            <a:avLst/>
          </a:prstGeom>
          <a:solidFill>
            <a:srgbClr val="EE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778640" y="2057233"/>
            <a:ext cx="882199" cy="882199"/>
          </a:xfrm>
          <a:prstGeom prst="ellipse">
            <a:avLst/>
          </a:prstGeom>
          <a:solidFill>
            <a:srgbClr val="2C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dinh_luong_w.png"/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ns3:svgBlip xmlns:ns3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955079" y="2233672"/>
            <a:ext cx="529319" cy="529319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1940839" y="1830000"/>
            <a:ext cx="3952801" cy="1336666"/>
          </a:xfrm>
          <a:prstGeom prst="rect">
            <a:avLst/>
          </a:prstGeom>
          <a:noFill/>
        </p:spPr>
        <p:txBody>
          <a:bodyPr wrap="square" lIns="50000" rIns="50000" tIns="20000" bIns="20000" anchor="ctr">
            <a:spAutoFit/>
          </a:bodyPr>
          <a:lstStyle/>
          <a:p>
            <a:r>
              <a:rPr sz="2075" b="1" i="0">
                <a:solidFill>
                  <a:srgbClr val="1F4E3D"/>
                </a:solidFill>
              </a:rPr>
              <a:t>1. Định lượng</a:t>
            </a:r>
          </a:p>
          <a:p>
            <a:r>
              <a:rPr sz="2000" b="0" i="0">
                <a:solidFill>
                  <a:srgbClr val="34404A"/>
                </a:solidFill>
              </a:rPr>
              <a:t>Cân đúng tỉ lệ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43640" y="1830000"/>
            <a:ext cx="5395000" cy="1336666"/>
          </a:xfrm>
          <a:prstGeom prst="roundRect">
            <a:avLst/>
          </a:prstGeom>
          <a:solidFill>
            <a:srgbClr val="EE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6473640" y="2057233"/>
            <a:ext cx="882199" cy="882199"/>
          </a:xfrm>
          <a:prstGeom prst="ellipse">
            <a:avLst/>
          </a:prstGeom>
          <a:solidFill>
            <a:srgbClr val="2C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danh_paste_w.png"/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ns4:svgBlip xmlns:ns4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6650079" y="2233672"/>
            <a:ext cx="529319" cy="529319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7635839" y="1830000"/>
            <a:ext cx="3952801" cy="1336666"/>
          </a:xfrm>
          <a:prstGeom prst="rect">
            <a:avLst/>
          </a:prstGeom>
          <a:noFill/>
        </p:spPr>
        <p:txBody>
          <a:bodyPr wrap="square" lIns="50000" rIns="50000" tIns="20000" bIns="20000" anchor="ctr">
            <a:spAutoFit/>
          </a:bodyPr>
          <a:lstStyle/>
          <a:p>
            <a:r>
              <a:rPr sz="2075" b="1" i="0">
                <a:solidFill>
                  <a:srgbClr val="1F4E3D"/>
                </a:solidFill>
              </a:rPr>
              <a:t>2. Đánh paste</a:t>
            </a:r>
          </a:p>
          <a:p>
            <a:r>
              <a:rPr sz="2000" b="0" i="0">
                <a:solidFill>
                  <a:srgbClr val="34404A"/>
                </a:solidFill>
              </a:rPr>
              <a:t>Phân tán bột màu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48640" y="3396666"/>
            <a:ext cx="5395000" cy="1336666"/>
          </a:xfrm>
          <a:prstGeom prst="roundRect">
            <a:avLst/>
          </a:prstGeom>
          <a:solidFill>
            <a:srgbClr val="EE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778640" y="3623899"/>
            <a:ext cx="882199" cy="882199"/>
          </a:xfrm>
          <a:prstGeom prst="ellipse">
            <a:avLst/>
          </a:prstGeom>
          <a:solidFill>
            <a:srgbClr val="2C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2" name="Picture 21" descr="nghien_min_w.png"/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ns5:svgBlip xmlns:ns5="http://schemas.microsoft.com/office/drawing/2016/SVG/main" r:embed="rId17"/>
              </a:ext>
            </a:extLst>
          </a:blip>
          <a:stretch>
            <a:fillRect/>
          </a:stretch>
        </p:blipFill>
        <p:spPr>
          <a:xfrm>
            <a:off x="955079" y="3800338"/>
            <a:ext cx="529319" cy="529319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1940839" y="3396666"/>
            <a:ext cx="3952801" cy="1336666"/>
          </a:xfrm>
          <a:prstGeom prst="rect">
            <a:avLst/>
          </a:prstGeom>
          <a:noFill/>
        </p:spPr>
        <p:txBody>
          <a:bodyPr wrap="square" lIns="50000" rIns="50000" tIns="20000" bIns="20000" anchor="ctr">
            <a:spAutoFit/>
          </a:bodyPr>
          <a:lstStyle/>
          <a:p>
            <a:r>
              <a:rPr sz="2075" b="1" i="0">
                <a:solidFill>
                  <a:srgbClr val="1F4E3D"/>
                </a:solidFill>
              </a:rPr>
              <a:t>3. Nghiền mịn</a:t>
            </a:r>
          </a:p>
          <a:p>
            <a:r>
              <a:rPr sz="2000" b="0" i="0">
                <a:solidFill>
                  <a:srgbClr val="34404A"/>
                </a:solidFill>
              </a:rPr>
              <a:t>Hạ hạt 10–20 µm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243640" y="3396666"/>
            <a:ext cx="5395000" cy="1336666"/>
          </a:xfrm>
          <a:prstGeom prst="roundRect">
            <a:avLst/>
          </a:prstGeom>
          <a:solidFill>
            <a:srgbClr val="EE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6473640" y="3623899"/>
            <a:ext cx="882199" cy="882199"/>
          </a:xfrm>
          <a:prstGeom prst="ellipse">
            <a:avLst/>
          </a:prstGeom>
          <a:solidFill>
            <a:srgbClr val="2C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6" name="Picture 25" descr="ngam_u_w.png"/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ns6:svgBlip xmlns:ns6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6650079" y="3800338"/>
            <a:ext cx="529319" cy="529319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7635839" y="3396666"/>
            <a:ext cx="3952801" cy="1336666"/>
          </a:xfrm>
          <a:prstGeom prst="rect">
            <a:avLst/>
          </a:prstGeom>
          <a:noFill/>
        </p:spPr>
        <p:txBody>
          <a:bodyPr wrap="square" lIns="50000" rIns="50000" tIns="20000" bIns="20000" anchor="ctr">
            <a:spAutoFit/>
          </a:bodyPr>
          <a:lstStyle/>
          <a:p>
            <a:r>
              <a:rPr sz="2075" b="1" i="0">
                <a:solidFill>
                  <a:srgbClr val="1F4E3D"/>
                </a:solidFill>
              </a:rPr>
              <a:t>4. Ngâm ủ</a:t>
            </a:r>
          </a:p>
          <a:p>
            <a:r>
              <a:rPr sz="2000" b="0" i="0">
                <a:solidFill>
                  <a:srgbClr val="34404A"/>
                </a:solidFill>
              </a:rPr>
              <a:t>Ổn định hệ, giảm bọt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48640" y="4963332"/>
            <a:ext cx="5395000" cy="1336666"/>
          </a:xfrm>
          <a:prstGeom prst="roundRect">
            <a:avLst/>
          </a:prstGeom>
          <a:solidFill>
            <a:srgbClr val="EE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778640" y="5190565"/>
            <a:ext cx="882199" cy="882199"/>
          </a:xfrm>
          <a:prstGeom prst="ellipse">
            <a:avLst/>
          </a:prstGeom>
          <a:solidFill>
            <a:srgbClr val="2C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0" name="Picture 29" descr="pha_loang_w.png"/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ns7:svgBlip xmlns:ns7="http://schemas.microsoft.com/office/drawing/2016/SVG/main" r:embed="rId18"/>
              </a:ext>
            </a:extLst>
          </a:blip>
          <a:stretch>
            <a:fillRect/>
          </a:stretch>
        </p:blipFill>
        <p:spPr>
          <a:xfrm>
            <a:off x="955079" y="5367004"/>
            <a:ext cx="529319" cy="529319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1940839" y="4963332"/>
            <a:ext cx="3952801" cy="1336666"/>
          </a:xfrm>
          <a:prstGeom prst="rect">
            <a:avLst/>
          </a:prstGeom>
          <a:noFill/>
        </p:spPr>
        <p:txBody>
          <a:bodyPr wrap="square" lIns="50000" rIns="50000" tIns="20000" bIns="20000" anchor="ctr">
            <a:spAutoFit/>
          </a:bodyPr>
          <a:lstStyle/>
          <a:p>
            <a:r>
              <a:rPr sz="2075" b="1" i="0">
                <a:solidFill>
                  <a:srgbClr val="1F4E3D"/>
                </a:solidFill>
              </a:rPr>
              <a:t>5. Pha loãng</a:t>
            </a:r>
          </a:p>
          <a:p>
            <a:r>
              <a:rPr sz="2000" b="0" i="0">
                <a:solidFill>
                  <a:srgbClr val="34404A"/>
                </a:solidFill>
              </a:rPr>
              <a:t>Chỉnh độ nhớt (KU)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243640" y="4963332"/>
            <a:ext cx="5395000" cy="1336666"/>
          </a:xfrm>
          <a:prstGeom prst="roundRect">
            <a:avLst/>
          </a:prstGeom>
          <a:solidFill>
            <a:srgbClr val="EE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6473640" y="5190565"/>
            <a:ext cx="882199" cy="882199"/>
          </a:xfrm>
          <a:prstGeom prst="ellipse">
            <a:avLst/>
          </a:prstGeom>
          <a:solidFill>
            <a:srgbClr val="2C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4" name="Picture 33" descr="loc_donggoi_w.png"/>
          <p:cNvPicPr>
            <a:picLocks noChangeAspect="1"/>
          </p:cNvPicPr>
          <p:nvPr/>
        </p:nvPicPr>
        <p:blipFill>
          <a:blip r:embed="rId10">
            <a:extLst>
              <a:ext uri="{96DAC541-7B7A-43D3-8B79-37D633B846F1}">
                <ns8:svgBlip xmlns:ns8="http://schemas.microsoft.com/office/drawing/2016/SVG/main" r:embed="rId15"/>
              </a:ext>
            </a:extLst>
          </a:blip>
          <a:stretch>
            <a:fillRect/>
          </a:stretch>
        </p:blipFill>
        <p:spPr>
          <a:xfrm>
            <a:off x="6650079" y="5367004"/>
            <a:ext cx="529319" cy="529319"/>
          </a:xfrm>
          <a:prstGeom prst="rect">
            <a:avLst/>
          </a:prstGeom>
        </p:spPr>
      </p:pic>
      <p:sp>
        <p:nvSpPr>
          <p:cNvPr id="35" name="TextBox 34"/>
          <p:cNvSpPr txBox="1"/>
          <p:nvPr/>
        </p:nvSpPr>
        <p:spPr>
          <a:xfrm>
            <a:off x="7635839" y="4963332"/>
            <a:ext cx="3952801" cy="1336666"/>
          </a:xfrm>
          <a:prstGeom prst="rect">
            <a:avLst/>
          </a:prstGeom>
          <a:noFill/>
        </p:spPr>
        <p:txBody>
          <a:bodyPr wrap="square" lIns="50000" rIns="50000" tIns="20000" bIns="20000" anchor="ctr">
            <a:spAutoFit/>
          </a:bodyPr>
          <a:lstStyle/>
          <a:p>
            <a:r>
              <a:rPr sz="2075" b="1" i="0">
                <a:solidFill>
                  <a:srgbClr val="1F4E3D"/>
                </a:solidFill>
              </a:rPr>
              <a:t>6. Lọc &amp; đóng gói</a:t>
            </a:r>
          </a:p>
          <a:p>
            <a:r>
              <a:rPr sz="2000" b="0" i="0">
                <a:solidFill>
                  <a:srgbClr val="34404A"/>
                </a:solidFill>
              </a:rPr>
              <a:t>Loại tạp chất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hex_pale.png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0:svgBlip xmlns:ns0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0600000" y="-260000"/>
            <a:ext cx="2100000" cy="2100000"/>
          </a:xfrm>
          <a:prstGeom prst="rect">
            <a:avLst/>
          </a:prstGeom>
        </p:spPr>
      </p:pic>
      <p:pic>
        <p:nvPicPr>
          <p:cNvPr id="4" name="Picture 3" descr="swash_pale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ns1:svgBlip xmlns:ns1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9550000" y="5150000"/>
            <a:ext cx="2500000" cy="1300000"/>
          </a:xfrm>
          <a:prstGeom prst="rect">
            <a:avLst/>
          </a:prstGeom>
        </p:spPr>
      </p:pic>
      <p:sp>
        <p:nvSpPr>
          <p:cNvPr id="5" name="Oval 4"/>
          <p:cNvSpPr/>
          <p:nvPr/>
        </p:nvSpPr>
        <p:spPr>
          <a:xfrm>
            <a:off x="548640" y="470000"/>
            <a:ext cx="720000" cy="720000"/>
          </a:xfrm>
          <a:prstGeom prst="ellipse">
            <a:avLst/>
          </a:prstGeom>
          <a:solidFill>
            <a:srgbClr val="1F4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600" b="1" i="0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30000" y="430000"/>
            <a:ext cx="9000000" cy="38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2000" b="1" i="0">
                <a:solidFill>
                  <a:srgbClr val="C88A2E"/>
                </a:solidFill>
              </a:rPr>
              <a:t>3. QUY TRÌNH CÔNG NGHỆ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30000" y="850000"/>
            <a:ext cx="9800000" cy="78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3300" b="1" i="0">
                <a:solidFill>
                  <a:srgbClr val="1F4E3D"/>
                </a:solidFill>
              </a:rPr>
              <a:t>Lưu đồ quy trình sản xuất sơn</a:t>
            </a:r>
          </a:p>
        </p:txBody>
      </p:sp>
      <p:pic>
        <p:nvPicPr>
          <p:cNvPr id="8" name="Picture 7" descr="brush_amber.png"/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ns2:svgBlip xmlns:ns2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1430000" y="1500000"/>
            <a:ext cx="1200000" cy="22500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548640" y="6430000"/>
            <a:ext cx="11090000" cy="9000"/>
          </a:xfrm>
          <a:prstGeom prst="rect">
            <a:avLst/>
          </a:prstGeom>
          <a:solidFill>
            <a:srgbClr val="DCE7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6485000"/>
            <a:ext cx="8200000" cy="30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1100" b="0" i="0">
                <a:solidFill>
                  <a:srgbClr val="6E7F77"/>
                </a:solidFill>
              </a:rPr>
              <a:t>Báo cáo thực tập  ·  Công ty TNHH Sơn Hải Vân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250000" y="6485000"/>
            <a:ext cx="700000" cy="30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pPr algn="r"/>
            <a:r>
              <a:rPr sz="1200" b="1" i="0">
                <a:solidFill>
                  <a:srgbClr val="6E7F77"/>
                </a:solidFill>
              </a:rPr>
              <a:t>15</a:t>
            </a:r>
          </a:p>
        </p:txBody>
      </p:sp>
      <p:pic>
        <p:nvPicPr>
          <p:cNvPr id="12" name="Picture 11" descr="big_flow.png"/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ns3:svgBlip xmlns:ns3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891457" y="1855000"/>
            <a:ext cx="8408780" cy="44200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hex_pale.png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0:svgBlip xmlns:ns0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0600000" y="-260000"/>
            <a:ext cx="2100000" cy="2100000"/>
          </a:xfrm>
          <a:prstGeom prst="rect">
            <a:avLst/>
          </a:prstGeom>
        </p:spPr>
      </p:pic>
      <p:pic>
        <p:nvPicPr>
          <p:cNvPr id="4" name="Picture 3" descr="swash_pale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ns1:svgBlip xmlns:ns1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9550000" y="5150000"/>
            <a:ext cx="2500000" cy="1300000"/>
          </a:xfrm>
          <a:prstGeom prst="rect">
            <a:avLst/>
          </a:prstGeom>
        </p:spPr>
      </p:pic>
      <p:sp>
        <p:nvSpPr>
          <p:cNvPr id="5" name="Oval 4"/>
          <p:cNvSpPr/>
          <p:nvPr/>
        </p:nvSpPr>
        <p:spPr>
          <a:xfrm>
            <a:off x="548640" y="470000"/>
            <a:ext cx="720000" cy="720000"/>
          </a:xfrm>
          <a:prstGeom prst="ellipse">
            <a:avLst/>
          </a:prstGeom>
          <a:solidFill>
            <a:srgbClr val="1F4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600" b="1" i="0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30000" y="430000"/>
            <a:ext cx="9000000" cy="38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2000" b="1" i="0">
                <a:solidFill>
                  <a:srgbClr val="C88A2E"/>
                </a:solidFill>
              </a:rPr>
              <a:t>3. QUY TRÌNH CÔNG NGHỆ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30000" y="850000"/>
            <a:ext cx="9800000" cy="78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3300" b="1" i="0">
                <a:solidFill>
                  <a:srgbClr val="1F4E3D"/>
                </a:solidFill>
              </a:rPr>
              <a:t>Thời gian tương đối giữa các công đoạn</a:t>
            </a:r>
          </a:p>
        </p:txBody>
      </p:sp>
      <p:pic>
        <p:nvPicPr>
          <p:cNvPr id="8" name="Picture 7" descr="brush_amber.png"/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ns2:svgBlip xmlns:ns2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1430000" y="1500000"/>
            <a:ext cx="1200000" cy="22500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548640" y="6430000"/>
            <a:ext cx="11090000" cy="9000"/>
          </a:xfrm>
          <a:prstGeom prst="rect">
            <a:avLst/>
          </a:prstGeom>
          <a:solidFill>
            <a:srgbClr val="DCE7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6485000"/>
            <a:ext cx="8200000" cy="30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1100" b="0" i="0">
                <a:solidFill>
                  <a:srgbClr val="6E7F77"/>
                </a:solidFill>
              </a:rPr>
              <a:t>Báo cáo thực tập  ·  Công ty TNHH Sơn Hải Vân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250000" y="6485000"/>
            <a:ext cx="700000" cy="30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pPr algn="r"/>
            <a:r>
              <a:rPr sz="1200" b="1" i="0">
                <a:solidFill>
                  <a:srgbClr val="6E7F77"/>
                </a:solidFill>
              </a:rPr>
              <a:t>16</a:t>
            </a:r>
          </a:p>
        </p:txBody>
      </p:sp>
      <p:pic>
        <p:nvPicPr>
          <p:cNvPr id="12" name="Picture 11" descr="big_columns.png"/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ns3:svgBlip xmlns:ns3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862247" y="1905000"/>
            <a:ext cx="8467200" cy="432000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hex_pale.png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0:svgBlip xmlns:ns0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10600000" y="-260000"/>
            <a:ext cx="2100000" cy="2100000"/>
          </a:xfrm>
          <a:prstGeom prst="rect">
            <a:avLst/>
          </a:prstGeom>
        </p:spPr>
      </p:pic>
      <p:pic>
        <p:nvPicPr>
          <p:cNvPr id="4" name="Picture 3" descr="swash_pale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ns1:svgBlip xmlns:ns1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9550000" y="5150000"/>
            <a:ext cx="2500000" cy="1300000"/>
          </a:xfrm>
          <a:prstGeom prst="rect">
            <a:avLst/>
          </a:prstGeom>
        </p:spPr>
      </p:pic>
      <p:sp>
        <p:nvSpPr>
          <p:cNvPr id="5" name="Oval 4"/>
          <p:cNvSpPr/>
          <p:nvPr/>
        </p:nvSpPr>
        <p:spPr>
          <a:xfrm>
            <a:off x="548640" y="470000"/>
            <a:ext cx="720000" cy="720000"/>
          </a:xfrm>
          <a:prstGeom prst="ellipse">
            <a:avLst/>
          </a:prstGeom>
          <a:solidFill>
            <a:srgbClr val="1F4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600" b="1" i="0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30000" y="430000"/>
            <a:ext cx="9000000" cy="38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2000" b="1" i="0">
                <a:solidFill>
                  <a:srgbClr val="C88A2E"/>
                </a:solidFill>
              </a:rPr>
              <a:t>3. QUY TRÌNH — CHI TIẾT (1/2)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30000" y="850000"/>
            <a:ext cx="9800000" cy="78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3300" b="1" i="0">
                <a:solidFill>
                  <a:srgbClr val="1F4E3D"/>
                </a:solidFill>
              </a:rPr>
              <a:t>Ba công đoạn đầu</a:t>
            </a:r>
          </a:p>
        </p:txBody>
      </p:sp>
      <p:pic>
        <p:nvPicPr>
          <p:cNvPr id="8" name="Picture 7" descr="brush_amber.png"/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ns2:svgBlip xmlns:ns2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430000" y="1500000"/>
            <a:ext cx="1200000" cy="22500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548640" y="6430000"/>
            <a:ext cx="11090000" cy="9000"/>
          </a:xfrm>
          <a:prstGeom prst="rect">
            <a:avLst/>
          </a:prstGeom>
          <a:solidFill>
            <a:srgbClr val="DCE7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6485000"/>
            <a:ext cx="8200000" cy="30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1100" b="0" i="0">
                <a:solidFill>
                  <a:srgbClr val="6E7F77"/>
                </a:solidFill>
              </a:rPr>
              <a:t>Báo cáo thực tập  ·  Công ty TNHH Sơn Hải Vân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250000" y="6485000"/>
            <a:ext cx="700000" cy="30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pPr algn="r"/>
            <a:r>
              <a:rPr sz="1200" b="1" i="0">
                <a:solidFill>
                  <a:srgbClr val="6E7F77"/>
                </a:solidFill>
              </a:rPr>
              <a:t>17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25000" y="2575000"/>
            <a:ext cx="30000" cy="2980000"/>
          </a:xfrm>
          <a:prstGeom prst="rect">
            <a:avLst/>
          </a:prstGeom>
          <a:solidFill>
            <a:srgbClr val="CFE2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700000" y="2330000"/>
            <a:ext cx="490000" cy="490000"/>
          </a:xfrm>
          <a:prstGeom prst="ellipse">
            <a:avLst/>
          </a:prstGeom>
          <a:solidFill>
            <a:srgbClr val="2C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200" b="1" i="0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14" name="Oval 13"/>
          <p:cNvSpPr/>
          <p:nvPr/>
        </p:nvSpPr>
        <p:spPr>
          <a:xfrm>
            <a:off x="1400000" y="2277000"/>
            <a:ext cx="596000" cy="596000"/>
          </a:xfrm>
          <a:prstGeom prst="ellipse">
            <a:avLst/>
          </a:prstGeom>
          <a:solidFill>
            <a:srgbClr val="1F4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dinh_luong_w.png"/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ns3:svgBlip xmlns:ns3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519200" y="2396200"/>
            <a:ext cx="357600" cy="35760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2296000" y="1830000"/>
            <a:ext cx="8600000" cy="1490000"/>
          </a:xfrm>
          <a:prstGeom prst="rect">
            <a:avLst/>
          </a:prstGeom>
          <a:noFill/>
        </p:spPr>
        <p:txBody>
          <a:bodyPr wrap="square" lIns="50000" rIns="50000" tIns="20000" bIns="20000" anchor="ctr">
            <a:spAutoFit/>
          </a:bodyPr>
          <a:lstStyle/>
          <a:p>
            <a:r>
              <a:rPr sz="2075" b="1" i="0">
                <a:solidFill>
                  <a:srgbClr val="1F4E3D"/>
                </a:solidFill>
              </a:rPr>
              <a:t>Định lượng</a:t>
            </a:r>
          </a:p>
          <a:p>
            <a:r>
              <a:rPr sz="2000" b="0" i="0">
                <a:solidFill>
                  <a:srgbClr val="34404A"/>
                </a:solidFill>
              </a:rPr>
              <a:t>Cân tỉ lệ nhựa / dung môi / phụ gia / bột</a:t>
            </a:r>
          </a:p>
          <a:p>
            <a:r>
              <a:rPr sz="2000" b="0" i="0">
                <a:solidFill>
                  <a:srgbClr val="34404A"/>
                </a:solidFill>
              </a:rPr>
              <a:t>Bắt buộc · theo công thức R&amp;D</a:t>
            </a:r>
          </a:p>
        </p:txBody>
      </p:sp>
      <p:sp>
        <p:nvSpPr>
          <p:cNvPr id="17" name="Oval 16"/>
          <p:cNvSpPr/>
          <p:nvPr/>
        </p:nvSpPr>
        <p:spPr>
          <a:xfrm>
            <a:off x="700000" y="3820000"/>
            <a:ext cx="490000" cy="490000"/>
          </a:xfrm>
          <a:prstGeom prst="ellipse">
            <a:avLst/>
          </a:prstGeom>
          <a:solidFill>
            <a:srgbClr val="2C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200" b="1" i="0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8" name="Oval 17"/>
          <p:cNvSpPr/>
          <p:nvPr/>
        </p:nvSpPr>
        <p:spPr>
          <a:xfrm>
            <a:off x="1400000" y="3767000"/>
            <a:ext cx="596000" cy="596000"/>
          </a:xfrm>
          <a:prstGeom prst="ellipse">
            <a:avLst/>
          </a:prstGeom>
          <a:solidFill>
            <a:srgbClr val="1F4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danh_paste_w.png"/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ns4:svgBlip xmlns:ns4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1519200" y="3886200"/>
            <a:ext cx="357600" cy="35760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2296000" y="3320000"/>
            <a:ext cx="8600000" cy="1490000"/>
          </a:xfrm>
          <a:prstGeom prst="rect">
            <a:avLst/>
          </a:prstGeom>
          <a:noFill/>
        </p:spPr>
        <p:txBody>
          <a:bodyPr wrap="square" lIns="50000" rIns="50000" tIns="20000" bIns="20000" anchor="ctr">
            <a:spAutoFit/>
          </a:bodyPr>
          <a:lstStyle/>
          <a:p>
            <a:r>
              <a:rPr sz="2075" b="1" i="0">
                <a:solidFill>
                  <a:srgbClr val="1F4E3D"/>
                </a:solidFill>
              </a:rPr>
              <a:t>Đánh paste</a:t>
            </a:r>
          </a:p>
          <a:p>
            <a:r>
              <a:rPr sz="2000" b="0" i="0">
                <a:solidFill>
                  <a:srgbClr val="34404A"/>
                </a:solidFill>
              </a:rPr>
              <a:t>Khuấy 900–1200 v/p, hòa bột vào nhựa</a:t>
            </a:r>
          </a:p>
          <a:p>
            <a:r>
              <a:rPr sz="2000" b="0" i="0">
                <a:solidFill>
                  <a:srgbClr val="34404A"/>
                </a:solidFill>
              </a:rPr>
              <a:t>Bắt buộc · vài chục phút / mẻ</a:t>
            </a:r>
          </a:p>
        </p:txBody>
      </p:sp>
      <p:sp>
        <p:nvSpPr>
          <p:cNvPr id="21" name="Oval 20"/>
          <p:cNvSpPr/>
          <p:nvPr/>
        </p:nvSpPr>
        <p:spPr>
          <a:xfrm>
            <a:off x="700000" y="5310000"/>
            <a:ext cx="490000" cy="490000"/>
          </a:xfrm>
          <a:prstGeom prst="ellipse">
            <a:avLst/>
          </a:prstGeom>
          <a:solidFill>
            <a:srgbClr val="2C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200" b="1" i="0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22" name="Oval 21"/>
          <p:cNvSpPr/>
          <p:nvPr/>
        </p:nvSpPr>
        <p:spPr>
          <a:xfrm>
            <a:off x="1400000" y="5257000"/>
            <a:ext cx="596000" cy="596000"/>
          </a:xfrm>
          <a:prstGeom prst="ellipse">
            <a:avLst/>
          </a:prstGeom>
          <a:solidFill>
            <a:srgbClr val="1F4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3" name="Picture 22" descr="nghien_min_w.png"/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ns5:svgBlip xmlns:ns5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1519200" y="5376200"/>
            <a:ext cx="357600" cy="357600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2296000" y="4810000"/>
            <a:ext cx="8600000" cy="1490000"/>
          </a:xfrm>
          <a:prstGeom prst="rect">
            <a:avLst/>
          </a:prstGeom>
          <a:noFill/>
        </p:spPr>
        <p:txBody>
          <a:bodyPr wrap="square" lIns="50000" rIns="50000" tIns="20000" bIns="20000" anchor="ctr">
            <a:spAutoFit/>
          </a:bodyPr>
          <a:lstStyle/>
          <a:p>
            <a:r>
              <a:rPr sz="2075" b="1" i="0">
                <a:solidFill>
                  <a:srgbClr val="1F4E3D"/>
                </a:solidFill>
              </a:rPr>
              <a:t>Nghiền mịn</a:t>
            </a:r>
          </a:p>
          <a:p>
            <a:r>
              <a:rPr sz="2000" b="0" i="0">
                <a:solidFill>
                  <a:srgbClr val="34404A"/>
                </a:solidFill>
              </a:rPr>
              <a:t>Bi nghiền đưa hạt xuống 10–20 µm</a:t>
            </a:r>
          </a:p>
          <a:p>
            <a:r>
              <a:rPr sz="2000" b="0" i="0">
                <a:solidFill>
                  <a:srgbClr val="34404A"/>
                </a:solidFill>
              </a:rPr>
              <a:t>Có thể bỏ qua nếu đã đạt Hegman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hex_pale.png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0:svgBlip xmlns:ns0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10600000" y="-260000"/>
            <a:ext cx="2100000" cy="2100000"/>
          </a:xfrm>
          <a:prstGeom prst="rect">
            <a:avLst/>
          </a:prstGeom>
        </p:spPr>
      </p:pic>
      <p:pic>
        <p:nvPicPr>
          <p:cNvPr id="4" name="Picture 3" descr="swash_pale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ns1:svgBlip xmlns:ns1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9550000" y="5150000"/>
            <a:ext cx="2500000" cy="1300000"/>
          </a:xfrm>
          <a:prstGeom prst="rect">
            <a:avLst/>
          </a:prstGeom>
        </p:spPr>
      </p:pic>
      <p:sp>
        <p:nvSpPr>
          <p:cNvPr id="5" name="Oval 4"/>
          <p:cNvSpPr/>
          <p:nvPr/>
        </p:nvSpPr>
        <p:spPr>
          <a:xfrm>
            <a:off x="548640" y="470000"/>
            <a:ext cx="720000" cy="720000"/>
          </a:xfrm>
          <a:prstGeom prst="ellipse">
            <a:avLst/>
          </a:prstGeom>
          <a:solidFill>
            <a:srgbClr val="1F4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600" b="1" i="0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30000" y="430000"/>
            <a:ext cx="9000000" cy="38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2000" b="1" i="0">
                <a:solidFill>
                  <a:srgbClr val="C88A2E"/>
                </a:solidFill>
              </a:rPr>
              <a:t>3. QUY TRÌNH — CHI TIẾT (2/2)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30000" y="850000"/>
            <a:ext cx="9800000" cy="78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3300" b="1" i="0">
                <a:solidFill>
                  <a:srgbClr val="1F4E3D"/>
                </a:solidFill>
              </a:rPr>
              <a:t>Ba công đoạn sau</a:t>
            </a:r>
          </a:p>
        </p:txBody>
      </p:sp>
      <p:pic>
        <p:nvPicPr>
          <p:cNvPr id="8" name="Picture 7" descr="brush_amber.png"/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ns2:svgBlip xmlns:ns2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430000" y="1500000"/>
            <a:ext cx="1200000" cy="22500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548640" y="6430000"/>
            <a:ext cx="11090000" cy="9000"/>
          </a:xfrm>
          <a:prstGeom prst="rect">
            <a:avLst/>
          </a:prstGeom>
          <a:solidFill>
            <a:srgbClr val="DCE7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6485000"/>
            <a:ext cx="8200000" cy="30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1100" b="0" i="0">
                <a:solidFill>
                  <a:srgbClr val="6E7F77"/>
                </a:solidFill>
              </a:rPr>
              <a:t>Báo cáo thực tập  ·  Công ty TNHH Sơn Hải Vân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250000" y="6485000"/>
            <a:ext cx="700000" cy="30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pPr algn="r"/>
            <a:r>
              <a:rPr sz="1200" b="1" i="0">
                <a:solidFill>
                  <a:srgbClr val="6E7F77"/>
                </a:solidFill>
              </a:rPr>
              <a:t>18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25000" y="2575000"/>
            <a:ext cx="30000" cy="2980000"/>
          </a:xfrm>
          <a:prstGeom prst="rect">
            <a:avLst/>
          </a:prstGeom>
          <a:solidFill>
            <a:srgbClr val="CFE2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700000" y="2330000"/>
            <a:ext cx="490000" cy="490000"/>
          </a:xfrm>
          <a:prstGeom prst="ellipse">
            <a:avLst/>
          </a:prstGeom>
          <a:solidFill>
            <a:srgbClr val="2C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200" b="1" i="0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14" name="Oval 13"/>
          <p:cNvSpPr/>
          <p:nvPr/>
        </p:nvSpPr>
        <p:spPr>
          <a:xfrm>
            <a:off x="1400000" y="2277000"/>
            <a:ext cx="596000" cy="596000"/>
          </a:xfrm>
          <a:prstGeom prst="ellipse">
            <a:avLst/>
          </a:prstGeom>
          <a:solidFill>
            <a:srgbClr val="1F4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ngam_u_w.png"/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ns3:svgBlip xmlns:ns3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1519200" y="2396200"/>
            <a:ext cx="357600" cy="35760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2296000" y="1830000"/>
            <a:ext cx="8600000" cy="1490000"/>
          </a:xfrm>
          <a:prstGeom prst="rect">
            <a:avLst/>
          </a:prstGeom>
          <a:noFill/>
        </p:spPr>
        <p:txBody>
          <a:bodyPr wrap="square" lIns="50000" rIns="50000" tIns="20000" bIns="20000" anchor="ctr">
            <a:spAutoFit/>
          </a:bodyPr>
          <a:lstStyle/>
          <a:p>
            <a:r>
              <a:rPr sz="2075" b="1" i="0">
                <a:solidFill>
                  <a:srgbClr val="1F4E3D"/>
                </a:solidFill>
              </a:rPr>
              <a:t>Ngâm ủ</a:t>
            </a:r>
          </a:p>
          <a:p>
            <a:r>
              <a:rPr sz="2000" b="0" i="0">
                <a:solidFill>
                  <a:srgbClr val="34404A"/>
                </a:solidFill>
              </a:rPr>
              <a:t>Giữ yên cho hệ ổn định, giảm bọt khí</a:t>
            </a:r>
          </a:p>
          <a:p>
            <a:r>
              <a:rPr sz="2000" b="0" i="0">
                <a:solidFill>
                  <a:srgbClr val="34404A"/>
                </a:solidFill>
              </a:rPr>
              <a:t>Linh hoạt · vài giờ tùy loại sơn</a:t>
            </a:r>
          </a:p>
        </p:txBody>
      </p:sp>
      <p:sp>
        <p:nvSpPr>
          <p:cNvPr id="17" name="Oval 16"/>
          <p:cNvSpPr/>
          <p:nvPr/>
        </p:nvSpPr>
        <p:spPr>
          <a:xfrm>
            <a:off x="700000" y="3820000"/>
            <a:ext cx="490000" cy="490000"/>
          </a:xfrm>
          <a:prstGeom prst="ellipse">
            <a:avLst/>
          </a:prstGeom>
          <a:solidFill>
            <a:srgbClr val="2C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200" b="1" i="0">
                <a:solidFill>
                  <a:srgbClr val="FFFFFF"/>
                </a:solidFill>
              </a:rPr>
              <a:t>5</a:t>
            </a:r>
          </a:p>
        </p:txBody>
      </p:sp>
      <p:sp>
        <p:nvSpPr>
          <p:cNvPr id="18" name="Oval 17"/>
          <p:cNvSpPr/>
          <p:nvPr/>
        </p:nvSpPr>
        <p:spPr>
          <a:xfrm>
            <a:off x="1400000" y="3767000"/>
            <a:ext cx="596000" cy="596000"/>
          </a:xfrm>
          <a:prstGeom prst="ellipse">
            <a:avLst/>
          </a:prstGeom>
          <a:solidFill>
            <a:srgbClr val="1F4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pha_loang_w.png"/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ns4:svgBlip xmlns:ns4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1519200" y="3886200"/>
            <a:ext cx="357600" cy="35760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2296000" y="3320000"/>
            <a:ext cx="8600000" cy="1490000"/>
          </a:xfrm>
          <a:prstGeom prst="rect">
            <a:avLst/>
          </a:prstGeom>
          <a:noFill/>
        </p:spPr>
        <p:txBody>
          <a:bodyPr wrap="square" lIns="50000" rIns="50000" tIns="20000" bIns="20000" anchor="ctr">
            <a:spAutoFit/>
          </a:bodyPr>
          <a:lstStyle/>
          <a:p>
            <a:r>
              <a:rPr sz="2075" b="1" i="0">
                <a:solidFill>
                  <a:srgbClr val="1F4E3D"/>
                </a:solidFill>
              </a:rPr>
              <a:t>Pha loãng</a:t>
            </a:r>
          </a:p>
          <a:p>
            <a:r>
              <a:rPr sz="2000" b="0" i="0">
                <a:solidFill>
                  <a:srgbClr val="34404A"/>
                </a:solidFill>
              </a:rPr>
              <a:t>Chỉnh độ nhớt (KU) về thông số đích</a:t>
            </a:r>
          </a:p>
          <a:p>
            <a:r>
              <a:rPr sz="2000" b="0" i="0">
                <a:solidFill>
                  <a:srgbClr val="34404A"/>
                </a:solidFill>
              </a:rPr>
              <a:t>Bắt buộc · quyết định độ phủ</a:t>
            </a:r>
          </a:p>
        </p:txBody>
      </p:sp>
      <p:sp>
        <p:nvSpPr>
          <p:cNvPr id="21" name="Oval 20"/>
          <p:cNvSpPr/>
          <p:nvPr/>
        </p:nvSpPr>
        <p:spPr>
          <a:xfrm>
            <a:off x="700000" y="5310000"/>
            <a:ext cx="490000" cy="490000"/>
          </a:xfrm>
          <a:prstGeom prst="ellipse">
            <a:avLst/>
          </a:prstGeom>
          <a:solidFill>
            <a:srgbClr val="2C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200" b="1" i="0">
                <a:solidFill>
                  <a:srgbClr val="FFFFFF"/>
                </a:solidFill>
              </a:rPr>
              <a:t>6</a:t>
            </a:r>
          </a:p>
        </p:txBody>
      </p:sp>
      <p:sp>
        <p:nvSpPr>
          <p:cNvPr id="22" name="Oval 21"/>
          <p:cNvSpPr/>
          <p:nvPr/>
        </p:nvSpPr>
        <p:spPr>
          <a:xfrm>
            <a:off x="1400000" y="5257000"/>
            <a:ext cx="596000" cy="596000"/>
          </a:xfrm>
          <a:prstGeom prst="ellipse">
            <a:avLst/>
          </a:prstGeom>
          <a:solidFill>
            <a:srgbClr val="1F4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3" name="Picture 22" descr="loc_donggoi_w.png"/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ns5:svgBlip xmlns:ns5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519200" y="5376200"/>
            <a:ext cx="357600" cy="357600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2296000" y="4810000"/>
            <a:ext cx="8600000" cy="1490000"/>
          </a:xfrm>
          <a:prstGeom prst="rect">
            <a:avLst/>
          </a:prstGeom>
          <a:noFill/>
        </p:spPr>
        <p:txBody>
          <a:bodyPr wrap="square" lIns="50000" rIns="50000" tIns="20000" bIns="20000" anchor="ctr">
            <a:spAutoFit/>
          </a:bodyPr>
          <a:lstStyle/>
          <a:p>
            <a:r>
              <a:rPr sz="2075" b="1" i="0">
                <a:solidFill>
                  <a:srgbClr val="1F4E3D"/>
                </a:solidFill>
              </a:rPr>
              <a:t>Lọc &amp; đóng gói</a:t>
            </a:r>
          </a:p>
          <a:p>
            <a:r>
              <a:rPr sz="2000" b="0" i="0">
                <a:solidFill>
                  <a:srgbClr val="34404A"/>
                </a:solidFill>
              </a:rPr>
              <a:t>Loại tạp chất / hạt vón trước xuất xưởng</a:t>
            </a:r>
          </a:p>
          <a:p>
            <a:r>
              <a:rPr sz="2000" b="0" i="0">
                <a:solidFill>
                  <a:srgbClr val="34404A"/>
                </a:solidFill>
              </a:rPr>
              <a:t>Bắt buộc · bước cuối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hex_pale.png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0:svgBlip xmlns:ns0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10600000" y="-260000"/>
            <a:ext cx="2100000" cy="2100000"/>
          </a:xfrm>
          <a:prstGeom prst="rect">
            <a:avLst/>
          </a:prstGeom>
        </p:spPr>
      </p:pic>
      <p:pic>
        <p:nvPicPr>
          <p:cNvPr id="4" name="Picture 3" descr="swash_pale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ns1:svgBlip xmlns:ns1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9550000" y="5150000"/>
            <a:ext cx="2500000" cy="1300000"/>
          </a:xfrm>
          <a:prstGeom prst="rect">
            <a:avLst/>
          </a:prstGeom>
        </p:spPr>
      </p:pic>
      <p:sp>
        <p:nvSpPr>
          <p:cNvPr id="5" name="Oval 4"/>
          <p:cNvSpPr/>
          <p:nvPr/>
        </p:nvSpPr>
        <p:spPr>
          <a:xfrm>
            <a:off x="548640" y="470000"/>
            <a:ext cx="720000" cy="720000"/>
          </a:xfrm>
          <a:prstGeom prst="ellipse">
            <a:avLst/>
          </a:prstGeom>
          <a:solidFill>
            <a:srgbClr val="1F4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600" b="1" i="0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30000" y="430000"/>
            <a:ext cx="9000000" cy="38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2000" b="1" i="0">
                <a:solidFill>
                  <a:srgbClr val="C88A2E"/>
                </a:solidFill>
              </a:rPr>
              <a:t>3. THIẾT BỊ SẢN XUẤT CHÍNH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30000" y="850000"/>
            <a:ext cx="9800000" cy="78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3300" b="1" i="0">
                <a:solidFill>
                  <a:srgbClr val="1F4E3D"/>
                </a:solidFill>
              </a:rPr>
              <a:t>Máy đánh paste</a:t>
            </a:r>
          </a:p>
        </p:txBody>
      </p:sp>
      <p:pic>
        <p:nvPicPr>
          <p:cNvPr id="8" name="Picture 7" descr="brush_amber.png"/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ns2:svgBlip xmlns:ns2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430000" y="1500000"/>
            <a:ext cx="1200000" cy="22500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548640" y="6430000"/>
            <a:ext cx="11090000" cy="9000"/>
          </a:xfrm>
          <a:prstGeom prst="rect">
            <a:avLst/>
          </a:prstGeom>
          <a:solidFill>
            <a:srgbClr val="DCE7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6485000"/>
            <a:ext cx="8200000" cy="30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1100" b="0" i="0">
                <a:solidFill>
                  <a:srgbClr val="6E7F77"/>
                </a:solidFill>
              </a:rPr>
              <a:t>Báo cáo thực tập  ·  Công ty TNHH Sơn Hải Vân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250000" y="6485000"/>
            <a:ext cx="700000" cy="30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pPr algn="r"/>
            <a:r>
              <a:rPr sz="1200" b="1" i="0">
                <a:solidFill>
                  <a:srgbClr val="6E7F77"/>
                </a:solidFill>
              </a:rPr>
              <a:t>19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500000" y="830000"/>
            <a:ext cx="2100000" cy="470000"/>
          </a:xfrm>
          <a:prstGeom prst="roundRect">
            <a:avLst/>
          </a:prstGeom>
          <a:solidFill>
            <a:srgbClr val="C8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000" b="1" i="0">
                <a:solidFill>
                  <a:srgbClr val="FFFFFF"/>
                </a:solidFill>
              </a:rPr>
              <a:t>Mã: ĐP01B</a:t>
            </a:r>
          </a:p>
        </p:txBody>
      </p:sp>
      <p:pic>
        <p:nvPicPr>
          <p:cNvPr id="13" name="Picture 12" descr="mach0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48640" y="1830000"/>
            <a:ext cx="4900000" cy="5601252"/>
          </a:xfrm>
          <a:prstGeom prst="rect">
            <a:avLst/>
          </a:prstGeom>
        </p:spPr>
      </p:pic>
      <p:sp>
        <p:nvSpPr>
          <p:cNvPr id="14" name="Rounded Rectangle 13"/>
          <p:cNvSpPr/>
          <p:nvPr/>
        </p:nvSpPr>
        <p:spPr>
          <a:xfrm>
            <a:off x="5850000" y="1830000"/>
            <a:ext cx="5750000" cy="1300000"/>
          </a:xfrm>
          <a:prstGeom prst="roundRect">
            <a:avLst/>
          </a:prstGeom>
          <a:solidFill>
            <a:srgbClr val="EE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5850000" y="1830000"/>
            <a:ext cx="70000" cy="1300000"/>
          </a:xfrm>
          <a:prstGeom prst="roundRect">
            <a:avLst/>
          </a:prstGeom>
          <a:solidFill>
            <a:srgbClr val="2C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080000" y="1920000"/>
            <a:ext cx="5330000" cy="1140000"/>
          </a:xfrm>
          <a:prstGeom prst="rect">
            <a:avLst/>
          </a:prstGeom>
          <a:noFill/>
        </p:spPr>
        <p:txBody>
          <a:bodyPr wrap="square" lIns="50000" rIns="50000" tIns="20000" bIns="20000" anchor="ctr">
            <a:spAutoFit/>
          </a:bodyPr>
          <a:lstStyle/>
          <a:p>
            <a:r>
              <a:rPr sz="2000" b="1" i="0">
                <a:solidFill>
                  <a:srgbClr val="1F4E3D"/>
                </a:solidFill>
              </a:rPr>
              <a:t>Cấu tạo</a:t>
            </a:r>
          </a:p>
          <a:p>
            <a:r>
              <a:rPr sz="2000" b="0" i="0">
                <a:solidFill>
                  <a:srgbClr val="34404A"/>
                </a:solidFill>
              </a:rPr>
              <a:t>Động cơ 5–20 HP, cánh khuấy inox 304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850000" y="3320000"/>
            <a:ext cx="5750000" cy="1300000"/>
          </a:xfrm>
          <a:prstGeom prst="roundRect">
            <a:avLst/>
          </a:prstGeom>
          <a:solidFill>
            <a:srgbClr val="EE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5850000" y="3320000"/>
            <a:ext cx="70000" cy="1300000"/>
          </a:xfrm>
          <a:prstGeom prst="roundRect">
            <a:avLst/>
          </a:prstGeom>
          <a:solidFill>
            <a:srgbClr val="2C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080000" y="3410000"/>
            <a:ext cx="5330000" cy="1140000"/>
          </a:xfrm>
          <a:prstGeom prst="rect">
            <a:avLst/>
          </a:prstGeom>
          <a:noFill/>
        </p:spPr>
        <p:txBody>
          <a:bodyPr wrap="square" lIns="50000" rIns="50000" tIns="20000" bIns="20000" anchor="ctr">
            <a:spAutoFit/>
          </a:bodyPr>
          <a:lstStyle/>
          <a:p>
            <a:r>
              <a:rPr sz="2000" b="1" i="0">
                <a:solidFill>
                  <a:srgbClr val="1F4E3D"/>
                </a:solidFill>
              </a:rPr>
              <a:t>Nguyên lý</a:t>
            </a:r>
          </a:p>
          <a:p>
            <a:r>
              <a:rPr sz="2000" b="0" i="0">
                <a:solidFill>
                  <a:srgbClr val="34404A"/>
                </a:solidFill>
              </a:rPr>
              <a:t>Quay 900–1200 v/p, phân tán bột vào nhựa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850000" y="4810000"/>
            <a:ext cx="5750000" cy="1300000"/>
          </a:xfrm>
          <a:prstGeom prst="roundRect">
            <a:avLst/>
          </a:prstGeom>
          <a:solidFill>
            <a:srgbClr val="EE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5850000" y="4810000"/>
            <a:ext cx="70000" cy="1300000"/>
          </a:xfrm>
          <a:prstGeom prst="roundRect">
            <a:avLst/>
          </a:prstGeom>
          <a:solidFill>
            <a:srgbClr val="2C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080000" y="4900000"/>
            <a:ext cx="5330000" cy="1140000"/>
          </a:xfrm>
          <a:prstGeom prst="rect">
            <a:avLst/>
          </a:prstGeom>
          <a:noFill/>
        </p:spPr>
        <p:txBody>
          <a:bodyPr wrap="square" lIns="50000" rIns="50000" tIns="20000" bIns="20000" anchor="ctr">
            <a:spAutoFit/>
          </a:bodyPr>
          <a:lstStyle/>
          <a:p>
            <a:r>
              <a:rPr sz="2000" b="1" i="0">
                <a:solidFill>
                  <a:srgbClr val="1F4E3D"/>
                </a:solidFill>
              </a:rPr>
              <a:t>Thao tác</a:t>
            </a:r>
          </a:p>
          <a:p>
            <a:r>
              <a:rPr sz="2000" b="0" i="0">
                <a:solidFill>
                  <a:srgbClr val="34404A"/>
                </a:solidFill>
              </a:rPr>
              <a:t>Hạ cánh khuấy ngập paste, kiểm soát nhiệt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hex_pale.png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0:svgBlip xmlns:ns0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10600000" y="-260000"/>
            <a:ext cx="2100000" cy="2100000"/>
          </a:xfrm>
          <a:prstGeom prst="rect">
            <a:avLst/>
          </a:prstGeom>
        </p:spPr>
      </p:pic>
      <p:pic>
        <p:nvPicPr>
          <p:cNvPr id="4" name="Picture 3" descr="swash_pale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ns1:svgBlip xmlns:ns1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9550000" y="5150000"/>
            <a:ext cx="2500000" cy="1300000"/>
          </a:xfrm>
          <a:prstGeom prst="rect">
            <a:avLst/>
          </a:prstGeom>
        </p:spPr>
      </p:pic>
      <p:sp>
        <p:nvSpPr>
          <p:cNvPr id="5" name="Oval 4"/>
          <p:cNvSpPr/>
          <p:nvPr/>
        </p:nvSpPr>
        <p:spPr>
          <a:xfrm>
            <a:off x="548640" y="470000"/>
            <a:ext cx="720000" cy="720000"/>
          </a:xfrm>
          <a:prstGeom prst="ellipse">
            <a:avLst/>
          </a:prstGeom>
          <a:solidFill>
            <a:srgbClr val="1F4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600" b="1" i="0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30000" y="430000"/>
            <a:ext cx="9000000" cy="38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2000" b="1" i="0">
                <a:solidFill>
                  <a:srgbClr val="C88A2E"/>
                </a:solidFill>
              </a:rPr>
              <a:t>3. THIẾT BỊ SẢN XUẤT CHÍNH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30000" y="850000"/>
            <a:ext cx="9800000" cy="78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3300" b="1" i="0">
                <a:solidFill>
                  <a:srgbClr val="1F4E3D"/>
                </a:solidFill>
              </a:rPr>
              <a:t>Máy nghiền mịn</a:t>
            </a:r>
          </a:p>
        </p:txBody>
      </p:sp>
      <p:pic>
        <p:nvPicPr>
          <p:cNvPr id="8" name="Picture 7" descr="brush_amber.png"/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ns2:svgBlip xmlns:ns2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430000" y="1500000"/>
            <a:ext cx="1200000" cy="22500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548640" y="6430000"/>
            <a:ext cx="11090000" cy="9000"/>
          </a:xfrm>
          <a:prstGeom prst="rect">
            <a:avLst/>
          </a:prstGeom>
          <a:solidFill>
            <a:srgbClr val="DCE7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6485000"/>
            <a:ext cx="8200000" cy="30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1100" b="0" i="0">
                <a:solidFill>
                  <a:srgbClr val="6E7F77"/>
                </a:solidFill>
              </a:rPr>
              <a:t>Báo cáo thực tập  ·  Công ty TNHH Sơn Hải Vân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250000" y="6485000"/>
            <a:ext cx="700000" cy="30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pPr algn="r"/>
            <a:r>
              <a:rPr sz="1200" b="1" i="0">
                <a:solidFill>
                  <a:srgbClr val="6E7F77"/>
                </a:solidFill>
              </a:rPr>
              <a:t>20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500000" y="830000"/>
            <a:ext cx="2100000" cy="470000"/>
          </a:xfrm>
          <a:prstGeom prst="roundRect">
            <a:avLst/>
          </a:prstGeom>
          <a:solidFill>
            <a:srgbClr val="C8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000" b="1" i="0">
                <a:solidFill>
                  <a:srgbClr val="FFFFFF"/>
                </a:solidFill>
              </a:rPr>
              <a:t>Mã: NM06</a:t>
            </a:r>
          </a:p>
        </p:txBody>
      </p:sp>
      <p:pic>
        <p:nvPicPr>
          <p:cNvPr id="13" name="Picture 12" descr="mach1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750000" y="2069565"/>
            <a:ext cx="4900000" cy="3820870"/>
          </a:xfrm>
          <a:prstGeom prst="rect">
            <a:avLst/>
          </a:prstGeom>
        </p:spPr>
      </p:pic>
      <p:sp>
        <p:nvSpPr>
          <p:cNvPr id="14" name="Rectangle 13"/>
          <p:cNvSpPr/>
          <p:nvPr/>
        </p:nvSpPr>
        <p:spPr>
          <a:xfrm>
            <a:off x="915000" y="2030000"/>
            <a:ext cx="34000" cy="2560000"/>
          </a:xfrm>
          <a:prstGeom prst="rect">
            <a:avLst/>
          </a:prstGeom>
          <a:solidFill>
            <a:srgbClr val="CFE2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700000" y="1870000"/>
            <a:ext cx="470000" cy="470000"/>
          </a:xfrm>
          <a:prstGeom prst="ellipse">
            <a:avLst/>
          </a:prstGeom>
          <a:solidFill>
            <a:srgbClr val="2C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000" b="1" i="0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20000" y="1800000"/>
            <a:ext cx="5250000" cy="120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2075" b="1" i="0">
                <a:solidFill>
                  <a:srgbClr val="1F4E3D"/>
                </a:solidFill>
              </a:rPr>
              <a:t>Cấu tạo</a:t>
            </a:r>
          </a:p>
          <a:p>
            <a:r>
              <a:rPr sz="2000" b="0" i="0">
                <a:solidFill>
                  <a:srgbClr val="34404A"/>
                </a:solidFill>
              </a:rPr>
              <a:t>Động cơ 30–60 HP, rổ chứa bi sứ / thủy tinh</a:t>
            </a:r>
          </a:p>
        </p:txBody>
      </p:sp>
      <p:sp>
        <p:nvSpPr>
          <p:cNvPr id="17" name="Oval 16"/>
          <p:cNvSpPr/>
          <p:nvPr/>
        </p:nvSpPr>
        <p:spPr>
          <a:xfrm>
            <a:off x="700000" y="3180000"/>
            <a:ext cx="470000" cy="470000"/>
          </a:xfrm>
          <a:prstGeom prst="ellipse">
            <a:avLst/>
          </a:prstGeom>
          <a:solidFill>
            <a:srgbClr val="2C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000" b="1" i="0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20000" y="3110000"/>
            <a:ext cx="5250000" cy="120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2075" b="1" i="0">
                <a:solidFill>
                  <a:srgbClr val="1F4E3D"/>
                </a:solidFill>
              </a:rPr>
              <a:t>Nguyên lý</a:t>
            </a:r>
          </a:p>
          <a:p>
            <a:r>
              <a:rPr sz="2000" b="0" i="0">
                <a:solidFill>
                  <a:srgbClr val="34404A"/>
                </a:solidFill>
              </a:rPr>
              <a:t>Va đập &amp; ma sát, giảm hạt xuống 10–20 µm</a:t>
            </a:r>
          </a:p>
        </p:txBody>
      </p:sp>
      <p:sp>
        <p:nvSpPr>
          <p:cNvPr id="19" name="Oval 18"/>
          <p:cNvSpPr/>
          <p:nvPr/>
        </p:nvSpPr>
        <p:spPr>
          <a:xfrm>
            <a:off x="700000" y="4490000"/>
            <a:ext cx="470000" cy="470000"/>
          </a:xfrm>
          <a:prstGeom prst="ellipse">
            <a:avLst/>
          </a:prstGeom>
          <a:solidFill>
            <a:srgbClr val="2C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000" b="1" i="0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20000" y="4420000"/>
            <a:ext cx="5250000" cy="120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2075" b="1" i="0">
                <a:solidFill>
                  <a:srgbClr val="1F4E3D"/>
                </a:solidFill>
              </a:rPr>
              <a:t>Thao tác</a:t>
            </a:r>
          </a:p>
          <a:p>
            <a:r>
              <a:rPr sz="2000" b="0" i="0">
                <a:solidFill>
                  <a:srgbClr val="34404A"/>
                </a:solidFill>
              </a:rPr>
              <a:t>Tuần hoàn đến khi đạt độ mịn Hegman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hex_pale.png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0:svgBlip xmlns:ns0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10600000" y="-260000"/>
            <a:ext cx="2100000" cy="2100000"/>
          </a:xfrm>
          <a:prstGeom prst="rect">
            <a:avLst/>
          </a:prstGeom>
        </p:spPr>
      </p:pic>
      <p:pic>
        <p:nvPicPr>
          <p:cNvPr id="4" name="Picture 3" descr="swash_pale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ns1:svgBlip xmlns:ns1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9550000" y="5150000"/>
            <a:ext cx="2500000" cy="1300000"/>
          </a:xfrm>
          <a:prstGeom prst="rect">
            <a:avLst/>
          </a:prstGeom>
        </p:spPr>
      </p:pic>
      <p:sp>
        <p:nvSpPr>
          <p:cNvPr id="5" name="Oval 4"/>
          <p:cNvSpPr/>
          <p:nvPr/>
        </p:nvSpPr>
        <p:spPr>
          <a:xfrm>
            <a:off x="548640" y="470000"/>
            <a:ext cx="720000" cy="720000"/>
          </a:xfrm>
          <a:prstGeom prst="ellipse">
            <a:avLst/>
          </a:prstGeom>
          <a:solidFill>
            <a:srgbClr val="1F4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600" b="1" i="0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30000" y="430000"/>
            <a:ext cx="9000000" cy="38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2000" b="1" i="0">
                <a:solidFill>
                  <a:srgbClr val="C88A2E"/>
                </a:solidFill>
              </a:rPr>
              <a:t>3. THIẾT BỊ SẢN XUẤT CHÍNH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30000" y="850000"/>
            <a:ext cx="9800000" cy="78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3300" b="1" i="0">
                <a:solidFill>
                  <a:srgbClr val="1F4E3D"/>
                </a:solidFill>
              </a:rPr>
              <a:t>Máy pha loãng</a:t>
            </a:r>
          </a:p>
        </p:txBody>
      </p:sp>
      <p:pic>
        <p:nvPicPr>
          <p:cNvPr id="8" name="Picture 7" descr="brush_amber.png"/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ns2:svgBlip xmlns:ns2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430000" y="1500000"/>
            <a:ext cx="1200000" cy="22500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548640" y="6430000"/>
            <a:ext cx="11090000" cy="9000"/>
          </a:xfrm>
          <a:prstGeom prst="rect">
            <a:avLst/>
          </a:prstGeom>
          <a:solidFill>
            <a:srgbClr val="DCE7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6485000"/>
            <a:ext cx="8200000" cy="30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1100" b="0" i="0">
                <a:solidFill>
                  <a:srgbClr val="6E7F77"/>
                </a:solidFill>
              </a:rPr>
              <a:t>Báo cáo thực tập  ·  Công ty TNHH Sơn Hải Vân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250000" y="6485000"/>
            <a:ext cx="700000" cy="30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pPr algn="r"/>
            <a:r>
              <a:rPr sz="1200" b="1" i="0">
                <a:solidFill>
                  <a:srgbClr val="6E7F77"/>
                </a:solidFill>
              </a:rPr>
              <a:t>21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500000" y="830000"/>
            <a:ext cx="2100000" cy="470000"/>
          </a:xfrm>
          <a:prstGeom prst="roundRect">
            <a:avLst/>
          </a:prstGeom>
          <a:solidFill>
            <a:srgbClr val="C8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000" b="1" i="0">
                <a:solidFill>
                  <a:srgbClr val="FFFFFF"/>
                </a:solidFill>
              </a:rPr>
              <a:t>Mã: PL01–03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600000" y="1900000"/>
            <a:ext cx="5050000" cy="3500000"/>
          </a:xfrm>
          <a:prstGeom prst="roundRect">
            <a:avLst/>
          </a:prstGeom>
          <a:solidFill>
            <a:srgbClr val="1F4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mach2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00000" y="2090000"/>
            <a:ext cx="4650000" cy="3483146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560000" y="1780000"/>
            <a:ext cx="5600000" cy="43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2000" b="1" i="0">
                <a:solidFill>
                  <a:srgbClr val="C88A2E"/>
                </a:solidFill>
              </a:rPr>
              <a:t>Thông số kỹ thuật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2320000"/>
            <a:ext cx="5750000" cy="1120000"/>
          </a:xfrm>
          <a:prstGeom prst="roundRect">
            <a:avLst/>
          </a:prstGeom>
          <a:solidFill>
            <a:srgbClr val="EE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8640" y="2410000"/>
            <a:ext cx="5330000" cy="960000"/>
          </a:xfrm>
          <a:prstGeom prst="rect">
            <a:avLst/>
          </a:prstGeom>
          <a:noFill/>
        </p:spPr>
        <p:txBody>
          <a:bodyPr wrap="square" lIns="50000" rIns="50000" tIns="20000" bIns="20000" anchor="ctr">
            <a:spAutoFit/>
          </a:bodyPr>
          <a:lstStyle/>
          <a:p>
            <a:r>
              <a:rPr sz="2000" b="1" i="0">
                <a:solidFill>
                  <a:srgbClr val="1F4E3D"/>
                </a:solidFill>
              </a:rPr>
              <a:t>Cấu tạo</a:t>
            </a:r>
          </a:p>
          <a:p>
            <a:r>
              <a:rPr sz="2000" b="0" i="0">
                <a:solidFill>
                  <a:srgbClr val="34404A"/>
                </a:solidFill>
              </a:rPr>
              <a:t>Bồn inox, cánh khuấy thủy lực, van xả côn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3570000"/>
            <a:ext cx="5750000" cy="1120000"/>
          </a:xfrm>
          <a:prstGeom prst="roundRect">
            <a:avLst/>
          </a:prstGeom>
          <a:solidFill>
            <a:srgbClr val="E4EE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78640" y="3660000"/>
            <a:ext cx="5330000" cy="960000"/>
          </a:xfrm>
          <a:prstGeom prst="rect">
            <a:avLst/>
          </a:prstGeom>
          <a:noFill/>
        </p:spPr>
        <p:txBody>
          <a:bodyPr wrap="square" lIns="50000" rIns="50000" tIns="20000" bIns="20000" anchor="ctr">
            <a:spAutoFit/>
          </a:bodyPr>
          <a:lstStyle/>
          <a:p>
            <a:r>
              <a:rPr sz="2000" b="1" i="0">
                <a:solidFill>
                  <a:srgbClr val="1F4E3D"/>
                </a:solidFill>
              </a:rPr>
              <a:t>Nguyên lý</a:t>
            </a:r>
          </a:p>
          <a:p>
            <a:r>
              <a:rPr sz="2000" b="0" i="0">
                <a:solidFill>
                  <a:srgbClr val="34404A"/>
                </a:solidFill>
              </a:rPr>
              <a:t>Khuấy đối lưu, chỉnh độ nhớt bằng dung môi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48640" y="4820000"/>
            <a:ext cx="5750000" cy="1120000"/>
          </a:xfrm>
          <a:prstGeom prst="roundRect">
            <a:avLst/>
          </a:prstGeom>
          <a:solidFill>
            <a:srgbClr val="EE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78640" y="4910000"/>
            <a:ext cx="5330000" cy="960000"/>
          </a:xfrm>
          <a:prstGeom prst="rect">
            <a:avLst/>
          </a:prstGeom>
          <a:noFill/>
        </p:spPr>
        <p:txBody>
          <a:bodyPr wrap="square" lIns="50000" rIns="50000" tIns="20000" bIns="20000" anchor="ctr">
            <a:spAutoFit/>
          </a:bodyPr>
          <a:lstStyle/>
          <a:p>
            <a:r>
              <a:rPr sz="2000" b="1" i="0">
                <a:solidFill>
                  <a:srgbClr val="1F4E3D"/>
                </a:solidFill>
              </a:rPr>
              <a:t>Thao tác</a:t>
            </a:r>
          </a:p>
          <a:p>
            <a:r>
              <a:rPr sz="2000" b="0" i="0">
                <a:solidFill>
                  <a:srgbClr val="34404A"/>
                </a:solidFill>
              </a:rPr>
              <a:t>Bổ sung dung môi từ từ, đo KU đến đích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4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divbg.png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0:svgBlip xmlns:ns0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6485000"/>
            <a:ext cx="8200000" cy="30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1100" b="0" i="0">
                <a:solidFill>
                  <a:srgbClr val="9DB3AA"/>
                </a:solidFill>
              </a:rPr>
              <a:t>Báo cáo thực tập  ·  Công ty TNHH Sơn Hải Vân</a:t>
            </a:r>
          </a:p>
        </p:txBody>
      </p:sp>
      <p:pic>
        <p:nvPicPr>
          <p:cNvPr id="5" name="Picture 4" descr="quality_check_w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ns1:svgBlip xmlns:ns1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8850000" y="2050000"/>
            <a:ext cx="2650000" cy="265000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905000" y="2360000"/>
            <a:ext cx="240000" cy="1300000"/>
          </a:xfrm>
          <a:prstGeom prst="roundRect">
            <a:avLst/>
          </a:prstGeom>
          <a:solidFill>
            <a:srgbClr val="C8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360000" y="2400000"/>
            <a:ext cx="1250000" cy="1250000"/>
          </a:xfrm>
          <a:prstGeom prst="ellipse">
            <a:avLst/>
          </a:prstGeom>
          <a:solidFill>
            <a:srgbClr val="C8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4600" b="1" i="0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2450000"/>
            <a:ext cx="6200000" cy="52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2000" b="1" i="0">
                <a:solidFill>
                  <a:srgbClr val="C88A2E"/>
                </a:solidFill>
              </a:rPr>
              <a:t>PHẦN 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900000" y="2980000"/>
            <a:ext cx="6300000" cy="140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3800" b="1" i="0">
                <a:solidFill>
                  <a:srgbClr val="FFFFFF"/>
                </a:solidFill>
              </a:rPr>
              <a:t>Kiểm soát chất lượng (KCS)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hex_pale.png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0:svgBlip xmlns:ns0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0600000" y="-260000"/>
            <a:ext cx="2100000" cy="2100000"/>
          </a:xfrm>
          <a:prstGeom prst="rect">
            <a:avLst/>
          </a:prstGeom>
        </p:spPr>
      </p:pic>
      <p:pic>
        <p:nvPicPr>
          <p:cNvPr id="4" name="Picture 3" descr="swash_pale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ns1:svgBlip xmlns:ns1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9550000" y="5150000"/>
            <a:ext cx="2500000" cy="1300000"/>
          </a:xfrm>
          <a:prstGeom prst="rect">
            <a:avLst/>
          </a:prstGeom>
        </p:spPr>
      </p:pic>
      <p:sp>
        <p:nvSpPr>
          <p:cNvPr id="5" name="Oval 4"/>
          <p:cNvSpPr/>
          <p:nvPr/>
        </p:nvSpPr>
        <p:spPr>
          <a:xfrm>
            <a:off x="548640" y="470000"/>
            <a:ext cx="720000" cy="720000"/>
          </a:xfrm>
          <a:prstGeom prst="ellipse">
            <a:avLst/>
          </a:prstGeom>
          <a:solidFill>
            <a:srgbClr val="1F4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600" b="1" i="0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30000" y="430000"/>
            <a:ext cx="9000000" cy="38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2000" b="1" i="0">
                <a:solidFill>
                  <a:srgbClr val="C88A2E"/>
                </a:solidFill>
              </a:rPr>
              <a:t>4. KIỂM SOÁT CHẤT LƯỢNG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30000" y="850000"/>
            <a:ext cx="9800000" cy="78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3300" b="1" i="0">
                <a:solidFill>
                  <a:srgbClr val="1F4E3D"/>
                </a:solidFill>
              </a:rPr>
              <a:t>Kiểm tra nhanh tại xưởng</a:t>
            </a:r>
          </a:p>
        </p:txBody>
      </p:sp>
      <p:pic>
        <p:nvPicPr>
          <p:cNvPr id="8" name="Picture 7" descr="brush_amber.png"/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ns2:svgBlip xmlns:ns2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1430000" y="1500000"/>
            <a:ext cx="1200000" cy="22500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548640" y="6430000"/>
            <a:ext cx="11090000" cy="9000"/>
          </a:xfrm>
          <a:prstGeom prst="rect">
            <a:avLst/>
          </a:prstGeom>
          <a:solidFill>
            <a:srgbClr val="DCE7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6485000"/>
            <a:ext cx="8200000" cy="30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1100" b="0" i="0">
                <a:solidFill>
                  <a:srgbClr val="6E7F77"/>
                </a:solidFill>
              </a:rPr>
              <a:t>Báo cáo thực tập  ·  Công ty TNHH Sơn Hải Vân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250000" y="6485000"/>
            <a:ext cx="700000" cy="30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pPr algn="r"/>
            <a:r>
              <a:rPr sz="1200" b="1" i="0">
                <a:solidFill>
                  <a:srgbClr val="6E7F77"/>
                </a:solidFill>
              </a:rPr>
              <a:t>23</a:t>
            </a:r>
          </a:p>
        </p:txBody>
      </p:sp>
      <p:pic>
        <p:nvPicPr>
          <p:cNvPr id="12" name="Picture 11" descr="big_qc_shop.png"/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ns3:svgBlip xmlns:ns3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550847" y="1847000"/>
            <a:ext cx="11090000" cy="4436000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hex_pale.png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0:svgBlip xmlns:ns0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0600000" y="-260000"/>
            <a:ext cx="2100000" cy="2100000"/>
          </a:xfrm>
          <a:prstGeom prst="rect">
            <a:avLst/>
          </a:prstGeom>
        </p:spPr>
      </p:pic>
      <p:pic>
        <p:nvPicPr>
          <p:cNvPr id="4" name="Picture 3" descr="swash_pale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ns1:svgBlip xmlns:ns1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9550000" y="5150000"/>
            <a:ext cx="2500000" cy="1300000"/>
          </a:xfrm>
          <a:prstGeom prst="rect">
            <a:avLst/>
          </a:prstGeom>
        </p:spPr>
      </p:pic>
      <p:sp>
        <p:nvSpPr>
          <p:cNvPr id="5" name="Oval 4"/>
          <p:cNvSpPr/>
          <p:nvPr/>
        </p:nvSpPr>
        <p:spPr>
          <a:xfrm>
            <a:off x="548640" y="470000"/>
            <a:ext cx="720000" cy="720000"/>
          </a:xfrm>
          <a:prstGeom prst="ellipse">
            <a:avLst/>
          </a:prstGeom>
          <a:solidFill>
            <a:srgbClr val="1F4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600" b="1" i="0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30000" y="430000"/>
            <a:ext cx="9000000" cy="38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2000" b="1" i="0">
                <a:solidFill>
                  <a:srgbClr val="C88A2E"/>
                </a:solidFill>
              </a:rPr>
              <a:t>4. KIỂM SOÁT CHẤT LƯỢNG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30000" y="850000"/>
            <a:ext cx="9800000" cy="78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3300" b="1" i="0">
                <a:solidFill>
                  <a:srgbClr val="1F4E3D"/>
                </a:solidFill>
              </a:rPr>
              <a:t>Kiểm tra sâu tại phòng LAB</a:t>
            </a:r>
          </a:p>
        </p:txBody>
      </p:sp>
      <p:pic>
        <p:nvPicPr>
          <p:cNvPr id="8" name="Picture 7" descr="brush_amber.png"/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ns2:svgBlip xmlns:ns2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1430000" y="1500000"/>
            <a:ext cx="1200000" cy="22500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548640" y="6430000"/>
            <a:ext cx="11090000" cy="9000"/>
          </a:xfrm>
          <a:prstGeom prst="rect">
            <a:avLst/>
          </a:prstGeom>
          <a:solidFill>
            <a:srgbClr val="DCE7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6485000"/>
            <a:ext cx="8200000" cy="30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1100" b="0" i="0">
                <a:solidFill>
                  <a:srgbClr val="6E7F77"/>
                </a:solidFill>
              </a:rPr>
              <a:t>Báo cáo thực tập  ·  Công ty TNHH Sơn Hải Vân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250000" y="6485000"/>
            <a:ext cx="700000" cy="30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pPr algn="r"/>
            <a:r>
              <a:rPr sz="1200" b="1" i="0">
                <a:solidFill>
                  <a:srgbClr val="6E7F77"/>
                </a:solidFill>
              </a:rPr>
              <a:t>24</a:t>
            </a:r>
          </a:p>
        </p:txBody>
      </p:sp>
      <p:pic>
        <p:nvPicPr>
          <p:cNvPr id="12" name="Picture 11" descr="big_qc_lab.png"/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ns3:svgBlip xmlns:ns3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550847" y="1847000"/>
            <a:ext cx="11090000" cy="4436000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hex_pale.png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0:svgBlip xmlns:ns0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0600000" y="-260000"/>
            <a:ext cx="2100000" cy="2100000"/>
          </a:xfrm>
          <a:prstGeom prst="rect">
            <a:avLst/>
          </a:prstGeom>
        </p:spPr>
      </p:pic>
      <p:pic>
        <p:nvPicPr>
          <p:cNvPr id="4" name="Picture 3" descr="swash_pale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ns1:svgBlip xmlns:ns1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9550000" y="5150000"/>
            <a:ext cx="2500000" cy="1300000"/>
          </a:xfrm>
          <a:prstGeom prst="rect">
            <a:avLst/>
          </a:prstGeom>
        </p:spPr>
      </p:pic>
      <p:sp>
        <p:nvSpPr>
          <p:cNvPr id="5" name="Oval 4"/>
          <p:cNvSpPr/>
          <p:nvPr/>
        </p:nvSpPr>
        <p:spPr>
          <a:xfrm>
            <a:off x="548640" y="470000"/>
            <a:ext cx="720000" cy="720000"/>
          </a:xfrm>
          <a:prstGeom prst="ellipse">
            <a:avLst/>
          </a:prstGeom>
          <a:solidFill>
            <a:srgbClr val="1F4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600" b="1" i="0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30000" y="430000"/>
            <a:ext cx="9000000" cy="38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2000" b="1" i="0">
                <a:solidFill>
                  <a:srgbClr val="C88A2E"/>
                </a:solidFill>
              </a:rPr>
              <a:t>4. KIỂM SOÁT CHẤT LƯỢNG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30000" y="850000"/>
            <a:ext cx="9800000" cy="78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3300" b="1" i="0">
                <a:solidFill>
                  <a:srgbClr val="1F4E3D"/>
                </a:solidFill>
              </a:rPr>
              <a:t>Sơn tàu biển vs sơn trang trí</a:t>
            </a:r>
          </a:p>
        </p:txBody>
      </p:sp>
      <p:pic>
        <p:nvPicPr>
          <p:cNvPr id="8" name="Picture 7" descr="brush_amber.png"/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ns2:svgBlip xmlns:ns2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1430000" y="1500000"/>
            <a:ext cx="1200000" cy="22500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548640" y="6430000"/>
            <a:ext cx="11090000" cy="9000"/>
          </a:xfrm>
          <a:prstGeom prst="rect">
            <a:avLst/>
          </a:prstGeom>
          <a:solidFill>
            <a:srgbClr val="DCE7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6485000"/>
            <a:ext cx="8200000" cy="30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1100" b="0" i="0">
                <a:solidFill>
                  <a:srgbClr val="6E7F77"/>
                </a:solidFill>
              </a:rPr>
              <a:t>Báo cáo thực tập  ·  Công ty TNHH Sơn Hải Vân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250000" y="6485000"/>
            <a:ext cx="700000" cy="30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pPr algn="r"/>
            <a:r>
              <a:rPr sz="1200" b="1" i="0">
                <a:solidFill>
                  <a:srgbClr val="6E7F77"/>
                </a:solidFill>
              </a:rPr>
              <a:t>25</a:t>
            </a:r>
          </a:p>
        </p:txBody>
      </p:sp>
      <p:pic>
        <p:nvPicPr>
          <p:cNvPr id="12" name="Picture 11" descr="big_radar.png"/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ns3:svgBlip xmlns:ns3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3483347" y="1865000"/>
            <a:ext cx="5225000" cy="4400000"/>
          </a:xfrm>
          <a:prstGeom prst="rect">
            <a:avLst/>
          </a:prstGeom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hex_pale.png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0:svgBlip xmlns:ns0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0600000" y="-260000"/>
            <a:ext cx="2100000" cy="2100000"/>
          </a:xfrm>
          <a:prstGeom prst="rect">
            <a:avLst/>
          </a:prstGeom>
        </p:spPr>
      </p:pic>
      <p:pic>
        <p:nvPicPr>
          <p:cNvPr id="4" name="Picture 3" descr="swash_pale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ns1:svgBlip xmlns:ns1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9550000" y="5150000"/>
            <a:ext cx="2500000" cy="1300000"/>
          </a:xfrm>
          <a:prstGeom prst="rect">
            <a:avLst/>
          </a:prstGeom>
        </p:spPr>
      </p:pic>
      <p:sp>
        <p:nvSpPr>
          <p:cNvPr id="5" name="Oval 4"/>
          <p:cNvSpPr/>
          <p:nvPr/>
        </p:nvSpPr>
        <p:spPr>
          <a:xfrm>
            <a:off x="548640" y="470000"/>
            <a:ext cx="720000" cy="720000"/>
          </a:xfrm>
          <a:prstGeom prst="ellipse">
            <a:avLst/>
          </a:prstGeom>
          <a:solidFill>
            <a:srgbClr val="1F4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600" b="1" i="0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30000" y="430000"/>
            <a:ext cx="9000000" cy="38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2000" b="1" i="0">
                <a:solidFill>
                  <a:srgbClr val="C88A2E"/>
                </a:solidFill>
              </a:rPr>
              <a:t>4. KCS — SƠN TÀU BIỂN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30000" y="850000"/>
            <a:ext cx="9800000" cy="78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3300" b="1" i="0">
                <a:solidFill>
                  <a:srgbClr val="1F4E3D"/>
                </a:solidFill>
              </a:rPr>
              <a:t>Ba phép thử bắt buộc</a:t>
            </a:r>
          </a:p>
        </p:txBody>
      </p:sp>
      <p:pic>
        <p:nvPicPr>
          <p:cNvPr id="8" name="Picture 7" descr="brush_amber.png"/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ns2:svgBlip xmlns:ns2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1430000" y="1500000"/>
            <a:ext cx="1200000" cy="22500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548640" y="6430000"/>
            <a:ext cx="11090000" cy="9000"/>
          </a:xfrm>
          <a:prstGeom prst="rect">
            <a:avLst/>
          </a:prstGeom>
          <a:solidFill>
            <a:srgbClr val="DCE7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6485000"/>
            <a:ext cx="8200000" cy="30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1100" b="0" i="0">
                <a:solidFill>
                  <a:srgbClr val="6E7F77"/>
                </a:solidFill>
              </a:rPr>
              <a:t>Báo cáo thực tập  ·  Công ty TNHH Sơn Hải Vân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250000" y="6485000"/>
            <a:ext cx="700000" cy="30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pPr algn="r"/>
            <a:r>
              <a:rPr sz="1200" b="1" i="0">
                <a:solidFill>
                  <a:srgbClr val="6E7F77"/>
                </a:solidFill>
              </a:rPr>
              <a:t>26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1830000"/>
            <a:ext cx="3496666" cy="4470000"/>
          </a:xfrm>
          <a:prstGeom prst="roundRect">
            <a:avLst/>
          </a:prstGeom>
          <a:solidFill>
            <a:srgbClr val="EE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548640" y="1830000"/>
            <a:ext cx="3496666" cy="130000"/>
          </a:xfrm>
          <a:prstGeom prst="roundRect">
            <a:avLst/>
          </a:prstGeom>
          <a:solidFill>
            <a:srgbClr val="1F4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906973" y="2210000"/>
            <a:ext cx="780000" cy="780000"/>
          </a:xfrm>
          <a:prstGeom prst="ellipse">
            <a:avLst/>
          </a:prstGeom>
          <a:solidFill>
            <a:srgbClr val="1F4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adhesion_w.png"/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ns3:svgBlip xmlns:ns3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2062973" y="2366000"/>
            <a:ext cx="468000" cy="46800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728640" y="3080000"/>
            <a:ext cx="3136666" cy="2870000"/>
          </a:xfrm>
          <a:prstGeom prst="rect">
            <a:avLst/>
          </a:prstGeom>
          <a:noFill/>
        </p:spPr>
        <p:txBody>
          <a:bodyPr wrap="square" lIns="50000" rIns="50000" tIns="20000" bIns="20000" anchor="t">
            <a:spAutoFit/>
          </a:bodyPr>
          <a:lstStyle/>
          <a:p>
            <a:pPr algn="ctr"/>
            <a:r>
              <a:rPr sz="2000" b="1" i="0">
                <a:solidFill>
                  <a:srgbClr val="1F4E3D"/>
                </a:solidFill>
              </a:rPr>
              <a:t>Độ bám dính (Pull-off)</a:t>
            </a:r>
          </a:p>
          <a:p>
            <a:pPr algn="ctr"/>
            <a:r>
              <a:rPr sz="2000" b="0" i="0">
                <a:solidFill>
                  <a:srgbClr val="34404A"/>
                </a:solidFill>
              </a:rPr>
              <a:t>ISO 4624 / ASTM D4541</a:t>
            </a:r>
          </a:p>
          <a:p>
            <a:pPr algn="ctr"/>
            <a:r>
              <a:rPr sz="2000" b="0" i="0">
                <a:solidFill>
                  <a:srgbClr val="34404A"/>
                </a:solidFill>
              </a:rPr>
              <a:t>Đo bằng MPa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345306" y="1830000"/>
            <a:ext cx="3496666" cy="4470000"/>
          </a:xfrm>
          <a:prstGeom prst="roundRect">
            <a:avLst/>
          </a:prstGeom>
          <a:solidFill>
            <a:srgbClr val="EE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4345306" y="1830000"/>
            <a:ext cx="3496666" cy="130000"/>
          </a:xfrm>
          <a:prstGeom prst="roundRect">
            <a:avLst/>
          </a:prstGeom>
          <a:solidFill>
            <a:srgbClr val="2C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5703639" y="2210000"/>
            <a:ext cx="780000" cy="780000"/>
          </a:xfrm>
          <a:prstGeom prst="ellipse">
            <a:avLst/>
          </a:prstGeom>
          <a:solidFill>
            <a:srgbClr val="2C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salt_spray_w.png"/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ns4:svgBlip xmlns:ns4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5859639" y="2366000"/>
            <a:ext cx="468000" cy="468000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4525306" y="3080000"/>
            <a:ext cx="3136666" cy="2870000"/>
          </a:xfrm>
          <a:prstGeom prst="rect">
            <a:avLst/>
          </a:prstGeom>
          <a:noFill/>
        </p:spPr>
        <p:txBody>
          <a:bodyPr wrap="square" lIns="50000" rIns="50000" tIns="20000" bIns="20000" anchor="t">
            <a:spAutoFit/>
          </a:bodyPr>
          <a:lstStyle/>
          <a:p>
            <a:pPr algn="ctr"/>
            <a:r>
              <a:rPr sz="2000" b="1" i="0">
                <a:solidFill>
                  <a:srgbClr val="1F4E3D"/>
                </a:solidFill>
              </a:rPr>
              <a:t>Phun sương muối</a:t>
            </a:r>
          </a:p>
          <a:p>
            <a:pPr algn="ctr"/>
            <a:r>
              <a:rPr sz="2000" b="0" i="0">
                <a:solidFill>
                  <a:srgbClr val="34404A"/>
                </a:solidFill>
              </a:rPr>
              <a:t>1000 giờ · NaCl 5%</a:t>
            </a:r>
          </a:p>
          <a:p>
            <a:pPr algn="ctr"/>
            <a:r>
              <a:rPr sz="2000" b="0" i="0">
                <a:solidFill>
                  <a:srgbClr val="34404A"/>
                </a:solidFill>
              </a:rPr>
              <a:t>ở 35°C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141972" y="1830000"/>
            <a:ext cx="3496666" cy="4470000"/>
          </a:xfrm>
          <a:prstGeom prst="roundRect">
            <a:avLst/>
          </a:prstGeom>
          <a:solidFill>
            <a:srgbClr val="EE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8141972" y="1830000"/>
            <a:ext cx="3496666" cy="130000"/>
          </a:xfrm>
          <a:prstGeom prst="roundRect">
            <a:avLst/>
          </a:prstGeom>
          <a:solidFill>
            <a:srgbClr val="7BA8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9500305" y="2210000"/>
            <a:ext cx="780000" cy="780000"/>
          </a:xfrm>
          <a:prstGeom prst="ellipse">
            <a:avLst/>
          </a:prstGeom>
          <a:solidFill>
            <a:srgbClr val="7BA8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5" name="Picture 24" descr="sun_uv_w.png"/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ns5:svgBlip xmlns:ns5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9656305" y="2366000"/>
            <a:ext cx="468000" cy="468000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8321972" y="3080000"/>
            <a:ext cx="3136666" cy="2870000"/>
          </a:xfrm>
          <a:prstGeom prst="rect">
            <a:avLst/>
          </a:prstGeom>
          <a:noFill/>
        </p:spPr>
        <p:txBody>
          <a:bodyPr wrap="square" lIns="50000" rIns="50000" tIns="20000" bIns="20000" anchor="t">
            <a:spAutoFit/>
          </a:bodyPr>
          <a:lstStyle/>
          <a:p>
            <a:pPr algn="ctr"/>
            <a:r>
              <a:rPr sz="2000" b="1" i="0">
                <a:solidFill>
                  <a:srgbClr val="1F4E3D"/>
                </a:solidFill>
              </a:rPr>
              <a:t>Lão hóa QUV</a:t>
            </a:r>
          </a:p>
          <a:p>
            <a:pPr algn="ctr"/>
            <a:r>
              <a:rPr sz="2000" b="0" i="0">
                <a:solidFill>
                  <a:srgbClr val="34404A"/>
                </a:solidFill>
              </a:rPr>
              <a:t>Chu trình UV-A / UV-B</a:t>
            </a:r>
          </a:p>
          <a:p>
            <a:pPr algn="ctr"/>
            <a:r>
              <a:rPr sz="2000" b="0" i="0">
                <a:solidFill>
                  <a:srgbClr val="34404A"/>
                </a:solidFill>
              </a:rPr>
              <a:t>phấn hóa, phai màu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hex_pale.png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0:svgBlip xmlns:ns0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10600000" y="-260000"/>
            <a:ext cx="2100000" cy="2100000"/>
          </a:xfrm>
          <a:prstGeom prst="rect">
            <a:avLst/>
          </a:prstGeom>
        </p:spPr>
      </p:pic>
      <p:pic>
        <p:nvPicPr>
          <p:cNvPr id="4" name="Picture 3" descr="swash_pale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ns1:svgBlip xmlns:ns1="http://schemas.microsoft.com/office/drawing/2016/SVG/main" r:embed="rId15"/>
              </a:ext>
            </a:extLst>
          </a:blip>
          <a:stretch>
            <a:fillRect/>
          </a:stretch>
        </p:blipFill>
        <p:spPr>
          <a:xfrm>
            <a:off x="9550000" y="5150000"/>
            <a:ext cx="2500000" cy="1300000"/>
          </a:xfrm>
          <a:prstGeom prst="rect">
            <a:avLst/>
          </a:prstGeom>
        </p:spPr>
      </p:pic>
      <p:sp>
        <p:nvSpPr>
          <p:cNvPr id="5" name="Oval 4"/>
          <p:cNvSpPr/>
          <p:nvPr/>
        </p:nvSpPr>
        <p:spPr>
          <a:xfrm>
            <a:off x="548640" y="470000"/>
            <a:ext cx="720000" cy="720000"/>
          </a:xfrm>
          <a:prstGeom prst="ellipse">
            <a:avLst/>
          </a:prstGeom>
          <a:solidFill>
            <a:srgbClr val="1F4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600" b="1" i="0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30000" y="430000"/>
            <a:ext cx="9000000" cy="38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2000" b="1" i="0">
                <a:solidFill>
                  <a:srgbClr val="C88A2E"/>
                </a:solidFill>
              </a:rPr>
              <a:t>4. KCS — DỤNG CỤ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30000" y="850000"/>
            <a:ext cx="9800000" cy="78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3300" b="1" i="0">
                <a:solidFill>
                  <a:srgbClr val="1F4E3D"/>
                </a:solidFill>
              </a:rPr>
              <a:t>Thiết bị kiểm tra tại xưởng</a:t>
            </a:r>
          </a:p>
        </p:txBody>
      </p:sp>
      <p:pic>
        <p:nvPicPr>
          <p:cNvPr id="8" name="Picture 7" descr="brush_amber.png"/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ns2:svgBlip xmlns:ns2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430000" y="1500000"/>
            <a:ext cx="1200000" cy="22500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548640" y="6430000"/>
            <a:ext cx="11090000" cy="9000"/>
          </a:xfrm>
          <a:prstGeom prst="rect">
            <a:avLst/>
          </a:prstGeom>
          <a:solidFill>
            <a:srgbClr val="DCE7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6485000"/>
            <a:ext cx="8200000" cy="30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1100" b="0" i="0">
                <a:solidFill>
                  <a:srgbClr val="6E7F77"/>
                </a:solidFill>
              </a:rPr>
              <a:t>Báo cáo thực tập  ·  Công ty TNHH Sơn Hải Vân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250000" y="6485000"/>
            <a:ext cx="700000" cy="30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pPr algn="r"/>
            <a:r>
              <a:rPr sz="1200" b="1" i="0">
                <a:solidFill>
                  <a:srgbClr val="6E7F77"/>
                </a:solidFill>
              </a:rPr>
              <a:t>27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1830000"/>
            <a:ext cx="5405000" cy="2100000"/>
          </a:xfrm>
          <a:prstGeom prst="roundRect">
            <a:avLst/>
          </a:prstGeom>
          <a:solidFill>
            <a:srgbClr val="EE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548640" y="1830000"/>
            <a:ext cx="5405000" cy="70000"/>
          </a:xfrm>
          <a:prstGeom prst="roundRect">
            <a:avLst/>
          </a:prstGeom>
          <a:solidFill>
            <a:srgbClr val="2C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848640" y="2070000"/>
            <a:ext cx="640000" cy="640000"/>
          </a:xfrm>
          <a:prstGeom prst="ellipse">
            <a:avLst/>
          </a:prstGeom>
          <a:solidFill>
            <a:srgbClr val="1F4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adhesion_w.png"/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ns3:svgBlip xmlns:ns3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976640" y="2198000"/>
            <a:ext cx="384000" cy="38400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848640" y="2760000"/>
            <a:ext cx="4845000" cy="104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2000" b="1" i="0">
                <a:solidFill>
                  <a:srgbClr val="1F4E3D"/>
                </a:solidFill>
              </a:rPr>
              <a:t>Bộ đo bám dính Pull-off</a:t>
            </a:r>
          </a:p>
          <a:p>
            <a:r>
              <a:rPr sz="2000" b="0" i="0">
                <a:solidFill>
                  <a:srgbClr val="34404A"/>
                </a:solidFill>
              </a:rPr>
              <a:t>Đo lực kéo đứt màng (MPa)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33640" y="1830000"/>
            <a:ext cx="5405000" cy="2100000"/>
          </a:xfrm>
          <a:prstGeom prst="roundRect">
            <a:avLst/>
          </a:prstGeom>
          <a:solidFill>
            <a:srgbClr val="EE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233640" y="1830000"/>
            <a:ext cx="5405000" cy="70000"/>
          </a:xfrm>
          <a:prstGeom prst="roundRect">
            <a:avLst/>
          </a:prstGeom>
          <a:solidFill>
            <a:srgbClr val="2C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6533640" y="2070000"/>
            <a:ext cx="640000" cy="640000"/>
          </a:xfrm>
          <a:prstGeom prst="ellipse">
            <a:avLst/>
          </a:prstGeom>
          <a:solidFill>
            <a:srgbClr val="1F4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quality_check_w.png"/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ns4:svgBlip xmlns:ns4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6661640" y="2198000"/>
            <a:ext cx="384000" cy="384000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6533640" y="2760000"/>
            <a:ext cx="4845000" cy="104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2000" b="1" i="0">
                <a:solidFill>
                  <a:srgbClr val="1F4E3D"/>
                </a:solidFill>
              </a:rPr>
              <a:t>Thước đo độ mịn Hegman</a:t>
            </a:r>
          </a:p>
          <a:p>
            <a:r>
              <a:rPr sz="2000" b="0" i="0">
                <a:solidFill>
                  <a:srgbClr val="34404A"/>
                </a:solidFill>
              </a:rPr>
              <a:t>Độ mịn hạt sau nghiền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" y="4200000"/>
            <a:ext cx="5405000" cy="2100000"/>
          </a:xfrm>
          <a:prstGeom prst="roundRect">
            <a:avLst/>
          </a:prstGeom>
          <a:solidFill>
            <a:srgbClr val="EE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548640" y="4200000"/>
            <a:ext cx="5405000" cy="70000"/>
          </a:xfrm>
          <a:prstGeom prst="roundRect">
            <a:avLst/>
          </a:prstGeom>
          <a:solidFill>
            <a:srgbClr val="2C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848640" y="4440000"/>
            <a:ext cx="640000" cy="640000"/>
          </a:xfrm>
          <a:prstGeom prst="ellipse">
            <a:avLst/>
          </a:prstGeom>
          <a:solidFill>
            <a:srgbClr val="1F4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5" name="Picture 24" descr="microscope_w.png"/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ns5:svgBlip xmlns:ns5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976640" y="4568000"/>
            <a:ext cx="384000" cy="384000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848640" y="5130000"/>
            <a:ext cx="4845000" cy="104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2000" b="1" i="0">
                <a:solidFill>
                  <a:srgbClr val="1F4E3D"/>
                </a:solidFill>
              </a:rPr>
              <a:t>Thiết bị phòng thí nghiệm</a:t>
            </a:r>
          </a:p>
          <a:p>
            <a:r>
              <a:rPr sz="2000" b="0" i="0">
                <a:solidFill>
                  <a:srgbClr val="34404A"/>
                </a:solidFill>
              </a:rPr>
              <a:t>Đánh giá độ bền dài hạn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233640" y="4200000"/>
            <a:ext cx="5405000" cy="2100000"/>
          </a:xfrm>
          <a:prstGeom prst="roundRect">
            <a:avLst/>
          </a:prstGeom>
          <a:solidFill>
            <a:srgbClr val="EE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6233640" y="4200000"/>
            <a:ext cx="5405000" cy="70000"/>
          </a:xfrm>
          <a:prstGeom prst="roundRect">
            <a:avLst/>
          </a:prstGeom>
          <a:solidFill>
            <a:srgbClr val="2C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6533640" y="4440000"/>
            <a:ext cx="640000" cy="640000"/>
          </a:xfrm>
          <a:prstGeom prst="ellipse">
            <a:avLst/>
          </a:prstGeom>
          <a:solidFill>
            <a:srgbClr val="1F4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0" name="Picture 29" descr="materials_w.png"/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ns6:svgBlip xmlns:ns6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6661640" y="4568000"/>
            <a:ext cx="384000" cy="384000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6533640" y="5130000"/>
            <a:ext cx="4845000" cy="104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2000" b="1" i="0">
                <a:solidFill>
                  <a:srgbClr val="1F4E3D"/>
                </a:solidFill>
              </a:rPr>
              <a:t>Cốc / thùng chứa mẫu</a:t>
            </a:r>
          </a:p>
          <a:p>
            <a:r>
              <a:rPr sz="2000" b="0" i="0">
                <a:solidFill>
                  <a:srgbClr val="34404A"/>
                </a:solidFill>
              </a:rPr>
              <a:t>Chứa &amp; pha mẫu sơn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4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divbg.png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0:svgBlip xmlns:ns0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6485000"/>
            <a:ext cx="8200000" cy="30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1100" b="0" i="0">
                <a:solidFill>
                  <a:srgbClr val="9DB3AA"/>
                </a:solidFill>
              </a:rPr>
              <a:t>Báo cáo thực tập  ·  Công ty TNHH Sơn Hải Vân</a:t>
            </a:r>
          </a:p>
        </p:txBody>
      </p:sp>
      <p:pic>
        <p:nvPicPr>
          <p:cNvPr id="5" name="Picture 4" descr="warning_tri_w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ns1:svgBlip xmlns:ns1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8850000" y="2050000"/>
            <a:ext cx="2650000" cy="265000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905000" y="2360000"/>
            <a:ext cx="240000" cy="1300000"/>
          </a:xfrm>
          <a:prstGeom prst="roundRect">
            <a:avLst/>
          </a:prstGeom>
          <a:solidFill>
            <a:srgbClr val="C8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360000" y="2400000"/>
            <a:ext cx="1250000" cy="1250000"/>
          </a:xfrm>
          <a:prstGeom prst="ellipse">
            <a:avLst/>
          </a:prstGeom>
          <a:solidFill>
            <a:srgbClr val="C8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4600" b="1" i="0">
                <a:solidFill>
                  <a:srgbClr val="FFFFFF"/>
                </a:solidFill>
              </a:rPr>
              <a:t>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2450000"/>
            <a:ext cx="6200000" cy="52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2000" b="1" i="0">
                <a:solidFill>
                  <a:srgbClr val="C88A2E"/>
                </a:solidFill>
              </a:rPr>
              <a:t>PHẦN 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900000" y="2980000"/>
            <a:ext cx="6300000" cy="140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3800" b="1" i="0">
                <a:solidFill>
                  <a:srgbClr val="FFFFFF"/>
                </a:solidFill>
              </a:rPr>
              <a:t>Những sự cố thường gặp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hex_pale.png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0:svgBlip xmlns:ns0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10600000" y="-260000"/>
            <a:ext cx="2100000" cy="2100000"/>
          </a:xfrm>
          <a:prstGeom prst="rect">
            <a:avLst/>
          </a:prstGeom>
        </p:spPr>
      </p:pic>
      <p:pic>
        <p:nvPicPr>
          <p:cNvPr id="4" name="Picture 3" descr="swash_pale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ns1:svgBlip xmlns:ns1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9550000" y="5150000"/>
            <a:ext cx="2500000" cy="1300000"/>
          </a:xfrm>
          <a:prstGeom prst="rect">
            <a:avLst/>
          </a:prstGeom>
        </p:spPr>
      </p:pic>
      <p:sp>
        <p:nvSpPr>
          <p:cNvPr id="5" name="Oval 4"/>
          <p:cNvSpPr/>
          <p:nvPr/>
        </p:nvSpPr>
        <p:spPr>
          <a:xfrm>
            <a:off x="548640" y="470000"/>
            <a:ext cx="720000" cy="720000"/>
          </a:xfrm>
          <a:prstGeom prst="ellipse">
            <a:avLst/>
          </a:prstGeom>
          <a:solidFill>
            <a:srgbClr val="1F4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600" b="1" i="0">
                <a:solidFill>
                  <a:srgbClr val="FFFFFF"/>
                </a:solidFill>
              </a:rPr>
              <a:t>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30000" y="430000"/>
            <a:ext cx="9000000" cy="38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2000" b="1" i="0">
                <a:solidFill>
                  <a:srgbClr val="C88A2E"/>
                </a:solidFill>
              </a:rPr>
              <a:t>5. SỰ CỐ THƯỜNG GẶP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30000" y="850000"/>
            <a:ext cx="9800000" cy="78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3300" b="1" i="0">
                <a:solidFill>
                  <a:srgbClr val="1F4E3D"/>
                </a:solidFill>
              </a:rPr>
              <a:t>Sự cố điển hình (1/2)</a:t>
            </a:r>
          </a:p>
        </p:txBody>
      </p:sp>
      <p:pic>
        <p:nvPicPr>
          <p:cNvPr id="8" name="Picture 7" descr="brush_amber.png"/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ns2:svgBlip xmlns:ns2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430000" y="1500000"/>
            <a:ext cx="1200000" cy="22500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548640" y="6430000"/>
            <a:ext cx="11090000" cy="9000"/>
          </a:xfrm>
          <a:prstGeom prst="rect">
            <a:avLst/>
          </a:prstGeom>
          <a:solidFill>
            <a:srgbClr val="DCE7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6485000"/>
            <a:ext cx="8200000" cy="30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1100" b="0" i="0">
                <a:solidFill>
                  <a:srgbClr val="6E7F77"/>
                </a:solidFill>
              </a:rPr>
              <a:t>Báo cáo thực tập  ·  Công ty TNHH Sơn Hải Vân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250000" y="6485000"/>
            <a:ext cx="700000" cy="30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pPr algn="r"/>
            <a:r>
              <a:rPr sz="1200" b="1" i="0">
                <a:solidFill>
                  <a:srgbClr val="6E7F77"/>
                </a:solidFill>
              </a:rPr>
              <a:t>29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1830000"/>
            <a:ext cx="3550000" cy="2110000"/>
          </a:xfrm>
          <a:prstGeom prst="roundRect">
            <a:avLst/>
          </a:prstGeom>
          <a:solidFill>
            <a:srgbClr val="1F4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848640" y="2130000"/>
            <a:ext cx="640000" cy="640000"/>
          </a:xfrm>
          <a:prstGeom prst="ellipse">
            <a:avLst/>
          </a:prstGeom>
          <a:solidFill>
            <a:srgbClr val="C8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warning_tri_w.png"/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ns3:svgBlip xmlns:ns3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976640" y="2258000"/>
            <a:ext cx="384000" cy="38400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828640" y="2870000"/>
            <a:ext cx="3050000" cy="910000"/>
          </a:xfrm>
          <a:prstGeom prst="rect">
            <a:avLst/>
          </a:prstGeom>
          <a:noFill/>
        </p:spPr>
        <p:txBody>
          <a:bodyPr wrap="square" lIns="50000" rIns="50000" tIns="20000" bIns="20000" anchor="t">
            <a:spAutoFit/>
          </a:bodyPr>
          <a:lstStyle/>
          <a:p>
            <a:r>
              <a:rPr sz="2000" b="1" i="0">
                <a:solidFill>
                  <a:srgbClr val="FFFFFF"/>
                </a:solidFill>
              </a:rPr>
              <a:t>Sốc nhựa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298640" y="1830000"/>
            <a:ext cx="3570000" cy="2110000"/>
          </a:xfrm>
          <a:prstGeom prst="roundRect">
            <a:avLst/>
          </a:prstGeom>
          <a:solidFill>
            <a:srgbClr val="F6EE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38640" y="1980000"/>
            <a:ext cx="3110000" cy="1810000"/>
          </a:xfrm>
          <a:prstGeom prst="rect">
            <a:avLst/>
          </a:prstGeom>
          <a:noFill/>
        </p:spPr>
        <p:txBody>
          <a:bodyPr wrap="square" lIns="50000" rIns="50000" tIns="20000" bIns="20000" anchor="ctr">
            <a:spAutoFit/>
          </a:bodyPr>
          <a:lstStyle/>
          <a:p>
            <a:r>
              <a:rPr sz="2000" b="1" i="0">
                <a:solidFill>
                  <a:srgbClr val="C88A2E"/>
                </a:solidFill>
              </a:rPr>
              <a:t>Nguyên nhân</a:t>
            </a:r>
          </a:p>
          <a:p>
            <a:r>
              <a:rPr sz="2000" b="0" i="0">
                <a:solidFill>
                  <a:srgbClr val="34404A"/>
                </a:solidFill>
              </a:rPr>
              <a:t>dung môi mới có chỉ số KB thấp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068640" y="1830000"/>
            <a:ext cx="3570000" cy="2110000"/>
          </a:xfrm>
          <a:prstGeom prst="roundRect">
            <a:avLst/>
          </a:prstGeom>
          <a:solidFill>
            <a:srgbClr val="EE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308640" y="1980000"/>
            <a:ext cx="3110000" cy="1810000"/>
          </a:xfrm>
          <a:prstGeom prst="rect">
            <a:avLst/>
          </a:prstGeom>
          <a:noFill/>
        </p:spPr>
        <p:txBody>
          <a:bodyPr wrap="square" lIns="50000" rIns="50000" tIns="20000" bIns="20000" anchor="ctr">
            <a:spAutoFit/>
          </a:bodyPr>
          <a:lstStyle/>
          <a:p>
            <a:r>
              <a:rPr sz="2000" b="1" i="0">
                <a:solidFill>
                  <a:srgbClr val="2C7A5A"/>
                </a:solidFill>
              </a:rPr>
              <a:t>Xử lý</a:t>
            </a:r>
          </a:p>
          <a:p>
            <a:r>
              <a:rPr sz="2000" b="0" i="0">
                <a:solidFill>
                  <a:srgbClr val="34404A"/>
                </a:solidFill>
              </a:rPr>
              <a:t>châm dung môi phân cực + khuấy nghiền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48640" y="4190000"/>
            <a:ext cx="3550000" cy="2110000"/>
          </a:xfrm>
          <a:prstGeom prst="roundRect">
            <a:avLst/>
          </a:prstGeom>
          <a:solidFill>
            <a:srgbClr val="1F4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848640" y="4490000"/>
            <a:ext cx="640000" cy="640000"/>
          </a:xfrm>
          <a:prstGeom prst="ellipse">
            <a:avLst/>
          </a:prstGeom>
          <a:solidFill>
            <a:srgbClr val="C8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2" name="Picture 21" descr="warning_tri_w.png"/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ns4:svgBlip xmlns:ns4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976640" y="4618000"/>
            <a:ext cx="384000" cy="384000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828640" y="5230000"/>
            <a:ext cx="3050000" cy="910000"/>
          </a:xfrm>
          <a:prstGeom prst="rect">
            <a:avLst/>
          </a:prstGeom>
          <a:noFill/>
        </p:spPr>
        <p:txBody>
          <a:bodyPr wrap="square" lIns="50000" rIns="50000" tIns="20000" bIns="20000" anchor="t">
            <a:spAutoFit/>
          </a:bodyPr>
          <a:lstStyle/>
          <a:p>
            <a:r>
              <a:rPr sz="2000" b="1" i="0">
                <a:solidFill>
                  <a:srgbClr val="FFFFFF"/>
                </a:solidFill>
              </a:rPr>
              <a:t>Chảy xệ màng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298640" y="4190000"/>
            <a:ext cx="3570000" cy="2110000"/>
          </a:xfrm>
          <a:prstGeom prst="roundRect">
            <a:avLst/>
          </a:prstGeom>
          <a:solidFill>
            <a:srgbClr val="F6EE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538640" y="4340000"/>
            <a:ext cx="3110000" cy="1810000"/>
          </a:xfrm>
          <a:prstGeom prst="rect">
            <a:avLst/>
          </a:prstGeom>
          <a:noFill/>
        </p:spPr>
        <p:txBody>
          <a:bodyPr wrap="square" lIns="50000" rIns="50000" tIns="20000" bIns="20000" anchor="ctr">
            <a:spAutoFit/>
          </a:bodyPr>
          <a:lstStyle/>
          <a:p>
            <a:r>
              <a:rPr sz="2000" b="1" i="0">
                <a:solidFill>
                  <a:srgbClr val="C88A2E"/>
                </a:solidFill>
              </a:rPr>
              <a:t>Nguyên nhân</a:t>
            </a:r>
          </a:p>
          <a:p>
            <a:r>
              <a:rPr sz="2000" b="0" i="0">
                <a:solidFill>
                  <a:srgbClr val="34404A"/>
                </a:solidFill>
              </a:rPr>
              <a:t>dung môi bay hơi chậm, KB lệch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068640" y="4190000"/>
            <a:ext cx="3570000" cy="2110000"/>
          </a:xfrm>
          <a:prstGeom prst="roundRect">
            <a:avLst/>
          </a:prstGeom>
          <a:solidFill>
            <a:srgbClr val="EE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308640" y="4340000"/>
            <a:ext cx="3110000" cy="1810000"/>
          </a:xfrm>
          <a:prstGeom prst="rect">
            <a:avLst/>
          </a:prstGeom>
          <a:noFill/>
        </p:spPr>
        <p:txBody>
          <a:bodyPr wrap="square" lIns="50000" rIns="50000" tIns="20000" bIns="20000" anchor="ctr">
            <a:spAutoFit/>
          </a:bodyPr>
          <a:lstStyle/>
          <a:p>
            <a:r>
              <a:rPr sz="2000" b="1" i="0">
                <a:solidFill>
                  <a:srgbClr val="2C7A5A"/>
                </a:solidFill>
              </a:rPr>
              <a:t>Xử lý</a:t>
            </a:r>
          </a:p>
          <a:p>
            <a:r>
              <a:rPr sz="2000" b="0" i="0">
                <a:solidFill>
                  <a:srgbClr val="34404A"/>
                </a:solidFill>
              </a:rPr>
              <a:t>hiệu chỉnh hệ dung môi, kiểm độ nhớt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hex_pale.png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0:svgBlip xmlns:ns0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10600000" y="-260000"/>
            <a:ext cx="2100000" cy="2100000"/>
          </a:xfrm>
          <a:prstGeom prst="rect">
            <a:avLst/>
          </a:prstGeom>
        </p:spPr>
      </p:pic>
      <p:pic>
        <p:nvPicPr>
          <p:cNvPr id="4" name="Picture 3" descr="swash_pale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ns1:svgBlip xmlns:ns1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9550000" y="5150000"/>
            <a:ext cx="2500000" cy="1300000"/>
          </a:xfrm>
          <a:prstGeom prst="rect">
            <a:avLst/>
          </a:prstGeom>
        </p:spPr>
      </p:pic>
      <p:sp>
        <p:nvSpPr>
          <p:cNvPr id="5" name="Oval 4"/>
          <p:cNvSpPr/>
          <p:nvPr/>
        </p:nvSpPr>
        <p:spPr>
          <a:xfrm>
            <a:off x="548640" y="470000"/>
            <a:ext cx="720000" cy="720000"/>
          </a:xfrm>
          <a:prstGeom prst="ellipse">
            <a:avLst/>
          </a:prstGeom>
          <a:solidFill>
            <a:srgbClr val="1F4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600" b="1" i="0">
                <a:solidFill>
                  <a:srgbClr val="FFFFFF"/>
                </a:solidFill>
              </a:rPr>
              <a:t>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30000" y="430000"/>
            <a:ext cx="9000000" cy="38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2000" b="1" i="0">
                <a:solidFill>
                  <a:srgbClr val="C88A2E"/>
                </a:solidFill>
              </a:rPr>
              <a:t>5. SỰ CỐ THƯỜNG GẶP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30000" y="850000"/>
            <a:ext cx="9800000" cy="78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3300" b="1" i="0">
                <a:solidFill>
                  <a:srgbClr val="1F4E3D"/>
                </a:solidFill>
              </a:rPr>
              <a:t>Sự cố điển hình (2/2)</a:t>
            </a:r>
          </a:p>
        </p:txBody>
      </p:sp>
      <p:pic>
        <p:nvPicPr>
          <p:cNvPr id="8" name="Picture 7" descr="brush_amber.png"/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ns2:svgBlip xmlns:ns2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430000" y="1500000"/>
            <a:ext cx="1200000" cy="22500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548640" y="6430000"/>
            <a:ext cx="11090000" cy="9000"/>
          </a:xfrm>
          <a:prstGeom prst="rect">
            <a:avLst/>
          </a:prstGeom>
          <a:solidFill>
            <a:srgbClr val="DCE7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6485000"/>
            <a:ext cx="8200000" cy="30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1100" b="0" i="0">
                <a:solidFill>
                  <a:srgbClr val="6E7F77"/>
                </a:solidFill>
              </a:rPr>
              <a:t>Báo cáo thực tập  ·  Công ty TNHH Sơn Hải Vân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250000" y="6485000"/>
            <a:ext cx="700000" cy="30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pPr algn="r"/>
            <a:r>
              <a:rPr sz="1200" b="1" i="0">
                <a:solidFill>
                  <a:srgbClr val="6E7F77"/>
                </a:solidFill>
              </a:rPr>
              <a:t>30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1830000"/>
            <a:ext cx="3550000" cy="2110000"/>
          </a:xfrm>
          <a:prstGeom prst="roundRect">
            <a:avLst/>
          </a:prstGeom>
          <a:solidFill>
            <a:srgbClr val="1F4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848640" y="2130000"/>
            <a:ext cx="640000" cy="640000"/>
          </a:xfrm>
          <a:prstGeom prst="ellipse">
            <a:avLst/>
          </a:prstGeom>
          <a:solidFill>
            <a:srgbClr val="C8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warning_tri_w.png"/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ns3:svgBlip xmlns:ns3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976640" y="2258000"/>
            <a:ext cx="384000" cy="38400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828640" y="2870000"/>
            <a:ext cx="3050000" cy="910000"/>
          </a:xfrm>
          <a:prstGeom prst="rect">
            <a:avLst/>
          </a:prstGeom>
          <a:noFill/>
        </p:spPr>
        <p:txBody>
          <a:bodyPr wrap="square" lIns="50000" rIns="50000" tIns="20000" bIns="20000" anchor="t">
            <a:spAutoFit/>
          </a:bodyPr>
          <a:lstStyle/>
          <a:p>
            <a:r>
              <a:rPr sz="2000" b="1" i="0">
                <a:solidFill>
                  <a:srgbClr val="FFFFFF"/>
                </a:solidFill>
              </a:rPr>
              <a:t>Lắng cứng đáy bồn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298640" y="1830000"/>
            <a:ext cx="3570000" cy="2110000"/>
          </a:xfrm>
          <a:prstGeom prst="roundRect">
            <a:avLst/>
          </a:prstGeom>
          <a:solidFill>
            <a:srgbClr val="F6EE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38640" y="1980000"/>
            <a:ext cx="3110000" cy="1810000"/>
          </a:xfrm>
          <a:prstGeom prst="rect">
            <a:avLst/>
          </a:prstGeom>
          <a:noFill/>
        </p:spPr>
        <p:txBody>
          <a:bodyPr wrap="square" lIns="50000" rIns="50000" tIns="20000" bIns="20000" anchor="ctr">
            <a:spAutoFit/>
          </a:bodyPr>
          <a:lstStyle/>
          <a:p>
            <a:r>
              <a:rPr sz="2000" b="1" i="0">
                <a:solidFill>
                  <a:srgbClr val="C88A2E"/>
                </a:solidFill>
              </a:rPr>
              <a:t>Nguyên nhân</a:t>
            </a:r>
          </a:p>
          <a:p>
            <a:r>
              <a:rPr sz="2000" b="0" i="0">
                <a:solidFill>
                  <a:srgbClr val="34404A"/>
                </a:solidFill>
              </a:rPr>
              <a:t>độ hút dầu bột mới vượt PVC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068640" y="1830000"/>
            <a:ext cx="3570000" cy="2110000"/>
          </a:xfrm>
          <a:prstGeom prst="roundRect">
            <a:avLst/>
          </a:prstGeom>
          <a:solidFill>
            <a:srgbClr val="EE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308640" y="1980000"/>
            <a:ext cx="3110000" cy="1810000"/>
          </a:xfrm>
          <a:prstGeom prst="rect">
            <a:avLst/>
          </a:prstGeom>
          <a:noFill/>
        </p:spPr>
        <p:txBody>
          <a:bodyPr wrap="square" lIns="50000" rIns="50000" tIns="20000" bIns="20000" anchor="ctr">
            <a:spAutoFit/>
          </a:bodyPr>
          <a:lstStyle/>
          <a:p>
            <a:r>
              <a:rPr sz="2000" b="1" i="0">
                <a:solidFill>
                  <a:srgbClr val="2C7A5A"/>
                </a:solidFill>
              </a:rPr>
              <a:t>Xử lý</a:t>
            </a:r>
          </a:p>
          <a:p>
            <a:r>
              <a:rPr sz="2000" b="0" i="0">
                <a:solidFill>
                  <a:srgbClr val="34404A"/>
                </a:solidFill>
              </a:rPr>
              <a:t>tính lại tỉ lệ, thêm chất chống lắng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48640" y="4190000"/>
            <a:ext cx="3550000" cy="2110000"/>
          </a:xfrm>
          <a:prstGeom prst="roundRect">
            <a:avLst/>
          </a:prstGeom>
          <a:solidFill>
            <a:srgbClr val="1F4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848640" y="4490000"/>
            <a:ext cx="640000" cy="640000"/>
          </a:xfrm>
          <a:prstGeom prst="ellipse">
            <a:avLst/>
          </a:prstGeom>
          <a:solidFill>
            <a:srgbClr val="C8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2" name="Picture 21" descr="warning_tri_w.png"/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ns4:svgBlip xmlns:ns4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976640" y="4618000"/>
            <a:ext cx="384000" cy="384000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828640" y="5230000"/>
            <a:ext cx="3050000" cy="910000"/>
          </a:xfrm>
          <a:prstGeom prst="rect">
            <a:avLst/>
          </a:prstGeom>
          <a:noFill/>
        </p:spPr>
        <p:txBody>
          <a:bodyPr wrap="square" lIns="50000" rIns="50000" tIns="20000" bIns="20000" anchor="t">
            <a:spAutoFit/>
          </a:bodyPr>
          <a:lstStyle/>
          <a:p>
            <a:r>
              <a:rPr sz="2000" b="1" i="0">
                <a:solidFill>
                  <a:srgbClr val="FFFFFF"/>
                </a:solidFill>
              </a:rPr>
              <a:t>Mất bóng / nứt giòn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298640" y="4190000"/>
            <a:ext cx="3570000" cy="2110000"/>
          </a:xfrm>
          <a:prstGeom prst="roundRect">
            <a:avLst/>
          </a:prstGeom>
          <a:solidFill>
            <a:srgbClr val="F6EE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538640" y="4340000"/>
            <a:ext cx="3110000" cy="1810000"/>
          </a:xfrm>
          <a:prstGeom prst="rect">
            <a:avLst/>
          </a:prstGeom>
          <a:noFill/>
        </p:spPr>
        <p:txBody>
          <a:bodyPr wrap="square" lIns="50000" rIns="50000" tIns="20000" bIns="20000" anchor="ctr">
            <a:spAutoFit/>
          </a:bodyPr>
          <a:lstStyle/>
          <a:p>
            <a:r>
              <a:rPr sz="2000" b="1" i="0">
                <a:solidFill>
                  <a:srgbClr val="C88A2E"/>
                </a:solidFill>
              </a:rPr>
              <a:t>Nguyên nhân</a:t>
            </a:r>
          </a:p>
          <a:p>
            <a:r>
              <a:rPr sz="2000" b="0" i="0">
                <a:solidFill>
                  <a:srgbClr val="34404A"/>
                </a:solidFill>
              </a:rPr>
              <a:t>vượt PVC, thiếu nhựa liên kết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068640" y="4190000"/>
            <a:ext cx="3570000" cy="2110000"/>
          </a:xfrm>
          <a:prstGeom prst="roundRect">
            <a:avLst/>
          </a:prstGeom>
          <a:solidFill>
            <a:srgbClr val="EE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308640" y="4340000"/>
            <a:ext cx="3110000" cy="1810000"/>
          </a:xfrm>
          <a:prstGeom prst="rect">
            <a:avLst/>
          </a:prstGeom>
          <a:noFill/>
        </p:spPr>
        <p:txBody>
          <a:bodyPr wrap="square" lIns="50000" rIns="50000" tIns="20000" bIns="20000" anchor="ctr">
            <a:spAutoFit/>
          </a:bodyPr>
          <a:lstStyle/>
          <a:p>
            <a:r>
              <a:rPr sz="2000" b="1" i="0">
                <a:solidFill>
                  <a:srgbClr val="2C7A5A"/>
                </a:solidFill>
              </a:rPr>
              <a:t>Xử lý</a:t>
            </a:r>
          </a:p>
          <a:p>
            <a:r>
              <a:rPr sz="2000" b="0" i="0">
                <a:solidFill>
                  <a:srgbClr val="34404A"/>
                </a:solidFill>
              </a:rPr>
              <a:t>cân đối PVC, tăng chất tạo màng dẻo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hex_pale.png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0:svgBlip xmlns:ns0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0600000" y="-260000"/>
            <a:ext cx="2100000" cy="2100000"/>
          </a:xfrm>
          <a:prstGeom prst="rect">
            <a:avLst/>
          </a:prstGeom>
        </p:spPr>
      </p:pic>
      <p:pic>
        <p:nvPicPr>
          <p:cNvPr id="4" name="Picture 3" descr="swash_pale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ns1:svgBlip xmlns:ns1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9550000" y="5150000"/>
            <a:ext cx="2500000" cy="1300000"/>
          </a:xfrm>
          <a:prstGeom prst="rect">
            <a:avLst/>
          </a:prstGeom>
        </p:spPr>
      </p:pic>
      <p:sp>
        <p:nvSpPr>
          <p:cNvPr id="5" name="Oval 4"/>
          <p:cNvSpPr/>
          <p:nvPr/>
        </p:nvSpPr>
        <p:spPr>
          <a:xfrm>
            <a:off x="548640" y="470000"/>
            <a:ext cx="720000" cy="720000"/>
          </a:xfrm>
          <a:prstGeom prst="ellipse">
            <a:avLst/>
          </a:prstGeom>
          <a:solidFill>
            <a:srgbClr val="1F4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600" b="1" i="0">
                <a:solidFill>
                  <a:srgbClr val="FFFFFF"/>
                </a:solidFill>
              </a:rPr>
              <a:t>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30000" y="430000"/>
            <a:ext cx="9000000" cy="38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2000" b="1" i="0">
                <a:solidFill>
                  <a:srgbClr val="C88A2E"/>
                </a:solidFill>
              </a:rPr>
              <a:t>5. SỰ CỐ TIÊU ĐIỂM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30000" y="850000"/>
            <a:ext cx="9800000" cy="78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3300" b="1" i="0">
                <a:solidFill>
                  <a:srgbClr val="1F4E3D"/>
                </a:solidFill>
              </a:rPr>
              <a:t>“Sốc nhựa” khi thay dung môi</a:t>
            </a:r>
          </a:p>
        </p:txBody>
      </p:sp>
      <p:pic>
        <p:nvPicPr>
          <p:cNvPr id="8" name="Picture 7" descr="brush_amber.png"/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ns2:svgBlip xmlns:ns2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430000" y="1500000"/>
            <a:ext cx="1200000" cy="22500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548640" y="6430000"/>
            <a:ext cx="11090000" cy="9000"/>
          </a:xfrm>
          <a:prstGeom prst="rect">
            <a:avLst/>
          </a:prstGeom>
          <a:solidFill>
            <a:srgbClr val="DCE7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6485000"/>
            <a:ext cx="8200000" cy="30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1100" b="0" i="0">
                <a:solidFill>
                  <a:srgbClr val="6E7F77"/>
                </a:solidFill>
              </a:rPr>
              <a:t>Báo cáo thực tập  ·  Công ty TNHH Sơn Hải Vân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250000" y="6485000"/>
            <a:ext cx="700000" cy="30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pPr algn="r"/>
            <a:r>
              <a:rPr sz="1200" b="1" i="0">
                <a:solidFill>
                  <a:srgbClr val="6E7F77"/>
                </a:solidFill>
              </a:rPr>
              <a:t>31</a:t>
            </a:r>
          </a:p>
        </p:txBody>
      </p:sp>
      <p:sp>
        <p:nvSpPr>
          <p:cNvPr id="12" name="Oval 11"/>
          <p:cNvSpPr/>
          <p:nvPr/>
        </p:nvSpPr>
        <p:spPr>
          <a:xfrm>
            <a:off x="640000" y="2426600"/>
            <a:ext cx="716800" cy="716800"/>
          </a:xfrm>
          <a:prstGeom prst="ellipse">
            <a:avLst/>
          </a:prstGeom>
          <a:solidFill>
            <a:srgbClr val="1F4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warning_tri_w.png"/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ns3:svgBlip xmlns:ns3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783360" y="2569960"/>
            <a:ext cx="430080" cy="43008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1736800" y="2145000"/>
            <a:ext cx="9800000" cy="1280000"/>
          </a:xfrm>
          <a:prstGeom prst="rect">
            <a:avLst/>
          </a:prstGeom>
          <a:noFill/>
        </p:spPr>
        <p:txBody>
          <a:bodyPr wrap="square" lIns="50000" rIns="50000" tIns="20000" bIns="20000" anchor="ctr">
            <a:spAutoFit/>
          </a:bodyPr>
          <a:lstStyle/>
          <a:p>
            <a:r>
              <a:rPr sz="2075" b="1" i="0">
                <a:solidFill>
                  <a:srgbClr val="1F4E3D"/>
                </a:solidFill>
              </a:rPr>
              <a:t>Hiện tượng</a:t>
            </a:r>
          </a:p>
          <a:p>
            <a:r>
              <a:rPr sz="2000" b="0" i="0">
                <a:solidFill>
                  <a:srgbClr val="34404A"/>
                </a:solidFill>
              </a:rPr>
              <a:t>Sơn vón cục, kết tủa; màng chảy xệ khi thi công</a:t>
            </a:r>
          </a:p>
        </p:txBody>
      </p:sp>
      <p:sp>
        <p:nvSpPr>
          <p:cNvPr id="15" name="Oval 14"/>
          <p:cNvSpPr/>
          <p:nvPr/>
        </p:nvSpPr>
        <p:spPr>
          <a:xfrm>
            <a:off x="640000" y="3706600"/>
            <a:ext cx="716800" cy="716800"/>
          </a:xfrm>
          <a:prstGeom prst="ellipse">
            <a:avLst/>
          </a:prstGeom>
          <a:solidFill>
            <a:srgbClr val="1F4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Picture 15" descr="solvent_w.png"/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ns4:svgBlip xmlns:ns4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783360" y="3849960"/>
            <a:ext cx="430080" cy="430080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1736800" y="3425000"/>
            <a:ext cx="9800000" cy="1280000"/>
          </a:xfrm>
          <a:prstGeom prst="rect">
            <a:avLst/>
          </a:prstGeom>
          <a:noFill/>
        </p:spPr>
        <p:txBody>
          <a:bodyPr wrap="square" lIns="50000" rIns="50000" tIns="20000" bIns="20000" anchor="ctr">
            <a:spAutoFit/>
          </a:bodyPr>
          <a:lstStyle/>
          <a:p>
            <a:r>
              <a:rPr sz="2075" b="1" i="0">
                <a:solidFill>
                  <a:srgbClr val="1F4E3D"/>
                </a:solidFill>
              </a:rPr>
              <a:t>Nguyên nhân</a:t>
            </a:r>
          </a:p>
          <a:p>
            <a:r>
              <a:rPr sz="2000" b="0" i="0">
                <a:solidFill>
                  <a:srgbClr val="34404A"/>
                </a:solidFill>
              </a:rPr>
              <a:t>Dung môi mới có chỉ số KB thấp → keo tụ</a:t>
            </a:r>
          </a:p>
        </p:txBody>
      </p:sp>
      <p:sp>
        <p:nvSpPr>
          <p:cNvPr id="18" name="Oval 17"/>
          <p:cNvSpPr/>
          <p:nvPr/>
        </p:nvSpPr>
        <p:spPr>
          <a:xfrm>
            <a:off x="640000" y="4986600"/>
            <a:ext cx="716800" cy="716800"/>
          </a:xfrm>
          <a:prstGeom prst="ellipse">
            <a:avLst/>
          </a:prstGeom>
          <a:solidFill>
            <a:srgbClr val="1F4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gear_proc_w.png"/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ns5:svgBlip xmlns:ns5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783360" y="5129960"/>
            <a:ext cx="430080" cy="43008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1736800" y="4705000"/>
            <a:ext cx="9800000" cy="1280000"/>
          </a:xfrm>
          <a:prstGeom prst="rect">
            <a:avLst/>
          </a:prstGeom>
          <a:noFill/>
        </p:spPr>
        <p:txBody>
          <a:bodyPr wrap="square" lIns="50000" rIns="50000" tIns="20000" bIns="20000" anchor="ctr">
            <a:spAutoFit/>
          </a:bodyPr>
          <a:lstStyle/>
          <a:p>
            <a:r>
              <a:rPr sz="2075" b="1" i="0">
                <a:solidFill>
                  <a:srgbClr val="1F4E3D"/>
                </a:solidFill>
              </a:rPr>
              <a:t>Xử lý</a:t>
            </a:r>
          </a:p>
          <a:p>
            <a:r>
              <a:rPr sz="2000" b="0" i="0">
                <a:solidFill>
                  <a:srgbClr val="34404A"/>
                </a:solidFill>
              </a:rPr>
              <a:t>Châm Butyl Acetate / Xylene + khuấy nghiền 1200–1500 v/p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4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divbg.png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0:svgBlip xmlns:ns0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6485000"/>
            <a:ext cx="8200000" cy="30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1100" b="0" i="0">
                <a:solidFill>
                  <a:srgbClr val="9DB3AA"/>
                </a:solidFill>
              </a:rPr>
              <a:t>Báo cáo thực tập  ·  Công ty TNHH Sơn Hải Vân</a:t>
            </a:r>
          </a:p>
        </p:txBody>
      </p:sp>
      <p:pic>
        <p:nvPicPr>
          <p:cNvPr id="5" name="Picture 4" descr="safety_shield_w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ns1:svgBlip xmlns:ns1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8850000" y="2050000"/>
            <a:ext cx="2650000" cy="265000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905000" y="2360000"/>
            <a:ext cx="240000" cy="1300000"/>
          </a:xfrm>
          <a:prstGeom prst="roundRect">
            <a:avLst/>
          </a:prstGeom>
          <a:solidFill>
            <a:srgbClr val="C8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360000" y="2400000"/>
            <a:ext cx="1250000" cy="1250000"/>
          </a:xfrm>
          <a:prstGeom prst="ellipse">
            <a:avLst/>
          </a:prstGeom>
          <a:solidFill>
            <a:srgbClr val="C8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4600" b="1" i="0">
                <a:solidFill>
                  <a:srgbClr val="FFFFFF"/>
                </a:solidFill>
              </a:rPr>
              <a:t>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2450000"/>
            <a:ext cx="6200000" cy="52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2000" b="1" i="0">
                <a:solidFill>
                  <a:srgbClr val="C88A2E"/>
                </a:solidFill>
              </a:rPr>
              <a:t>PHẦN 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900000" y="2980000"/>
            <a:ext cx="6300000" cy="140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3800" b="1" i="0">
                <a:solidFill>
                  <a:srgbClr val="FFFFFF"/>
                </a:solidFill>
              </a:rPr>
              <a:t>An toàn lao động &amp; môi trường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hex_pale.png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0:svgBlip xmlns:ns0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10600000" y="-260000"/>
            <a:ext cx="2100000" cy="2100000"/>
          </a:xfrm>
          <a:prstGeom prst="rect">
            <a:avLst/>
          </a:prstGeom>
        </p:spPr>
      </p:pic>
      <p:pic>
        <p:nvPicPr>
          <p:cNvPr id="4" name="Picture 3" descr="swash_pale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ns1:svgBlip xmlns:ns1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9550000" y="5150000"/>
            <a:ext cx="2500000" cy="1300000"/>
          </a:xfrm>
          <a:prstGeom prst="rect">
            <a:avLst/>
          </a:prstGeom>
        </p:spPr>
      </p:pic>
      <p:sp>
        <p:nvSpPr>
          <p:cNvPr id="5" name="Oval 4"/>
          <p:cNvSpPr/>
          <p:nvPr/>
        </p:nvSpPr>
        <p:spPr>
          <a:xfrm>
            <a:off x="548640" y="470000"/>
            <a:ext cx="720000" cy="720000"/>
          </a:xfrm>
          <a:prstGeom prst="ellipse">
            <a:avLst/>
          </a:prstGeom>
          <a:solidFill>
            <a:srgbClr val="1F4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600" b="1" i="0">
                <a:solidFill>
                  <a:srgbClr val="FFFFFF"/>
                </a:solidFill>
              </a:rPr>
              <a:t>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30000" y="430000"/>
            <a:ext cx="9000000" cy="38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2000" b="1" i="0">
                <a:solidFill>
                  <a:srgbClr val="C88A2E"/>
                </a:solidFill>
              </a:rPr>
              <a:t>6. AN TOÀN LAO ĐỘNG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30000" y="850000"/>
            <a:ext cx="9800000" cy="78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3300" b="1" i="0">
                <a:solidFill>
                  <a:srgbClr val="1F4E3D"/>
                </a:solidFill>
              </a:rPr>
              <a:t>Cháy nổ &amp; hơi dung môi</a:t>
            </a:r>
          </a:p>
        </p:txBody>
      </p:sp>
      <p:pic>
        <p:nvPicPr>
          <p:cNvPr id="8" name="Picture 7" descr="brush_amber.png"/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ns2:svgBlip xmlns:ns2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430000" y="1500000"/>
            <a:ext cx="1200000" cy="22500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548640" y="6430000"/>
            <a:ext cx="11090000" cy="9000"/>
          </a:xfrm>
          <a:prstGeom prst="rect">
            <a:avLst/>
          </a:prstGeom>
          <a:solidFill>
            <a:srgbClr val="DCE7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6485000"/>
            <a:ext cx="8200000" cy="30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1100" b="0" i="0">
                <a:solidFill>
                  <a:srgbClr val="6E7F77"/>
                </a:solidFill>
              </a:rPr>
              <a:t>Báo cáo thực tập  ·  Công ty TNHH Sơn Hải Vân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250000" y="6485000"/>
            <a:ext cx="700000" cy="30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pPr algn="r"/>
            <a:r>
              <a:rPr sz="1200" b="1" i="0">
                <a:solidFill>
                  <a:srgbClr val="6E7F77"/>
                </a:solidFill>
              </a:rPr>
              <a:t>33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1830000"/>
            <a:ext cx="7050000" cy="2120000"/>
          </a:xfrm>
          <a:prstGeom prst="roundRect">
            <a:avLst/>
          </a:prstGeom>
          <a:solidFill>
            <a:srgbClr val="EE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820000" y="2415000"/>
            <a:ext cx="950000" cy="950000"/>
          </a:xfrm>
          <a:prstGeom prst="ellipse">
            <a:avLst/>
          </a:prstGeom>
          <a:solidFill>
            <a:srgbClr val="C8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flame_w.png"/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ns3:svgBlip xmlns:ns3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1010000" y="2605000"/>
            <a:ext cx="570000" cy="57000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1900000" y="1940000"/>
            <a:ext cx="5550000" cy="1900000"/>
          </a:xfrm>
          <a:prstGeom prst="rect">
            <a:avLst/>
          </a:prstGeom>
          <a:noFill/>
        </p:spPr>
        <p:txBody>
          <a:bodyPr wrap="square" lIns="50000" rIns="50000" tIns="20000" bIns="20000" anchor="ctr">
            <a:spAutoFit/>
          </a:bodyPr>
          <a:lstStyle/>
          <a:p>
            <a:r>
              <a:rPr sz="2000" b="1" i="0">
                <a:solidFill>
                  <a:srgbClr val="1F4E3D"/>
                </a:solidFill>
              </a:rPr>
              <a:t>Cháy nổ dung môi</a:t>
            </a:r>
          </a:p>
          <a:p>
            <a:r>
              <a:rPr sz="2000" b="1" i="0">
                <a:solidFill>
                  <a:srgbClr val="C88A2E"/>
                </a:solidFill>
              </a:rPr>
              <a:t>Nguy cơ: </a:t>
            </a:r>
            <a:r>
              <a:rPr sz="2000" b="0" i="0">
                <a:solidFill>
                  <a:srgbClr val="34404A"/>
                </a:solidFill>
              </a:rPr>
              <a:t>dung môi hữu cơ dễ bay hơi, bắt lửa</a:t>
            </a:r>
          </a:p>
          <a:p>
            <a:r>
              <a:rPr sz="2000" b="1" i="0">
                <a:solidFill>
                  <a:srgbClr val="2C7A5A"/>
                </a:solidFill>
              </a:rPr>
              <a:t>Biện pháp: </a:t>
            </a:r>
            <a:r>
              <a:rPr sz="2000" b="0" i="0">
                <a:solidFill>
                  <a:srgbClr val="34404A"/>
                </a:solidFill>
              </a:rPr>
              <a:t>chống tĩnh điện, thiết bị phòng nổ, PCCC tại chỗ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4180000"/>
            <a:ext cx="7050000" cy="2120000"/>
          </a:xfrm>
          <a:prstGeom prst="roundRect">
            <a:avLst/>
          </a:prstGeom>
          <a:solidFill>
            <a:srgbClr val="EE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820000" y="4765000"/>
            <a:ext cx="950000" cy="950000"/>
          </a:xfrm>
          <a:prstGeom prst="ellipse">
            <a:avLst/>
          </a:prstGeom>
          <a:solidFill>
            <a:srgbClr val="C8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gasmask_w.png"/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ns4:svgBlip xmlns:ns4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010000" y="4955000"/>
            <a:ext cx="570000" cy="570000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1900000" y="4290000"/>
            <a:ext cx="5550000" cy="1900000"/>
          </a:xfrm>
          <a:prstGeom prst="rect">
            <a:avLst/>
          </a:prstGeom>
          <a:noFill/>
        </p:spPr>
        <p:txBody>
          <a:bodyPr wrap="square" lIns="50000" rIns="50000" tIns="20000" bIns="20000" anchor="ctr">
            <a:spAutoFit/>
          </a:bodyPr>
          <a:lstStyle/>
          <a:p>
            <a:r>
              <a:rPr sz="2000" b="1" i="0">
                <a:solidFill>
                  <a:srgbClr val="1F4E3D"/>
                </a:solidFill>
              </a:rPr>
              <a:t>Hơi dung môi độc hại</a:t>
            </a:r>
          </a:p>
          <a:p>
            <a:r>
              <a:rPr sz="2000" b="1" i="0">
                <a:solidFill>
                  <a:srgbClr val="C88A2E"/>
                </a:solidFill>
              </a:rPr>
              <a:t>Nguy cơ: </a:t>
            </a:r>
            <a:r>
              <a:rPr sz="2000" b="0" i="0">
                <a:solidFill>
                  <a:srgbClr val="34404A"/>
                </a:solidFill>
              </a:rPr>
              <a:t>hít VOC hại hô hấp, thần kinh</a:t>
            </a:r>
          </a:p>
          <a:p>
            <a:r>
              <a:rPr sz="2000" b="1" i="0">
                <a:solidFill>
                  <a:srgbClr val="2C7A5A"/>
                </a:solidFill>
              </a:rPr>
              <a:t>Biện pháp: </a:t>
            </a:r>
            <a:r>
              <a:rPr sz="2000" b="0" i="0">
                <a:solidFill>
                  <a:srgbClr val="34404A"/>
                </a:solidFill>
              </a:rPr>
              <a:t>thông gió cưỡng bức, mặt nạ, quan trắc không khí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864640" y="2404712"/>
            <a:ext cx="3808000" cy="3320575"/>
          </a:xfrm>
          <a:prstGeom prst="rect">
            <a:avLst/>
          </a:prstGeom>
          <a:solidFill>
            <a:srgbClr val="1F4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1" name="Picture 20" descr="ppe_c.jp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898640" y="2438712"/>
            <a:ext cx="3740000" cy="3252575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7864640" y="5741287"/>
            <a:ext cx="3808000" cy="30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pPr algn="ctr"/>
            <a:r>
              <a:rPr sz="1500" b="0" i="1">
                <a:solidFill>
                  <a:srgbClr val="5B6E66"/>
                </a:solidFill>
              </a:rPr>
              <a:t>Trang bị bảo hộ khi làm việc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hex_pale.png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0:svgBlip xmlns:ns0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0600000" y="-260000"/>
            <a:ext cx="2100000" cy="2100000"/>
          </a:xfrm>
          <a:prstGeom prst="rect">
            <a:avLst/>
          </a:prstGeom>
        </p:spPr>
      </p:pic>
      <p:pic>
        <p:nvPicPr>
          <p:cNvPr id="4" name="Picture 3" descr="swash_pale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ns1:svgBlip xmlns:ns1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9550000" y="5150000"/>
            <a:ext cx="2500000" cy="1300000"/>
          </a:xfrm>
          <a:prstGeom prst="rect">
            <a:avLst/>
          </a:prstGeom>
        </p:spPr>
      </p:pic>
      <p:sp>
        <p:nvSpPr>
          <p:cNvPr id="5" name="Oval 4"/>
          <p:cNvSpPr/>
          <p:nvPr/>
        </p:nvSpPr>
        <p:spPr>
          <a:xfrm>
            <a:off x="548640" y="470000"/>
            <a:ext cx="720000" cy="720000"/>
          </a:xfrm>
          <a:prstGeom prst="ellipse">
            <a:avLst/>
          </a:prstGeom>
          <a:solidFill>
            <a:srgbClr val="1F4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600" b="1" i="0">
                <a:solidFill>
                  <a:srgbClr val="FFFFFF"/>
                </a:solidFill>
              </a:rPr>
              <a:t>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30000" y="430000"/>
            <a:ext cx="9000000" cy="38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2000" b="1" i="0">
                <a:solidFill>
                  <a:srgbClr val="C88A2E"/>
                </a:solidFill>
              </a:rPr>
              <a:t>6. AN TOÀN LAO ĐỘNG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30000" y="850000"/>
            <a:ext cx="9800000" cy="78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3300" b="1" i="0">
                <a:solidFill>
                  <a:srgbClr val="1F4E3D"/>
                </a:solidFill>
              </a:rPr>
              <a:t>Hóa chất, bụi &amp; an toàn cơ khí</a:t>
            </a:r>
          </a:p>
        </p:txBody>
      </p:sp>
      <p:pic>
        <p:nvPicPr>
          <p:cNvPr id="8" name="Picture 7" descr="brush_amber.png"/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ns2:svgBlip xmlns:ns2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1430000" y="1500000"/>
            <a:ext cx="1200000" cy="22500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548640" y="6430000"/>
            <a:ext cx="11090000" cy="9000"/>
          </a:xfrm>
          <a:prstGeom prst="rect">
            <a:avLst/>
          </a:prstGeom>
          <a:solidFill>
            <a:srgbClr val="DCE7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6485000"/>
            <a:ext cx="8200000" cy="30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1100" b="0" i="0">
                <a:solidFill>
                  <a:srgbClr val="6E7F77"/>
                </a:solidFill>
              </a:rPr>
              <a:t>Báo cáo thực tập  ·  Công ty TNHH Sơn Hải Vân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250000" y="6485000"/>
            <a:ext cx="700000" cy="30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pPr algn="r"/>
            <a:r>
              <a:rPr sz="1200" b="1" i="0">
                <a:solidFill>
                  <a:srgbClr val="6E7F77"/>
                </a:solidFill>
              </a:rPr>
              <a:t>34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1830000"/>
            <a:ext cx="11090000" cy="2120000"/>
          </a:xfrm>
          <a:prstGeom prst="roundRect">
            <a:avLst/>
          </a:prstGeom>
          <a:solidFill>
            <a:srgbClr val="EE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820000" y="2415000"/>
            <a:ext cx="950000" cy="950000"/>
          </a:xfrm>
          <a:prstGeom prst="ellipse">
            <a:avLst/>
          </a:prstGeom>
          <a:solidFill>
            <a:srgbClr val="C8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chemical_glove_w.png"/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ns3:svgBlip xmlns:ns3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010000" y="2605000"/>
            <a:ext cx="570000" cy="57000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1900000" y="1940000"/>
            <a:ext cx="9590000" cy="1900000"/>
          </a:xfrm>
          <a:prstGeom prst="rect">
            <a:avLst/>
          </a:prstGeom>
          <a:noFill/>
        </p:spPr>
        <p:txBody>
          <a:bodyPr wrap="square" lIns="50000" rIns="50000" tIns="20000" bIns="20000" anchor="ctr">
            <a:spAutoFit/>
          </a:bodyPr>
          <a:lstStyle/>
          <a:p>
            <a:r>
              <a:rPr sz="2000" b="1" i="0">
                <a:solidFill>
                  <a:srgbClr val="1F4E3D"/>
                </a:solidFill>
              </a:rPr>
              <a:t>Hóa chất &amp; bột màu</a:t>
            </a:r>
          </a:p>
          <a:p>
            <a:r>
              <a:rPr sz="2000" b="1" i="0">
                <a:solidFill>
                  <a:srgbClr val="C88A2E"/>
                </a:solidFill>
              </a:rPr>
              <a:t>Nguy cơ: </a:t>
            </a:r>
            <a:r>
              <a:rPr sz="2000" b="0" i="0">
                <a:solidFill>
                  <a:srgbClr val="34404A"/>
                </a:solidFill>
              </a:rPr>
              <a:t>tiếp xúc da/mắt, bụi bột vô cơ</a:t>
            </a:r>
          </a:p>
          <a:p>
            <a:r>
              <a:rPr sz="2000" b="1" i="0">
                <a:solidFill>
                  <a:srgbClr val="2C7A5A"/>
                </a:solidFill>
              </a:rPr>
              <a:t>Biện pháp: </a:t>
            </a:r>
            <a:r>
              <a:rPr sz="2000" b="0" i="0">
                <a:solidFill>
                  <a:srgbClr val="34404A"/>
                </a:solidFill>
              </a:rPr>
              <a:t>PPE đầy đủ, vòi rửa mắt, nhãn &amp; MSDS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4180000"/>
            <a:ext cx="11090000" cy="2120000"/>
          </a:xfrm>
          <a:prstGeom prst="roundRect">
            <a:avLst/>
          </a:prstGeom>
          <a:solidFill>
            <a:srgbClr val="EE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820000" y="4765000"/>
            <a:ext cx="950000" cy="950000"/>
          </a:xfrm>
          <a:prstGeom prst="ellipse">
            <a:avLst/>
          </a:prstGeom>
          <a:solidFill>
            <a:srgbClr val="C8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gear_proc_w.png"/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ns4:svgBlip xmlns:ns4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1010000" y="4955000"/>
            <a:ext cx="570000" cy="570000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1900000" y="4290000"/>
            <a:ext cx="9590000" cy="1900000"/>
          </a:xfrm>
          <a:prstGeom prst="rect">
            <a:avLst/>
          </a:prstGeom>
          <a:noFill/>
        </p:spPr>
        <p:txBody>
          <a:bodyPr wrap="square" lIns="50000" rIns="50000" tIns="20000" bIns="20000" anchor="ctr">
            <a:spAutoFit/>
          </a:bodyPr>
          <a:lstStyle/>
          <a:p>
            <a:r>
              <a:rPr sz="2000" b="1" i="0">
                <a:solidFill>
                  <a:srgbClr val="1F4E3D"/>
                </a:solidFill>
              </a:rPr>
              <a:t>Cơ khí — máy khuấy / nghiền</a:t>
            </a:r>
          </a:p>
          <a:p>
            <a:r>
              <a:rPr sz="2000" b="1" i="0">
                <a:solidFill>
                  <a:srgbClr val="C88A2E"/>
                </a:solidFill>
              </a:rPr>
              <a:t>Nguy cơ: </a:t>
            </a:r>
            <a:r>
              <a:rPr sz="2000" b="0" i="0">
                <a:solidFill>
                  <a:srgbClr val="34404A"/>
                </a:solidFill>
              </a:rPr>
              <a:t>cuốn kẹt, văng bắn tốc độ cao</a:t>
            </a:r>
          </a:p>
          <a:p>
            <a:r>
              <a:rPr sz="2000" b="1" i="0">
                <a:solidFill>
                  <a:srgbClr val="2C7A5A"/>
                </a:solidFill>
              </a:rPr>
              <a:t>Biện pháp: </a:t>
            </a:r>
            <a:r>
              <a:rPr sz="2000" b="0" i="0">
                <a:solidFill>
                  <a:srgbClr val="34404A"/>
                </a:solidFill>
              </a:rPr>
              <a:t>che chắn, nút dừng khẩn, quy trình LOTO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hex_pale.png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0:svgBlip xmlns:ns0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0600000" y="-260000"/>
            <a:ext cx="2100000" cy="2100000"/>
          </a:xfrm>
          <a:prstGeom prst="rect">
            <a:avLst/>
          </a:prstGeom>
        </p:spPr>
      </p:pic>
      <p:pic>
        <p:nvPicPr>
          <p:cNvPr id="4" name="Picture 3" descr="swash_pale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ns1:svgBlip xmlns:ns1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9550000" y="5150000"/>
            <a:ext cx="2500000" cy="1300000"/>
          </a:xfrm>
          <a:prstGeom prst="rect">
            <a:avLst/>
          </a:prstGeom>
        </p:spPr>
      </p:pic>
      <p:sp>
        <p:nvSpPr>
          <p:cNvPr id="5" name="Oval 4"/>
          <p:cNvSpPr/>
          <p:nvPr/>
        </p:nvSpPr>
        <p:spPr>
          <a:xfrm>
            <a:off x="548640" y="470000"/>
            <a:ext cx="720000" cy="720000"/>
          </a:xfrm>
          <a:prstGeom prst="ellipse">
            <a:avLst/>
          </a:prstGeom>
          <a:solidFill>
            <a:srgbClr val="1F4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600" b="1" i="0">
                <a:solidFill>
                  <a:srgbClr val="FFFFFF"/>
                </a:solidFill>
              </a:rPr>
              <a:t>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30000" y="430000"/>
            <a:ext cx="9000000" cy="38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2000" b="1" i="0">
                <a:solidFill>
                  <a:srgbClr val="C88A2E"/>
                </a:solidFill>
              </a:rPr>
              <a:t>6. VẤN ĐỀ MÔI TRƯỜNG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30000" y="850000"/>
            <a:ext cx="9800000" cy="78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3300" b="1" i="0">
                <a:solidFill>
                  <a:srgbClr val="1F4E3D"/>
                </a:solidFill>
              </a:rPr>
              <a:t>Kiểm soát chất thải</a:t>
            </a:r>
          </a:p>
        </p:txBody>
      </p:sp>
      <p:pic>
        <p:nvPicPr>
          <p:cNvPr id="8" name="Picture 7" descr="brush_amber.png"/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ns2:svgBlip xmlns:ns2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1430000" y="1500000"/>
            <a:ext cx="1200000" cy="22500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548640" y="6430000"/>
            <a:ext cx="11090000" cy="9000"/>
          </a:xfrm>
          <a:prstGeom prst="rect">
            <a:avLst/>
          </a:prstGeom>
          <a:solidFill>
            <a:srgbClr val="DCE7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6485000"/>
            <a:ext cx="8200000" cy="30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1100" b="0" i="0">
                <a:solidFill>
                  <a:srgbClr val="6E7F77"/>
                </a:solidFill>
              </a:rPr>
              <a:t>Báo cáo thực tập  ·  Công ty TNHH Sơn Hải Vân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250000" y="6485000"/>
            <a:ext cx="700000" cy="30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pPr algn="r"/>
            <a:r>
              <a:rPr sz="1200" b="1" i="0">
                <a:solidFill>
                  <a:srgbClr val="6E7F77"/>
                </a:solidFill>
              </a:rPr>
              <a:t>35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14640" y="2138808"/>
            <a:ext cx="4418000" cy="3852383"/>
          </a:xfrm>
          <a:prstGeom prst="rect">
            <a:avLst/>
          </a:prstGeom>
          <a:solidFill>
            <a:srgbClr val="1F4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waste_c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48640" y="2172808"/>
            <a:ext cx="4350000" cy="3784383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514640" y="6007191"/>
            <a:ext cx="4418000" cy="30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pPr algn="ctr"/>
            <a:r>
              <a:rPr sz="1500" b="0" i="1">
                <a:solidFill>
                  <a:srgbClr val="5B6E66"/>
                </a:solidFill>
              </a:rPr>
              <a:t>Hệ thống xử lý nước thải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218640" y="1830000"/>
            <a:ext cx="6420000" cy="1336666"/>
          </a:xfrm>
          <a:prstGeom prst="roundRect">
            <a:avLst/>
          </a:prstGeom>
          <a:solidFill>
            <a:srgbClr val="EE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5218640" y="1830000"/>
            <a:ext cx="80000" cy="1336666"/>
          </a:xfrm>
          <a:prstGeom prst="roundRect">
            <a:avLst/>
          </a:prstGeom>
          <a:solidFill>
            <a:srgbClr val="2C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5498640" y="2188333"/>
            <a:ext cx="620000" cy="620000"/>
          </a:xfrm>
          <a:prstGeom prst="ellipse">
            <a:avLst/>
          </a:prstGeom>
          <a:solidFill>
            <a:srgbClr val="1F4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smoke_air_w.png"/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ns3:svgBlip xmlns:ns3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5622640" y="2312333"/>
            <a:ext cx="372000" cy="372000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6438640" y="1830000"/>
            <a:ext cx="4900000" cy="1336666"/>
          </a:xfrm>
          <a:prstGeom prst="rect">
            <a:avLst/>
          </a:prstGeom>
          <a:noFill/>
        </p:spPr>
        <p:txBody>
          <a:bodyPr wrap="square" lIns="50000" rIns="50000" tIns="20000" bIns="20000" anchor="ctr">
            <a:spAutoFit/>
          </a:bodyPr>
          <a:lstStyle/>
          <a:p>
            <a:r>
              <a:rPr sz="2000" b="1" i="0">
                <a:solidFill>
                  <a:srgbClr val="1F4E3D"/>
                </a:solidFill>
              </a:rPr>
              <a:t>Khí thải — hơi VOC</a:t>
            </a:r>
          </a:p>
          <a:p>
            <a:r>
              <a:rPr sz="2000" b="0" i="0">
                <a:solidFill>
                  <a:srgbClr val="34404A"/>
                </a:solidFill>
              </a:rPr>
              <a:t>Chụp hút → than hoạt tính / buồng đốt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218640" y="3396666"/>
            <a:ext cx="6420000" cy="1336666"/>
          </a:xfrm>
          <a:prstGeom prst="roundRect">
            <a:avLst/>
          </a:prstGeom>
          <a:solidFill>
            <a:srgbClr val="EE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5218640" y="3396666"/>
            <a:ext cx="80000" cy="1336666"/>
          </a:xfrm>
          <a:prstGeom prst="roundRect">
            <a:avLst/>
          </a:prstGeom>
          <a:solidFill>
            <a:srgbClr val="2C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5498640" y="3754999"/>
            <a:ext cx="620000" cy="620000"/>
          </a:xfrm>
          <a:prstGeom prst="ellipse">
            <a:avLst/>
          </a:prstGeom>
          <a:solidFill>
            <a:srgbClr val="1F4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3" name="Picture 22" descr="water_waste_w.png"/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ns4:svgBlip xmlns:ns4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5622640" y="3878999"/>
            <a:ext cx="372000" cy="372000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6438640" y="3396666"/>
            <a:ext cx="4900000" cy="1336666"/>
          </a:xfrm>
          <a:prstGeom prst="rect">
            <a:avLst/>
          </a:prstGeom>
          <a:noFill/>
        </p:spPr>
        <p:txBody>
          <a:bodyPr wrap="square" lIns="50000" rIns="50000" tIns="20000" bIns="20000" anchor="ctr">
            <a:spAutoFit/>
          </a:bodyPr>
          <a:lstStyle/>
          <a:p>
            <a:r>
              <a:rPr sz="2000" b="1" i="0">
                <a:solidFill>
                  <a:srgbClr val="1F4E3D"/>
                </a:solidFill>
              </a:rPr>
              <a:t>Nước thải &amp; dung môi</a:t>
            </a:r>
          </a:p>
          <a:p>
            <a:r>
              <a:rPr sz="2000" b="0" i="0">
                <a:solidFill>
                  <a:srgbClr val="34404A"/>
                </a:solidFill>
              </a:rPr>
              <a:t>Lắng tách cặn, thu hồi dung môi tái chưng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218640" y="4963332"/>
            <a:ext cx="6420000" cy="1336666"/>
          </a:xfrm>
          <a:prstGeom prst="roundRect">
            <a:avLst/>
          </a:prstGeom>
          <a:solidFill>
            <a:srgbClr val="EE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5218640" y="4963332"/>
            <a:ext cx="80000" cy="1336666"/>
          </a:xfrm>
          <a:prstGeom prst="roundRect">
            <a:avLst/>
          </a:prstGeom>
          <a:solidFill>
            <a:srgbClr val="2C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5498640" y="5321665"/>
            <a:ext cx="620000" cy="620000"/>
          </a:xfrm>
          <a:prstGeom prst="ellipse">
            <a:avLst/>
          </a:prstGeom>
          <a:solidFill>
            <a:srgbClr val="1F4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8" name="Picture 27" descr="solid_waste_w.png"/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ns5:svgBlip xmlns:ns5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5622640" y="5445665"/>
            <a:ext cx="372000" cy="372000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6438640" y="4963332"/>
            <a:ext cx="4900000" cy="1336666"/>
          </a:xfrm>
          <a:prstGeom prst="rect">
            <a:avLst/>
          </a:prstGeom>
          <a:noFill/>
        </p:spPr>
        <p:txBody>
          <a:bodyPr wrap="square" lIns="50000" rIns="50000" tIns="20000" bIns="20000" anchor="ctr">
            <a:spAutoFit/>
          </a:bodyPr>
          <a:lstStyle/>
          <a:p>
            <a:r>
              <a:rPr sz="2000" b="1" i="0">
                <a:solidFill>
                  <a:srgbClr val="1F4E3D"/>
                </a:solidFill>
              </a:rPr>
              <a:t>Chất thải rắn</a:t>
            </a:r>
          </a:p>
          <a:p>
            <a:r>
              <a:rPr sz="2000" b="0" i="0">
                <a:solidFill>
                  <a:srgbClr val="34404A"/>
                </a:solidFill>
              </a:rPr>
              <a:t>Phân loại tại nguồn, đơn vị xử lý nguy hại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hex_pale.png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0:svgBlip xmlns:ns0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0600000" y="-260000"/>
            <a:ext cx="2100000" cy="2100000"/>
          </a:xfrm>
          <a:prstGeom prst="rect">
            <a:avLst/>
          </a:prstGeom>
        </p:spPr>
      </p:pic>
      <p:pic>
        <p:nvPicPr>
          <p:cNvPr id="4" name="Picture 3" descr="swash_pale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ns1:svgBlip xmlns:ns1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9550000" y="5150000"/>
            <a:ext cx="2500000" cy="1300000"/>
          </a:xfrm>
          <a:prstGeom prst="rect">
            <a:avLst/>
          </a:prstGeom>
        </p:spPr>
      </p:pic>
      <p:sp>
        <p:nvSpPr>
          <p:cNvPr id="5" name="Oval 4"/>
          <p:cNvSpPr/>
          <p:nvPr/>
        </p:nvSpPr>
        <p:spPr>
          <a:xfrm>
            <a:off x="548640" y="470000"/>
            <a:ext cx="720000" cy="720000"/>
          </a:xfrm>
          <a:prstGeom prst="ellipse">
            <a:avLst/>
          </a:prstGeom>
          <a:solidFill>
            <a:srgbClr val="1F4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600" b="1" i="0">
                <a:solidFill>
                  <a:srgbClr val="FFFFFF"/>
                </a:solidFill>
              </a:rPr>
              <a:t>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30000" y="430000"/>
            <a:ext cx="9000000" cy="38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2000" b="1" i="0">
                <a:solidFill>
                  <a:srgbClr val="C88A2E"/>
                </a:solidFill>
              </a:rPr>
              <a:t>KẾT LUẬN &amp; KIẾN NGHỊ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30000" y="850000"/>
            <a:ext cx="9800000" cy="78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3300" b="1" i="0">
                <a:solidFill>
                  <a:srgbClr val="1F4E3D"/>
                </a:solidFill>
              </a:rPr>
              <a:t>Tổng kết đợt thực tập</a:t>
            </a:r>
          </a:p>
        </p:txBody>
      </p:sp>
      <p:pic>
        <p:nvPicPr>
          <p:cNvPr id="8" name="Picture 7" descr="brush_amber.png"/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ns2:svgBlip xmlns:ns2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430000" y="1500000"/>
            <a:ext cx="1200000" cy="22500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548640" y="6430000"/>
            <a:ext cx="11090000" cy="9000"/>
          </a:xfrm>
          <a:prstGeom prst="rect">
            <a:avLst/>
          </a:prstGeom>
          <a:solidFill>
            <a:srgbClr val="DCE7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6485000"/>
            <a:ext cx="8200000" cy="30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1100" b="0" i="0">
                <a:solidFill>
                  <a:srgbClr val="6E7F77"/>
                </a:solidFill>
              </a:rPr>
              <a:t>Báo cáo thực tập  ·  Công ty TNHH Sơn Hải Vân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250000" y="6485000"/>
            <a:ext cx="700000" cy="30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pPr algn="r"/>
            <a:r>
              <a:rPr sz="1200" b="1" i="0">
                <a:solidFill>
                  <a:srgbClr val="6E7F77"/>
                </a:solidFill>
              </a:rPr>
              <a:t>36</a:t>
            </a:r>
          </a:p>
        </p:txBody>
      </p:sp>
      <p:sp>
        <p:nvSpPr>
          <p:cNvPr id="12" name="Oval 11"/>
          <p:cNvSpPr/>
          <p:nvPr/>
        </p:nvSpPr>
        <p:spPr>
          <a:xfrm>
            <a:off x="640000" y="2426600"/>
            <a:ext cx="716800" cy="716800"/>
          </a:xfrm>
          <a:prstGeom prst="ellipse">
            <a:avLst/>
          </a:prstGeom>
          <a:solidFill>
            <a:srgbClr val="1F4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grad_check_w.png"/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ns3:svgBlip xmlns:ns3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783360" y="2569960"/>
            <a:ext cx="430080" cy="43008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1736800" y="2145000"/>
            <a:ext cx="9800000" cy="1280000"/>
          </a:xfrm>
          <a:prstGeom prst="rect">
            <a:avLst/>
          </a:prstGeom>
          <a:noFill/>
        </p:spPr>
        <p:txBody>
          <a:bodyPr wrap="square" lIns="50000" rIns="50000" tIns="20000" bIns="20000" anchor="ctr">
            <a:spAutoFit/>
          </a:bodyPr>
          <a:lstStyle/>
          <a:p>
            <a:r>
              <a:rPr sz="2075" b="1" i="0">
                <a:solidFill>
                  <a:srgbClr val="1F4E3D"/>
                </a:solidFill>
              </a:rPr>
              <a:t>Kết quả đạt được</a:t>
            </a:r>
          </a:p>
          <a:p>
            <a:r>
              <a:rPr sz="2000" b="0" i="0">
                <a:solidFill>
                  <a:srgbClr val="34404A"/>
                </a:solidFill>
              </a:rPr>
              <a:t>Nắm quy trình sản xuất, hệ QC &amp; vận hành thiết bị</a:t>
            </a:r>
          </a:p>
        </p:txBody>
      </p:sp>
      <p:sp>
        <p:nvSpPr>
          <p:cNvPr id="15" name="Oval 14"/>
          <p:cNvSpPr/>
          <p:nvPr/>
        </p:nvSpPr>
        <p:spPr>
          <a:xfrm>
            <a:off x="640000" y="3706600"/>
            <a:ext cx="716800" cy="716800"/>
          </a:xfrm>
          <a:prstGeom prst="ellipse">
            <a:avLst/>
          </a:prstGeom>
          <a:solidFill>
            <a:srgbClr val="1F4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Picture 15" descr="palette_w.png"/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ns4:svgBlip xmlns:ns4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783360" y="3849960"/>
            <a:ext cx="430080" cy="430080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1736800" y="3425000"/>
            <a:ext cx="9800000" cy="1280000"/>
          </a:xfrm>
          <a:prstGeom prst="rect">
            <a:avLst/>
          </a:prstGeom>
          <a:noFill/>
        </p:spPr>
        <p:txBody>
          <a:bodyPr wrap="square" lIns="50000" rIns="50000" tIns="20000" bIns="20000" anchor="ctr">
            <a:spAutoFit/>
          </a:bodyPr>
          <a:lstStyle/>
          <a:p>
            <a:r>
              <a:rPr sz="2075" b="1" i="0">
                <a:solidFill>
                  <a:srgbClr val="1F4E3D"/>
                </a:solidFill>
              </a:rPr>
              <a:t>Kiến nghị 1 — Số hóa màu sắc</a:t>
            </a:r>
          </a:p>
          <a:p>
            <a:r>
              <a:rPr sz="2000" b="0" i="0">
                <a:solidFill>
                  <a:srgbClr val="34404A"/>
                </a:solidFill>
              </a:rPr>
              <a:t>Thư viện màu chuẩn điện tử, giảm sai lệch mẻ</a:t>
            </a:r>
          </a:p>
        </p:txBody>
      </p:sp>
      <p:sp>
        <p:nvSpPr>
          <p:cNvPr id="18" name="Oval 17"/>
          <p:cNvSpPr/>
          <p:nvPr/>
        </p:nvSpPr>
        <p:spPr>
          <a:xfrm>
            <a:off x="640000" y="4986600"/>
            <a:ext cx="716800" cy="716800"/>
          </a:xfrm>
          <a:prstGeom prst="ellipse">
            <a:avLst/>
          </a:prstGeom>
          <a:solidFill>
            <a:srgbClr val="1F4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qr_code_w.png"/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ns5:svgBlip xmlns:ns5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783360" y="5129960"/>
            <a:ext cx="430080" cy="43008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1736800" y="4705000"/>
            <a:ext cx="9800000" cy="1280000"/>
          </a:xfrm>
          <a:prstGeom prst="rect">
            <a:avLst/>
          </a:prstGeom>
          <a:noFill/>
        </p:spPr>
        <p:txBody>
          <a:bodyPr wrap="square" lIns="50000" rIns="50000" tIns="20000" bIns="20000" anchor="ctr">
            <a:spAutoFit/>
          </a:bodyPr>
          <a:lstStyle/>
          <a:p>
            <a:r>
              <a:rPr sz="2075" b="1" i="0">
                <a:solidFill>
                  <a:srgbClr val="1F4E3D"/>
                </a:solidFill>
              </a:rPr>
              <a:t>Kiến nghị 2 — Truy xuất nguồn gốc</a:t>
            </a:r>
          </a:p>
          <a:p>
            <a:r>
              <a:rPr sz="2000" b="0" i="0">
                <a:solidFill>
                  <a:srgbClr val="34404A"/>
                </a:solidFill>
              </a:rPr>
              <a:t>QR / Barcode từng mẻ, liên kết dữ liệu đo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4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divbg.png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0:svgBlip xmlns:ns0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6485000"/>
            <a:ext cx="8200000" cy="30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1100" b="0" i="0">
                <a:solidFill>
                  <a:srgbClr val="9DB3AA"/>
                </a:solidFill>
              </a:rPr>
              <a:t>Báo cáo thực tập  ·  Công ty TNHH Sơn Hải Vân</a:t>
            </a:r>
          </a:p>
        </p:txBody>
      </p:sp>
      <p:pic>
        <p:nvPicPr>
          <p:cNvPr id="5" name="Picture 4" descr="deco_mol_white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ns1:svgBlip xmlns:ns1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450000" y="560000"/>
            <a:ext cx="2400000" cy="2400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900000" y="2650000"/>
            <a:ext cx="10400000" cy="100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4000" b="1" i="0">
                <a:solidFill>
                  <a:srgbClr val="FFFFFF"/>
                </a:solidFill>
              </a:rPr>
              <a:t>Xin chân thành cảm ơn!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00000" y="3750000"/>
            <a:ext cx="10400000" cy="70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2400" b="0" i="0">
                <a:solidFill>
                  <a:srgbClr val="CFE2D8"/>
                </a:solidFill>
              </a:rPr>
              <a:t>Cảm ơn quý thầy cô và Công ty TNHH Sơn Hải Vân đã hướng dẫn.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