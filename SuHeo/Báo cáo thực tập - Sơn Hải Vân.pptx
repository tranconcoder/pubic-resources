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c_company_w.svg"/><Relationship Id="rId10" Type="http://schemas.openxmlformats.org/officeDocument/2006/relationships/image" Target="../media/ic_deco_mol_pale.svg"/><Relationship Id="rId11" Type="http://schemas.openxmlformats.org/officeDocument/2006/relationships/image" Target="../media/ic_gear_proc_w.svg"/><Relationship Id="rId12" Type="http://schemas.openxmlformats.org/officeDocument/2006/relationships/image" Target="../media/ic_materials_w.svg"/><Relationship Id="rId13" Type="http://schemas.openxmlformats.org/officeDocument/2006/relationships/image" Target="../media/ic_quality_check_w.svg"/><Relationship Id="rId14" Type="http://schemas.openxmlformats.org/officeDocument/2006/relationships/image" Target="../media/ic_safety_shield_w.svg"/><Relationship Id="rId15" Type="http://schemas.openxmlformats.org/officeDocument/2006/relationships/image" Target="../media/ic_warning_tri_w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c_deco_mol_pale.svg"/><Relationship Id="rId7" Type="http://schemas.openxmlformats.org/officeDocument/2006/relationships/image" Target="../media/ic_factory_w.svg"/><Relationship Id="rId8" Type="http://schemas.openxmlformats.org/officeDocument/2006/relationships/image" Target="../media/ic_history_clock_w.svg"/><Relationship Id="rId9" Type="http://schemas.openxmlformats.org/officeDocument/2006/relationships/image" Target="../media/ic_target_w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c_big_timeline.svg"/><Relationship Id="rId5" Type="http://schemas.openxmlformats.org/officeDocument/2006/relationships/image" Target="../media/ic_deco_mol_pale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c_company_w.svg"/><Relationship Id="rId8" Type="http://schemas.openxmlformats.org/officeDocument/2006/relationships/image" Target="../media/ic_deco_mol_pale.svg"/><Relationship Id="rId9" Type="http://schemas.openxmlformats.org/officeDocument/2006/relationships/image" Target="../media/ic_factory_w.svg"/><Relationship Id="rId10" Type="http://schemas.openxmlformats.org/officeDocument/2006/relationships/image" Target="../media/ic_materials_w.svg"/><Relationship Id="rId11" Type="http://schemas.openxmlformats.org/officeDocument/2006/relationships/image" Target="../media/ic_target_w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c_additive_w.svg"/><Relationship Id="rId8" Type="http://schemas.openxmlformats.org/officeDocument/2006/relationships/image" Target="../media/ic_deco_mol_pale.svg"/><Relationship Id="rId9" Type="http://schemas.openxmlformats.org/officeDocument/2006/relationships/image" Target="../media/ic_pigment_w.svg"/><Relationship Id="rId10" Type="http://schemas.openxmlformats.org/officeDocument/2006/relationships/image" Target="../media/ic_resin_w.svg"/><Relationship Id="rId11" Type="http://schemas.openxmlformats.org/officeDocument/2006/relationships/image" Target="../media/ic_solvent_w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c_big_doughnut.svg"/><Relationship Id="rId5" Type="http://schemas.openxmlformats.org/officeDocument/2006/relationships/image" Target="../media/ic_deco_mol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c_chart8_beo.svg"/><Relationship Id="rId7" Type="http://schemas.openxmlformats.org/officeDocument/2006/relationships/image" Target="../media/ic_chart8_gay.svg"/><Relationship Id="rId8" Type="http://schemas.openxmlformats.org/officeDocument/2006/relationships/image" Target="../media/ic_chart8_trung.svg"/><Relationship Id="rId9" Type="http://schemas.openxmlformats.org/officeDocument/2006/relationships/image" Target="../media/ic_deco_mol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c_deco_mol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c_danh_paste_w.svg"/><Relationship Id="rId10" Type="http://schemas.openxmlformats.org/officeDocument/2006/relationships/image" Target="../media/ic_deco_mol_pale.svg"/><Relationship Id="rId11" Type="http://schemas.openxmlformats.org/officeDocument/2006/relationships/image" Target="../media/ic_dinh_luong_w.svg"/><Relationship Id="rId12" Type="http://schemas.openxmlformats.org/officeDocument/2006/relationships/image" Target="../media/ic_loc_donggoi_w.svg"/><Relationship Id="rId13" Type="http://schemas.openxmlformats.org/officeDocument/2006/relationships/image" Target="../media/ic_ngam_u_w.svg"/><Relationship Id="rId14" Type="http://schemas.openxmlformats.org/officeDocument/2006/relationships/image" Target="../media/ic_nghien_min_w.svg"/><Relationship Id="rId15" Type="http://schemas.openxmlformats.org/officeDocument/2006/relationships/image" Target="../media/ic_pha_loang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Relationship Id="rId4" Type="http://schemas.openxmlformats.org/officeDocument/2006/relationships/image" Target="../media/ic_big_columns.svg"/><Relationship Id="rId5" Type="http://schemas.openxmlformats.org/officeDocument/2006/relationships/image" Target="../media/ic_deco_mol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c_danh_paste_w.svg"/><Relationship Id="rId7" Type="http://schemas.openxmlformats.org/officeDocument/2006/relationships/image" Target="../media/ic_deco_mol_pale.svg"/><Relationship Id="rId8" Type="http://schemas.openxmlformats.org/officeDocument/2006/relationships/image" Target="../media/ic_dinh_luong_w.svg"/><Relationship Id="rId9" Type="http://schemas.openxmlformats.org/officeDocument/2006/relationships/image" Target="../media/ic_nghien_min_w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c_deco_mol_pale.svg"/><Relationship Id="rId7" Type="http://schemas.openxmlformats.org/officeDocument/2006/relationships/image" Target="../media/ic_loc_donggoi_w.svg"/><Relationship Id="rId8" Type="http://schemas.openxmlformats.org/officeDocument/2006/relationships/image" Target="../media/ic_ngam_u_w.svg"/><Relationship Id="rId9" Type="http://schemas.openxmlformats.org/officeDocument/2006/relationships/image" Target="../media/ic_pha_loang_w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jpg"/><Relationship Id="rId4" Type="http://schemas.openxmlformats.org/officeDocument/2006/relationships/image" Target="../media/ic_deco_mol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jpg"/><Relationship Id="rId4" Type="http://schemas.openxmlformats.org/officeDocument/2006/relationships/image" Target="../media/ic_deco_mol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1.jpg"/><Relationship Id="rId4" Type="http://schemas.openxmlformats.org/officeDocument/2006/relationships/image" Target="../media/ic_deco_mol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2.png"/><Relationship Id="rId4" Type="http://schemas.openxmlformats.org/officeDocument/2006/relationships/image" Target="../media/ic_deco_mol_pale.svg"/><Relationship Id="rId5" Type="http://schemas.openxmlformats.org/officeDocument/2006/relationships/image" Target="../media/ic_stopwatch_w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3.png"/><Relationship Id="rId4" Type="http://schemas.openxmlformats.org/officeDocument/2006/relationships/image" Target="../media/ic_deco_mol_pale.svg"/><Relationship Id="rId5" Type="http://schemas.openxmlformats.org/officeDocument/2006/relationships/image" Target="../media/ic_microscope_w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4.png"/><Relationship Id="rId4" Type="http://schemas.openxmlformats.org/officeDocument/2006/relationships/image" Target="../media/ic_big_radar.svg"/><Relationship Id="rId5" Type="http://schemas.openxmlformats.org/officeDocument/2006/relationships/image" Target="../media/ic_deco_mol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c_adhesion_w.svg"/><Relationship Id="rId7" Type="http://schemas.openxmlformats.org/officeDocument/2006/relationships/image" Target="../media/ic_deco_mol_pale.svg"/><Relationship Id="rId8" Type="http://schemas.openxmlformats.org/officeDocument/2006/relationships/image" Target="../media/ic_salt_spray_w.svg"/><Relationship Id="rId9" Type="http://schemas.openxmlformats.org/officeDocument/2006/relationships/image" Target="../media/ic_sun_uv_w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7.png"/><Relationship Id="rId5" Type="http://schemas.openxmlformats.org/officeDocument/2006/relationships/image" Target="../media/image33.png"/><Relationship Id="rId6" Type="http://schemas.openxmlformats.org/officeDocument/2006/relationships/image" Target="../media/ic_adhesion_w.svg"/><Relationship Id="rId7" Type="http://schemas.openxmlformats.org/officeDocument/2006/relationships/image" Target="../media/ic_deco_mol_pale.svg"/><Relationship Id="rId8" Type="http://schemas.openxmlformats.org/officeDocument/2006/relationships/image" Target="../media/ic_microscope_w.svg"/><Relationship Id="rId9" Type="http://schemas.openxmlformats.org/officeDocument/2006/relationships/image" Target="../media/ic_quality_check_w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c_deco_mol_pale.svg"/><Relationship Id="rId5" Type="http://schemas.openxmlformats.org/officeDocument/2006/relationships/image" Target="../media/ic_warning_tri_w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c_deco_mol_pale.svg"/><Relationship Id="rId5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6.png"/><Relationship Id="rId6" Type="http://schemas.openxmlformats.org/officeDocument/2006/relationships/image" Target="../media/ic_deco_mol_pale.svg"/><Relationship Id="rId7" Type="http://schemas.openxmlformats.org/officeDocument/2006/relationships/image" Target="../media/ic_gear_proc_w.svg"/><Relationship Id="rId8" Type="http://schemas.openxmlformats.org/officeDocument/2006/relationships/image" Target="../media/ic_solvent_w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c_deco_mol_pale.svg"/><Relationship Id="rId6" Type="http://schemas.openxmlformats.org/officeDocument/2006/relationships/image" Target="../media/ic_flame_w.svg"/><Relationship Id="rId7" Type="http://schemas.openxmlformats.org/officeDocument/2006/relationships/image" Target="../media/ic_gasmask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0.png"/><Relationship Id="rId4" Type="http://schemas.openxmlformats.org/officeDocument/2006/relationships/image" Target="../media/image6.png"/><Relationship Id="rId5" Type="http://schemas.openxmlformats.org/officeDocument/2006/relationships/image" Target="../media/ic_chemical_glove_w.svg"/><Relationship Id="rId6" Type="http://schemas.openxmlformats.org/officeDocument/2006/relationships/image" Target="../media/ic_deco_mol_pale.svg"/><Relationship Id="rId7" Type="http://schemas.openxmlformats.org/officeDocument/2006/relationships/image" Target="../media/ic_gear_proc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c_deco_mol_pale.svg"/><Relationship Id="rId7" Type="http://schemas.openxmlformats.org/officeDocument/2006/relationships/image" Target="../media/ic_smoke_air_w.svg"/><Relationship Id="rId8" Type="http://schemas.openxmlformats.org/officeDocument/2006/relationships/image" Target="../media/ic_solid_waste_w.svg"/><Relationship Id="rId9" Type="http://schemas.openxmlformats.org/officeDocument/2006/relationships/image" Target="../media/ic_water_waste_w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c_deco_mol_pale.svg"/><Relationship Id="rId7" Type="http://schemas.openxmlformats.org/officeDocument/2006/relationships/image" Target="../media/ic_grad_check_w.svg"/><Relationship Id="rId8" Type="http://schemas.openxmlformats.org/officeDocument/2006/relationships/image" Target="../media/ic_palette_w.svg"/><Relationship Id="rId9" Type="http://schemas.openxmlformats.org/officeDocument/2006/relationships/image" Target="../media/ic_qr_code_w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c_deco_drip_white.svg"/><Relationship Id="rId5" Type="http://schemas.openxmlformats.org/officeDocument/2006/relationships/image" Target="../media/ic_deco_mol_white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5550000"/>
            <a:ext cx="720000" cy="96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660000" y="1964100"/>
            <a:ext cx="476800" cy="4768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55360" y="2059460"/>
            <a:ext cx="286080" cy="28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96800" y="183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Tổng quan về công ty</a:t>
            </a:r>
          </a:p>
        </p:txBody>
      </p:sp>
      <p:sp>
        <p:nvSpPr>
          <p:cNvPr id="13" name="Oval 12"/>
          <p:cNvSpPr/>
          <p:nvPr/>
        </p:nvSpPr>
        <p:spPr>
          <a:xfrm>
            <a:off x="660000" y="2709100"/>
            <a:ext cx="476800" cy="4768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terials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5360" y="2804460"/>
            <a:ext cx="286080" cy="28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96800" y="257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Nguyên vật liệu</a:t>
            </a:r>
          </a:p>
        </p:txBody>
      </p:sp>
      <p:sp>
        <p:nvSpPr>
          <p:cNvPr id="16" name="Oval 15"/>
          <p:cNvSpPr/>
          <p:nvPr/>
        </p:nvSpPr>
        <p:spPr>
          <a:xfrm>
            <a:off x="660000" y="3454100"/>
            <a:ext cx="476800" cy="4768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360" y="3549460"/>
            <a:ext cx="286080" cy="286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96800" y="332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Quy trình công nghệ &amp; thiết bị</a:t>
            </a:r>
          </a:p>
        </p:txBody>
      </p:sp>
      <p:sp>
        <p:nvSpPr>
          <p:cNvPr id="19" name="Oval 18"/>
          <p:cNvSpPr/>
          <p:nvPr/>
        </p:nvSpPr>
        <p:spPr>
          <a:xfrm>
            <a:off x="660000" y="4199100"/>
            <a:ext cx="476800" cy="4768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5360" y="4294460"/>
            <a:ext cx="286080" cy="286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96800" y="406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Kiểm soát chất lượng (KCS)</a:t>
            </a:r>
          </a:p>
        </p:txBody>
      </p:sp>
      <p:sp>
        <p:nvSpPr>
          <p:cNvPr id="22" name="Oval 21"/>
          <p:cNvSpPr/>
          <p:nvPr/>
        </p:nvSpPr>
        <p:spPr>
          <a:xfrm>
            <a:off x="660000" y="4944100"/>
            <a:ext cx="476800" cy="4768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rning_tr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5360" y="5039460"/>
            <a:ext cx="286080" cy="286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96800" y="4810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Những sự cố thường gặp</a:t>
            </a:r>
          </a:p>
        </p:txBody>
      </p:sp>
      <p:sp>
        <p:nvSpPr>
          <p:cNvPr id="25" name="Oval 24"/>
          <p:cNvSpPr/>
          <p:nvPr/>
        </p:nvSpPr>
        <p:spPr>
          <a:xfrm>
            <a:off x="660000" y="5689100"/>
            <a:ext cx="476800" cy="4768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afety_shield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5360" y="5784460"/>
            <a:ext cx="286080" cy="286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96800" y="5555000"/>
            <a:ext cx="9700000" cy="745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0000" y="560000"/>
            <a:ext cx="2300000" cy="23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000" y="4650000"/>
            <a:ext cx="950000" cy="127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0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000" y="2450000"/>
            <a:ext cx="8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000" y="2980000"/>
            <a:ext cx="90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4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260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ctor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4400" y="2743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2000" y="238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Sản xuất sơn công nghiệp &amp; tàu biển</a:t>
            </a:r>
          </a:p>
          <a:p>
            <a:r>
              <a:rPr sz="2000" b="0" i="0">
                <a:solidFill>
                  <a:srgbClr val="34404A"/>
                </a:solidFill>
              </a:rPr>
              <a:t>Chuyên dụng bảo vệ chống ăn mòn, chống cháy</a:t>
            </a:r>
          </a:p>
        </p:txBody>
      </p:sp>
      <p:sp>
        <p:nvSpPr>
          <p:cNvPr id="13" name="Oval 12"/>
          <p:cNvSpPr/>
          <p:nvPr/>
        </p:nvSpPr>
        <p:spPr>
          <a:xfrm>
            <a:off x="640000" y="372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history_clock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400" y="3863400"/>
            <a:ext cx="403200" cy="40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2000" y="350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Thành lập 2008 · sản xuất từ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 Hồ Chí Minh</a:t>
            </a:r>
          </a:p>
        </p:txBody>
      </p:sp>
      <p:sp>
        <p:nvSpPr>
          <p:cNvPr id="16" name="Oval 15"/>
          <p:cNvSpPr/>
          <p:nvPr/>
        </p:nvSpPr>
        <p:spPr>
          <a:xfrm>
            <a:off x="640000" y="484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400" y="4983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2000" y="462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Doanh nghiệp vừa (SME) · mô hình B2B</a:t>
            </a:r>
          </a:p>
          <a:p>
            <a:r>
              <a:rPr sz="2000" b="0" i="0">
                <a:solidFill>
                  <a:srgbClr val="34404A"/>
                </a:solidFill>
              </a:rPr>
              <a:t>Một nhà máy sản xuất đặt tại Long 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pic>
        <p:nvPicPr>
          <p:cNvPr id="10" name="Picture 9" descr="big_timelin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sp>
        <p:nvSpPr>
          <p:cNvPr id="10" name="Oval 9"/>
          <p:cNvSpPr/>
          <p:nvPr/>
        </p:nvSpPr>
        <p:spPr>
          <a:xfrm>
            <a:off x="660000" y="2463400"/>
            <a:ext cx="563200" cy="56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2640" y="2576040"/>
            <a:ext cx="337920" cy="337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83200" y="2305000"/>
            <a:ext cx="9700000" cy="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3" name="Oval 12"/>
          <p:cNvSpPr/>
          <p:nvPr/>
        </p:nvSpPr>
        <p:spPr>
          <a:xfrm>
            <a:off x="660000" y="3343400"/>
            <a:ext cx="563200" cy="56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2640" y="3456040"/>
            <a:ext cx="337920" cy="337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83200" y="3185000"/>
            <a:ext cx="9700000" cy="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6" name="Oval 15"/>
          <p:cNvSpPr/>
          <p:nvPr/>
        </p:nvSpPr>
        <p:spPr>
          <a:xfrm>
            <a:off x="660000" y="4223400"/>
            <a:ext cx="563200" cy="56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mpan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2640" y="4336040"/>
            <a:ext cx="337920" cy="337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83200" y="4065000"/>
            <a:ext cx="9700000" cy="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19" name="Oval 18"/>
          <p:cNvSpPr/>
          <p:nvPr/>
        </p:nvSpPr>
        <p:spPr>
          <a:xfrm>
            <a:off x="660000" y="5103400"/>
            <a:ext cx="563200" cy="5632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terials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2640" y="5216040"/>
            <a:ext cx="337920" cy="337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83200" y="4945000"/>
            <a:ext cx="9700000" cy="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0000" y="560000"/>
            <a:ext cx="2300000" cy="23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000" y="4650000"/>
            <a:ext cx="950000" cy="127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0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000" y="2450000"/>
            <a:ext cx="8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000" y="2980000"/>
            <a:ext cx="90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8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2053500"/>
            <a:ext cx="670500" cy="6705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sin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4100" y="2187600"/>
            <a:ext cx="402300" cy="402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0500" y="1830000"/>
            <a:ext cx="9800000" cy="11175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Nhựa · 40–60%</a:t>
            </a:r>
          </a:p>
          <a:p>
            <a:r>
              <a:rPr sz="2000" b="0" i="0">
                <a:solidFill>
                  <a:srgbClr val="34404A"/>
                </a:solidFill>
              </a:rPr>
              <a:t>Khung màng, quyết định bám dính &amp; độ bền</a:t>
            </a:r>
          </a:p>
        </p:txBody>
      </p:sp>
      <p:sp>
        <p:nvSpPr>
          <p:cNvPr id="13" name="Oval 12"/>
          <p:cNvSpPr/>
          <p:nvPr/>
        </p:nvSpPr>
        <p:spPr>
          <a:xfrm>
            <a:off x="640000" y="3171000"/>
            <a:ext cx="670500" cy="6705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olvent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4100" y="3305100"/>
            <a:ext cx="402300" cy="402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0500" y="2947500"/>
            <a:ext cx="9800000" cy="11175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Dung môi · 20–40%</a:t>
            </a:r>
          </a:p>
          <a:p>
            <a:r>
              <a:rPr sz="2000" b="0" i="0">
                <a:solidFill>
                  <a:srgbClr val="34404A"/>
                </a:solidFill>
              </a:rPr>
              <a:t>Hòa tan, phân tán, điều chỉnh độ nhớt</a:t>
            </a:r>
          </a:p>
        </p:txBody>
      </p:sp>
      <p:sp>
        <p:nvSpPr>
          <p:cNvPr id="16" name="Oval 15"/>
          <p:cNvSpPr/>
          <p:nvPr/>
        </p:nvSpPr>
        <p:spPr>
          <a:xfrm>
            <a:off x="640000" y="4288500"/>
            <a:ext cx="670500" cy="6705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igmen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100" y="4422600"/>
            <a:ext cx="402300" cy="402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0500" y="4065000"/>
            <a:ext cx="9800000" cy="11175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Bột màu / độn · 15–35%</a:t>
            </a:r>
          </a:p>
          <a:p>
            <a:r>
              <a:rPr sz="2000" b="0" i="0">
                <a:solidFill>
                  <a:srgbClr val="34404A"/>
                </a:solidFill>
              </a:rPr>
              <a:t>Tạo màu, tối ưu thể tích &amp; cơ tính</a:t>
            </a:r>
          </a:p>
        </p:txBody>
      </p:sp>
      <p:sp>
        <p:nvSpPr>
          <p:cNvPr id="19" name="Oval 18"/>
          <p:cNvSpPr/>
          <p:nvPr/>
        </p:nvSpPr>
        <p:spPr>
          <a:xfrm>
            <a:off x="640000" y="5406000"/>
            <a:ext cx="670500" cy="6705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ditiv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4100" y="5540100"/>
            <a:ext cx="402300" cy="4023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0500" y="5182500"/>
            <a:ext cx="9800000" cy="11175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Phụ gia · ≤ 1%</a:t>
            </a:r>
          </a:p>
          <a:p>
            <a:r>
              <a:rPr sz="2000" b="0" i="0">
                <a:solidFill>
                  <a:srgbClr val="34404A"/>
                </a:solidFill>
              </a:rPr>
              <a:t>Tỉ lệ nhỏ nhưng nâng cao chất lượng màng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0" name="Picture 9" descr="big_doughnut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25847" y="1830000"/>
            <a:ext cx="7740000" cy="43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2" name="Picture 11" descr="chart8_gay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6" name="Picture 15" descr="chart8_trung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0" name="Picture 19" descr="chart8_beo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18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80000"/>
            <a:ext cx="1109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29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30000"/>
            <a:ext cx="1109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413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80000"/>
            <a:ext cx="1109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000" y="5280000"/>
            <a:ext cx="1030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0000" y="560000"/>
            <a:ext cx="2300000" cy="23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000" y="4650000"/>
            <a:ext cx="950000" cy="127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0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000" y="2450000"/>
            <a:ext cx="8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000" y="2980000"/>
            <a:ext cx="90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inh_luong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anh_p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nghien_mi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gam_u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ha_loang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oc_donggoi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pic>
        <p:nvPicPr>
          <p:cNvPr id="10" name="Picture 9" descr="big_columns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8640" y="206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inh_luong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0640" y="2172000"/>
            <a:ext cx="336000" cy="33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640" y="2660000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 ·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640" y="3626666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0640" y="3738666"/>
            <a:ext cx="336000" cy="33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640" y="4226666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 ·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8640" y="5193332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0640" y="5305332"/>
            <a:ext cx="336000" cy="33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98640" y="5793332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 ·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8640" y="206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gam_u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0640" y="2172000"/>
            <a:ext cx="336000" cy="33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640" y="2660000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 · 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640" y="3626666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a_loang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0640" y="3738666"/>
            <a:ext cx="336000" cy="33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640" y="4226666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 ·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8640" y="5193332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0640" y="5305332"/>
            <a:ext cx="336000" cy="33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98640" y="5793332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 ·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1" name="Picture 10" descr="mach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1" name="Picture 10" descr="mach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5" name="Oval 14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c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0000" y="560000"/>
            <a:ext cx="2300000" cy="23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000" y="4650000"/>
            <a:ext cx="950000" cy="127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0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000" y="2450000"/>
            <a:ext cx="8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000" y="2980000"/>
            <a:ext cx="90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0" name="Oval 9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topwatch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Theo dõi từng mẻ, cho qua công đoạn — dụng cụ đo nhanh cầm tay.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Tỷ trọng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Màu sắc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phủ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mịn (Hegman)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Thời gian khô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nhớt (Stormer)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22</a:t>
            </a:r>
          </a:p>
        </p:txBody>
      </p:sp>
      <p:sp>
        <p:nvSpPr>
          <p:cNvPr id="10" name="Oval 9"/>
          <p:cNvSpPr/>
          <p:nvPr/>
        </p:nvSpPr>
        <p:spPr>
          <a:xfrm>
            <a:off x="560000" y="1800000"/>
            <a:ext cx="1350000" cy="135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icroscop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0000" y="2070000"/>
            <a:ext cx="810000" cy="8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50000" y="1900000"/>
            <a:ext cx="9400000" cy="11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1">
                <a:solidFill>
                  <a:srgbClr val="34404A"/>
                </a:solidFill>
              </a:rPr>
              <a:t>Đánh giá độ bền dài hạn của màng sơn — cơ sở nghiệm thu.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bám dính (Pull-off)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000" y="35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Bền uốn · va đập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Độ bóng · hàm rắn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000" y="421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Phun sương muối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Lão hóa UV / QUV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000" y="4860000"/>
            <a:ext cx="5850000" cy="65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✔  </a:t>
            </a:r>
            <a:r>
              <a:rPr sz="2000" b="0" i="0">
                <a:solidFill>
                  <a:srgbClr val="14332A"/>
                </a:solidFill>
              </a:rPr>
              <a:t>Đối chiếu TCVN / ASTM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0" name="Picture 9" descr="big_radar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3347" y="1865000"/>
            <a:ext cx="41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8640" y="206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dhesion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0640" y="2172000"/>
            <a:ext cx="336000" cy="33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640" y="2660000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Độ bám dính (Pull-off)</a:t>
            </a:r>
          </a:p>
          <a:p>
            <a:r>
              <a:rPr sz="2000" b="0" i="0">
                <a:solidFill>
                  <a:srgbClr val="34404A"/>
                </a:solidFill>
              </a:rPr>
              <a:t>ISO 4624 / ASTM D4541 — đo bằng MPa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640" y="3626666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alt_spray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0640" y="3738666"/>
            <a:ext cx="336000" cy="33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640" y="4226666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Phun sương muối 1000 giờ</a:t>
            </a:r>
          </a:p>
          <a:p>
            <a:r>
              <a:rPr sz="2000" b="0" i="0">
                <a:solidFill>
                  <a:srgbClr val="34404A"/>
                </a:solidFill>
              </a:rPr>
              <a:t>NaCl 5% ở 35°C — mô phỏng khí hậu biển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8640" y="5193332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un_uv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0640" y="5305332"/>
            <a:ext cx="336000" cy="33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98640" y="5793332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Lão hóa nhanh QUV</a:t>
            </a:r>
          </a:p>
          <a:p>
            <a:r>
              <a:rPr sz="2000" b="0" i="0">
                <a:solidFill>
                  <a:srgbClr val="34404A"/>
                </a:solidFill>
              </a:rPr>
              <a:t>Chu trình UV-A / UV-B — phấn hóa, phai màu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260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hesion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4400" y="2743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2000" y="238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sơn (MPa)</a:t>
            </a:r>
          </a:p>
        </p:txBody>
      </p:sp>
      <p:sp>
        <p:nvSpPr>
          <p:cNvPr id="13" name="Oval 12"/>
          <p:cNvSpPr/>
          <p:nvPr/>
        </p:nvSpPr>
        <p:spPr>
          <a:xfrm>
            <a:off x="640000" y="372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uality_check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400" y="3863400"/>
            <a:ext cx="403200" cy="40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2000" y="350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Kiểm tra độ mịn hạt sau nghiền</a:t>
            </a:r>
          </a:p>
        </p:txBody>
      </p:sp>
      <p:sp>
        <p:nvSpPr>
          <p:cNvPr id="16" name="Oval 15"/>
          <p:cNvSpPr/>
          <p:nvPr/>
        </p:nvSpPr>
        <p:spPr>
          <a:xfrm>
            <a:off x="640000" y="484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roscop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400" y="4983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2000" y="462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 của màng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0000" y="560000"/>
            <a:ext cx="2300000" cy="23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000" y="4650000"/>
            <a:ext cx="950000" cy="127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0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000" y="2450000"/>
            <a:ext cx="8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000" y="2980000"/>
            <a:ext cx="90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sự cố điển hình (1/2)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8640" y="206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0640" y="2172000"/>
            <a:ext cx="336000" cy="33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640" y="2660000"/>
            <a:ext cx="10630000" cy="11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Sốc nhựa — vón cục, kết tủa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dung môi mới có chỉ số KB thấp</a:t>
            </a:r>
          </a:p>
          <a:p>
            <a:r>
              <a:rPr sz="2000" b="0" i="0">
                <a:solidFill>
                  <a:srgbClr val="34404A"/>
                </a:solidFill>
              </a:rPr>
              <a:t>Xử lý: châm dung môi phân cực + khuấy nghiền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640" y="441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0640" y="4522000"/>
            <a:ext cx="336000" cy="33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640" y="5010000"/>
            <a:ext cx="10630000" cy="11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Chảy xệ màng khi thi công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dung môi bay hơi chậm, KB lệch</a:t>
            </a:r>
          </a:p>
          <a:p>
            <a:r>
              <a:rPr sz="2000" b="0" i="0">
                <a:solidFill>
                  <a:srgbClr val="34404A"/>
                </a:solidFill>
              </a:rPr>
              <a:t>Xử lý: hiệu chỉnh hệ dung môi, kiểm độ nhớt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sự cố điển hình (2/2)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8640" y="206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0640" y="2172000"/>
            <a:ext cx="336000" cy="33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640" y="2660000"/>
            <a:ext cx="10630000" cy="11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Lắng cứng đáy bồn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độ hút dầu bột mới vượt PVC</a:t>
            </a:r>
          </a:p>
          <a:p>
            <a:r>
              <a:rPr sz="2000" b="0" i="0">
                <a:solidFill>
                  <a:srgbClr val="34404A"/>
                </a:solidFill>
              </a:rPr>
              <a:t>Xử lý: tính lại tỉ lệ, thêm chất chống lắng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80000" cy="21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640" y="441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0640" y="4522000"/>
            <a:ext cx="336000" cy="33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640" y="5010000"/>
            <a:ext cx="10630000" cy="11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Mất bóng / nứt giòn</a:t>
            </a:r>
          </a:p>
          <a:p>
            <a:r>
              <a:rPr sz="2000" b="0" i="0">
                <a:solidFill>
                  <a:srgbClr val="34404A"/>
                </a:solidFill>
              </a:rPr>
              <a:t>Nguyên nhân: vượt PVC, thiếu nhựa liên kết</a:t>
            </a:r>
          </a:p>
          <a:p>
            <a:r>
              <a:rPr sz="2000" b="0" i="0">
                <a:solidFill>
                  <a:srgbClr val="34404A"/>
                </a:solidFill>
              </a:rPr>
              <a:t>Xử lý: cân đối PVC, tăng chất tạo màng dẻo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260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400" y="2743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2000" y="238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3" name="Oval 12"/>
          <p:cNvSpPr/>
          <p:nvPr/>
        </p:nvSpPr>
        <p:spPr>
          <a:xfrm>
            <a:off x="640000" y="372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olvent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400" y="3863400"/>
            <a:ext cx="403200" cy="40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2000" y="350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6" name="Oval 15"/>
          <p:cNvSpPr/>
          <p:nvPr/>
        </p:nvSpPr>
        <p:spPr>
          <a:xfrm>
            <a:off x="640000" y="484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ear_proc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4400" y="4983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2000" y="462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50000" y="560000"/>
            <a:ext cx="2300000" cy="23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000" y="4650000"/>
            <a:ext cx="950000" cy="127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0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0000" y="2450000"/>
            <a:ext cx="8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000" y="2980000"/>
            <a:ext cx="90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lam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asmask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0000" y="239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hemical_glove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000" y="2590000"/>
            <a:ext cx="600000" cy="6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00000" y="195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0000" y="4740000"/>
            <a:ext cx="1000000" cy="100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ear_proc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0000" y="4940000"/>
            <a:ext cx="600000" cy="6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100000" y="4300000"/>
            <a:ext cx="9200000" cy="18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30000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8640" y="2060000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moke_air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0640" y="2172000"/>
            <a:ext cx="336000" cy="33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640" y="2660000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Thu qua chụp hút → than hoạt tính / buồng đốt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96666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8640" y="3626666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ater_was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0640" y="3738666"/>
            <a:ext cx="336000" cy="33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640" y="4226666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63332"/>
            <a:ext cx="1109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8640" y="5193332"/>
            <a:ext cx="560000" cy="56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olid_wast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0640" y="5305332"/>
            <a:ext cx="336000" cy="33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98640" y="5793332"/>
            <a:ext cx="10630000" cy="356666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hợp đồng đơn vị xử lý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30000" y="430000"/>
            <a:ext cx="92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0000" y="850000"/>
            <a:ext cx="1025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45000" y="1560000"/>
            <a:ext cx="900000" cy="55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o_mol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50000" y="470000"/>
            <a:ext cx="760000" cy="76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260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rad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4400" y="2743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2000" y="238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3" name="Oval 12"/>
          <p:cNvSpPr/>
          <p:nvPr/>
        </p:nvSpPr>
        <p:spPr>
          <a:xfrm>
            <a:off x="640000" y="372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lette_w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400" y="3863400"/>
            <a:ext cx="403200" cy="40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2000" y="350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6" name="Oval 15"/>
          <p:cNvSpPr/>
          <p:nvPr/>
        </p:nvSpPr>
        <p:spPr>
          <a:xfrm>
            <a:off x="640000" y="4849000"/>
            <a:ext cx="672000" cy="672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qr_cod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400" y="4983400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2000" y="4625000"/>
            <a:ext cx="9800000" cy="11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4" name="Picture 3" descr="deco_mol_whi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pic>
        <p:nvPicPr>
          <p:cNvPr id="5" name="Picture 4" descr="deco_drip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0000" y="4900000"/>
            <a:ext cx="1000000" cy="133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