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c_additive_w.svg" ContentType="image/svg+xml"/>
  <Override PartName="/ppt/media/ic_adhesion_w.svg" ContentType="image/svg+xml"/>
  <Override PartName="/ppt/media/ic_chart7_bot.svg" ContentType="image/svg+xml"/>
  <Override PartName="/ppt/media/ic_chart7_dungmoi.svg" ContentType="image/svg+xml"/>
  <Override PartName="/ppt/media/ic_chart7_nhua.svg" ContentType="image/svg+xml"/>
  <Override PartName="/ppt/media/ic_chart7_phugia.svg" ContentType="image/svg+xml"/>
  <Override PartName="/ppt/media/ic_chart8_beo.svg" ContentType="image/svg+xml"/>
  <Override PartName="/ppt/media/ic_chart8_gay.svg" ContentType="image/svg+xml"/>
  <Override PartName="/ppt/media/ic_chart8_trung.svg" ContentType="image/svg+xml"/>
  <Override PartName="/ppt/media/ic_chemical_glove_g.svg" ContentType="image/svg+xml"/>
  <Override PartName="/ppt/media/ic_company_w.svg" ContentType="image/svg+xml"/>
  <Override PartName="/ppt/media/ic_customers_w.svg" ContentType="image/svg+xml"/>
  <Override PartName="/ppt/media/ic_danh_paste_g.svg" ContentType="image/svg+xml"/>
  <Override PartName="/ppt/media/ic_danh_paste_w.svg" ContentType="image/svg+xml"/>
  <Override PartName="/ppt/media/ic_dinh_luong_g.svg" ContentType="image/svg+xml"/>
  <Override PartName="/ppt/media/ic_dinh_luong_w.svg" ContentType="image/svg+xml"/>
  <Override PartName="/ppt/media/ic_factory_g.svg" ContentType="image/svg+xml"/>
  <Override PartName="/ppt/media/ic_flame_g.svg" ContentType="image/svg+xml"/>
  <Override PartName="/ppt/media/ic_gasmask_g.svg" ContentType="image/svg+xml"/>
  <Override PartName="/ppt/media/ic_gear_proc_g.svg" ContentType="image/svg+xml"/>
  <Override PartName="/ppt/media/ic_gear_proc_w.svg" ContentType="image/svg+xml"/>
  <Override PartName="/ppt/media/ic_grad_check_g.svg" ContentType="image/svg+xml"/>
  <Override PartName="/ppt/media/ic_history_clock_g.svg" ContentType="image/svg+xml"/>
  <Override PartName="/ppt/media/ic_loc_donggoi_g.svg" ContentType="image/svg+xml"/>
  <Override PartName="/ppt/media/ic_loc_donggoi_w.svg" ContentType="image/svg+xml"/>
  <Override PartName="/ppt/media/ic_materials_w.svg" ContentType="image/svg+xml"/>
  <Override PartName="/ppt/media/ic_microscope_w.svg" ContentType="image/svg+xml"/>
  <Override PartName="/ppt/media/ic_ngam_u_g.svg" ContentType="image/svg+xml"/>
  <Override PartName="/ppt/media/ic_ngam_u_w.svg" ContentType="image/svg+xml"/>
  <Override PartName="/ppt/media/ic_nghien_min_g.svg" ContentType="image/svg+xml"/>
  <Override PartName="/ppt/media/ic_org_chart_w.svg" ContentType="image/svg+xml"/>
  <Override PartName="/ppt/media/ic_paint_can_g.svg" ContentType="image/svg+xml"/>
  <Override PartName="/ppt/media/ic_palette_g.svg" ContentType="image/svg+xml"/>
  <Override PartName="/ppt/media/ic_pha_loang_g.svg" ContentType="image/svg+xml"/>
  <Override PartName="/ppt/media/ic_pha_loang_w.svg" ContentType="image/svg+xml"/>
  <Override PartName="/ppt/media/ic_pigment_g.svg" ContentType="image/svg+xml"/>
  <Override PartName="/ppt/media/ic_qr_code_g.svg" ContentType="image/svg+xml"/>
  <Override PartName="/ppt/media/ic_quality_check_w.svg" ContentType="image/svg+xml"/>
  <Override PartName="/ppt/media/ic_resin_w.svg" ContentType="image/svg+xml"/>
  <Override PartName="/ppt/media/ic_safety_shield_w.svg" ContentType="image/svg+xml"/>
  <Override PartName="/ppt/media/ic_salt_spray_w.svg" ContentType="image/svg+xml"/>
  <Override PartName="/ppt/media/ic_smoke_air_w.svg" ContentType="image/svg+xml"/>
  <Override PartName="/ppt/media/ic_solid_waste_w.svg" ContentType="image/svg+xml"/>
  <Override PartName="/ppt/media/ic_solvent_w.svg" ContentType="image/svg+xml"/>
  <Override PartName="/ppt/media/ic_stopwatch_w.svg" ContentType="image/svg+xml"/>
  <Override PartName="/ppt/media/ic_sun_uv_w.svg" ContentType="image/svg+xml"/>
  <Override PartName="/ppt/media/ic_target_w.svg" ContentType="image/svg+xml"/>
  <Override PartName="/ppt/media/ic_warning_tri_g.svg" ContentType="image/svg+xml"/>
  <Override PartName="/ppt/media/ic_water_waste_w.svg" ContentType="image/svg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Default Extension="svg" ContentType="image/svg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80" r:id="rId31"/>
    <p:sldId id="260" r:id="rId11"/>
    <p:sldId id="261" r:id="rId12"/>
    <p:sldId id="262" r:id="rId13"/>
    <p:sldId id="281" r:id="rId32"/>
    <p:sldId id="263" r:id="rId14"/>
    <p:sldId id="264" r:id="rId15"/>
    <p:sldId id="265" r:id="rId16"/>
    <p:sldId id="266" r:id="rId17"/>
    <p:sldId id="267" r:id="rId18"/>
    <p:sldId id="282" r:id="rId33"/>
    <p:sldId id="284" r:id="rId35"/>
    <p:sldId id="285" r:id="rId36"/>
    <p:sldId id="286" r:id="rId37"/>
    <p:sldId id="269" r:id="rId20"/>
    <p:sldId id="270" r:id="rId21"/>
    <p:sldId id="271" r:id="rId22"/>
    <p:sldId id="283" r:id="rId34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1.png"/><Relationship Id="rId4" Type="http://schemas.openxmlformats.org/officeDocument/2006/relationships/image" Target="../media/image12.png"/><Relationship Id="rId5" Type="http://schemas.openxmlformats.org/officeDocument/2006/relationships/image" Target="../media/image13.png"/><Relationship Id="rId6" Type="http://schemas.openxmlformats.org/officeDocument/2006/relationships/image" Target="../media/image14.png"/><Relationship Id="rId7" Type="http://schemas.openxmlformats.org/officeDocument/2006/relationships/image" Target="../media/image15.png"/><Relationship Id="rId8" Type="http://schemas.openxmlformats.org/officeDocument/2006/relationships/image" Target="../media/image16.png"/><Relationship Id="rId9" Type="http://schemas.openxmlformats.org/officeDocument/2006/relationships/image" Target="../media/ic_company_w.svg"/><Relationship Id="rId10" Type="http://schemas.openxmlformats.org/officeDocument/2006/relationships/image" Target="../media/ic_gear_proc_w.svg"/><Relationship Id="rId11" Type="http://schemas.openxmlformats.org/officeDocument/2006/relationships/image" Target="../media/ic_materials_w.svg"/><Relationship Id="rId12" Type="http://schemas.openxmlformats.org/officeDocument/2006/relationships/image" Target="../media/ic_quality_check_w.svg"/><Relationship Id="rId13" Type="http://schemas.openxmlformats.org/officeDocument/2006/relationships/image" Target="../media/ic_safety_shield_w.svg"/><Relationship Id="rId14" Type="http://schemas.openxmlformats.org/officeDocument/2006/relationships/image" Target="../media/ic_warning_tri_g.svg"/><Relationship Id="rId15" Type="http://schemas.openxmlformats.org/officeDocument/2006/relationships/image" Target="../media/ic_company_w.svg"/><Relationship Id="rId16" Type="http://schemas.openxmlformats.org/officeDocument/2006/relationships/image" Target="../media/ic_gear_proc_w.svg"/><Relationship Id="rId17" Type="http://schemas.openxmlformats.org/officeDocument/2006/relationships/image" Target="../media/ic_materials_w.svg"/><Relationship Id="rId18" Type="http://schemas.openxmlformats.org/officeDocument/2006/relationships/image" Target="../media/ic_quality_check_w.svg"/><Relationship Id="rId19" Type="http://schemas.openxmlformats.org/officeDocument/2006/relationships/image" Target="../media/ic_safety_shield_w.svg"/><Relationship Id="rId20" Type="http://schemas.openxmlformats.org/officeDocument/2006/relationships/image" Target="../media/ic_warning_tri_g.svg"/><Relationship Id="rId21" Type="http://schemas.openxmlformats.org/officeDocument/2006/relationships/image" Target="../media/ic_company_w.svg"/><Relationship Id="rId22" Type="http://schemas.openxmlformats.org/officeDocument/2006/relationships/image" Target="../media/ic_gear_proc_w.svg"/><Relationship Id="rId23" Type="http://schemas.openxmlformats.org/officeDocument/2006/relationships/image" Target="../media/ic_materials_w.svg"/><Relationship Id="rId24" Type="http://schemas.openxmlformats.org/officeDocument/2006/relationships/image" Target="../media/ic_quality_check_w.svg"/><Relationship Id="rId25" Type="http://schemas.openxmlformats.org/officeDocument/2006/relationships/image" Target="../media/ic_safety_shield_w.svg"/><Relationship Id="rId26" Type="http://schemas.openxmlformats.org/officeDocument/2006/relationships/image" Target="../media/ic_warning_tri_g.sv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42.png"/><Relationship Id="rId4" Type="http://schemas.openxmlformats.org/officeDocument/2006/relationships/image" Target="../media/image43.png"/><Relationship Id="rId5" Type="http://schemas.openxmlformats.org/officeDocument/2006/relationships/image" Target="../media/image44.png"/><Relationship Id="rId6" Type="http://schemas.openxmlformats.org/officeDocument/2006/relationships/image" Target="../media/ic_factory_g.svg"/><Relationship Id="rId7" Type="http://schemas.openxmlformats.org/officeDocument/2006/relationships/image" Target="../media/ic_history_clock_g.svg"/><Relationship Id="rId8" Type="http://schemas.openxmlformats.org/officeDocument/2006/relationships/image" Target="../media/ic_paint_can_g.svg"/><Relationship Id="rId9" Type="http://schemas.openxmlformats.org/officeDocument/2006/relationships/image" Target="../media/ic_factory_g.svg"/><Relationship Id="rId10" Type="http://schemas.openxmlformats.org/officeDocument/2006/relationships/image" Target="../media/ic_history_clock_g.svg"/><Relationship Id="rId11" Type="http://schemas.openxmlformats.org/officeDocument/2006/relationships/image" Target="../media/ic_paint_can_g.svg"/><Relationship Id="rId12" Type="http://schemas.openxmlformats.org/officeDocument/2006/relationships/image" Target="../media/ic_factory_g.svg"/><Relationship Id="rId13" Type="http://schemas.openxmlformats.org/officeDocument/2006/relationships/image" Target="../media/ic_history_clock_g.svg"/><Relationship Id="rId14" Type="http://schemas.openxmlformats.org/officeDocument/2006/relationships/image" Target="../media/ic_paint_can_g.sv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.png"/><Relationship Id="rId3" Type="http://schemas.openxmlformats.org/officeDocument/2006/relationships/image" Target="../media/image46.png"/><Relationship Id="rId4" Type="http://schemas.openxmlformats.org/officeDocument/2006/relationships/image" Target="../media/image47.png"/><Relationship Id="rId5" Type="http://schemas.openxmlformats.org/officeDocument/2006/relationships/image" Target="../media/ic_customers_w.svg"/><Relationship Id="rId6" Type="http://schemas.openxmlformats.org/officeDocument/2006/relationships/image" Target="../media/ic_org_chart_w.svg"/><Relationship Id="rId7" Type="http://schemas.openxmlformats.org/officeDocument/2006/relationships/image" Target="../media/ic_target_w.svg"/><Relationship Id="rId8" Type="http://schemas.openxmlformats.org/officeDocument/2006/relationships/image" Target="../media/ic_customers_w.svg"/><Relationship Id="rId9" Type="http://schemas.openxmlformats.org/officeDocument/2006/relationships/image" Target="../media/ic_org_chart_w.svg"/><Relationship Id="rId10" Type="http://schemas.openxmlformats.org/officeDocument/2006/relationships/image" Target="../media/ic_target_w.svg"/><Relationship Id="rId11" Type="http://schemas.openxmlformats.org/officeDocument/2006/relationships/image" Target="../media/ic_customers_w.svg"/><Relationship Id="rId12" Type="http://schemas.openxmlformats.org/officeDocument/2006/relationships/image" Target="../media/ic_org_chart_w.svg"/><Relationship Id="rId13" Type="http://schemas.openxmlformats.org/officeDocument/2006/relationships/image" Target="../media/ic_target_w.sv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image" Target="../media/image18.png"/><Relationship Id="rId4" Type="http://schemas.openxmlformats.org/officeDocument/2006/relationships/image" Target="../media/image19.png"/><Relationship Id="rId5" Type="http://schemas.openxmlformats.org/officeDocument/2006/relationships/image" Target="../media/image20.png"/><Relationship Id="rId6" Type="http://schemas.openxmlformats.org/officeDocument/2006/relationships/image" Target="../media/ic_additive_w.svg"/><Relationship Id="rId7" Type="http://schemas.openxmlformats.org/officeDocument/2006/relationships/image" Target="../media/ic_pigment_g.svg"/><Relationship Id="rId8" Type="http://schemas.openxmlformats.org/officeDocument/2006/relationships/image" Target="../media/ic_resin_w.svg"/><Relationship Id="rId9" Type="http://schemas.openxmlformats.org/officeDocument/2006/relationships/image" Target="../media/ic_solvent_w.svg"/><Relationship Id="rId10" Type="http://schemas.openxmlformats.org/officeDocument/2006/relationships/image" Target="../media/image57.png"/><Relationship Id="rId11" Type="http://schemas.openxmlformats.org/officeDocument/2006/relationships/image" Target="../media/image58.png"/><Relationship Id="rId12" Type="http://schemas.openxmlformats.org/officeDocument/2006/relationships/image" Target="../media/image59.png"/><Relationship Id="rId13" Type="http://schemas.openxmlformats.org/officeDocument/2006/relationships/image" Target="../media/image60.png"/><Relationship Id="rId14" Type="http://schemas.openxmlformats.org/officeDocument/2006/relationships/image" Target="../media/ic_additive_w.svg"/><Relationship Id="rId15" Type="http://schemas.openxmlformats.org/officeDocument/2006/relationships/image" Target="../media/ic_chart7_bot.svg"/><Relationship Id="rId16" Type="http://schemas.openxmlformats.org/officeDocument/2006/relationships/image" Target="../media/ic_chart7_dungmoi.svg"/><Relationship Id="rId17" Type="http://schemas.openxmlformats.org/officeDocument/2006/relationships/image" Target="../media/ic_chart7_nhua.svg"/><Relationship Id="rId18" Type="http://schemas.openxmlformats.org/officeDocument/2006/relationships/image" Target="../media/ic_chart7_phugia.svg"/><Relationship Id="rId19" Type="http://schemas.openxmlformats.org/officeDocument/2006/relationships/image" Target="../media/ic_pigment_g.svg"/><Relationship Id="rId20" Type="http://schemas.openxmlformats.org/officeDocument/2006/relationships/image" Target="../media/ic_resin_w.svg"/><Relationship Id="rId21" Type="http://schemas.openxmlformats.org/officeDocument/2006/relationships/image" Target="../media/ic_solvent_w.svg"/><Relationship Id="rId22" Type="http://schemas.openxmlformats.org/officeDocument/2006/relationships/image" Target="../media/ic_additive_w.svg"/><Relationship Id="rId23" Type="http://schemas.openxmlformats.org/officeDocument/2006/relationships/image" Target="../media/ic_chart7_bot.svg"/><Relationship Id="rId24" Type="http://schemas.openxmlformats.org/officeDocument/2006/relationships/image" Target="../media/ic_chart7_dungmoi.svg"/><Relationship Id="rId25" Type="http://schemas.openxmlformats.org/officeDocument/2006/relationships/image" Target="../media/ic_chart7_nhua.svg"/><Relationship Id="rId26" Type="http://schemas.openxmlformats.org/officeDocument/2006/relationships/image" Target="../media/ic_chart7_phugia.svg"/><Relationship Id="rId27" Type="http://schemas.openxmlformats.org/officeDocument/2006/relationships/image" Target="../media/ic_pigment_g.svg"/><Relationship Id="rId28" Type="http://schemas.openxmlformats.org/officeDocument/2006/relationships/image" Target="../media/ic_resin_w.svg"/><Relationship Id="rId29" Type="http://schemas.openxmlformats.org/officeDocument/2006/relationships/image" Target="../media/ic_solvent_w.sv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4.png"/><Relationship Id="rId3" Type="http://schemas.openxmlformats.org/officeDocument/2006/relationships/image" Target="../media/image55.png"/><Relationship Id="rId4" Type="http://schemas.openxmlformats.org/officeDocument/2006/relationships/image" Target="../media/image56.png"/><Relationship Id="rId5" Type="http://schemas.openxmlformats.org/officeDocument/2006/relationships/image" Target="../media/ic_chart8_beo.svg"/><Relationship Id="rId6" Type="http://schemas.openxmlformats.org/officeDocument/2006/relationships/image" Target="../media/ic_chart8_gay.svg"/><Relationship Id="rId7" Type="http://schemas.openxmlformats.org/officeDocument/2006/relationships/image" Target="../media/ic_chart8_trung.svg"/><Relationship Id="rId8" Type="http://schemas.openxmlformats.org/officeDocument/2006/relationships/image" Target="../media/image61.png"/><Relationship Id="rId9" Type="http://schemas.openxmlformats.org/officeDocument/2006/relationships/image" Target="../media/image62.png"/><Relationship Id="rId10" Type="http://schemas.openxmlformats.org/officeDocument/2006/relationships/image" Target="../media/image63.png"/><Relationship Id="rId11" Type="http://schemas.openxmlformats.org/officeDocument/2006/relationships/image" Target="../media/ic_chart8_beo.svg"/><Relationship Id="rId12" Type="http://schemas.openxmlformats.org/officeDocument/2006/relationships/image" Target="../media/ic_chart8_gay.svg"/><Relationship Id="rId13" Type="http://schemas.openxmlformats.org/officeDocument/2006/relationships/image" Target="../media/ic_chart8_trung.sv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Relationship Id="rId3" Type="http://schemas.openxmlformats.org/officeDocument/2006/relationships/image" Target="../media/image35.png"/><Relationship Id="rId4" Type="http://schemas.openxmlformats.org/officeDocument/2006/relationships/image" Target="../media/image23.png"/><Relationship Id="rId5" Type="http://schemas.openxmlformats.org/officeDocument/2006/relationships/image" Target="../media/image36.png"/><Relationship Id="rId6" Type="http://schemas.openxmlformats.org/officeDocument/2006/relationships/image" Target="../media/image37.png"/><Relationship Id="rId7" Type="http://schemas.openxmlformats.org/officeDocument/2006/relationships/image" Target="../media/image38.png"/><Relationship Id="rId8" Type="http://schemas.openxmlformats.org/officeDocument/2006/relationships/image" Target="../media/ic_danh_paste_g.svg"/><Relationship Id="rId9" Type="http://schemas.openxmlformats.org/officeDocument/2006/relationships/image" Target="../media/ic_dinh_luong_g.svg"/><Relationship Id="rId10" Type="http://schemas.openxmlformats.org/officeDocument/2006/relationships/image" Target="../media/ic_loc_donggoi_g.svg"/><Relationship Id="rId11" Type="http://schemas.openxmlformats.org/officeDocument/2006/relationships/image" Target="../media/ic_ngam_u_g.svg"/><Relationship Id="rId12" Type="http://schemas.openxmlformats.org/officeDocument/2006/relationships/image" Target="../media/ic_nghien_min_g.svg"/><Relationship Id="rId13" Type="http://schemas.openxmlformats.org/officeDocument/2006/relationships/image" Target="../media/ic_pha_loang_g.svg"/><Relationship Id="rId14" Type="http://schemas.openxmlformats.org/officeDocument/2006/relationships/image" Target="../media/ic_danh_paste_g.svg"/><Relationship Id="rId15" Type="http://schemas.openxmlformats.org/officeDocument/2006/relationships/image" Target="../media/ic_dinh_luong_g.svg"/><Relationship Id="rId16" Type="http://schemas.openxmlformats.org/officeDocument/2006/relationships/image" Target="../media/ic_loc_donggoi_g.svg"/><Relationship Id="rId17" Type="http://schemas.openxmlformats.org/officeDocument/2006/relationships/image" Target="../media/ic_ngam_u_g.svg"/><Relationship Id="rId18" Type="http://schemas.openxmlformats.org/officeDocument/2006/relationships/image" Target="../media/ic_nghien_min_g.svg"/><Relationship Id="rId19" Type="http://schemas.openxmlformats.org/officeDocument/2006/relationships/image" Target="../media/ic_pha_loang_g.svg"/><Relationship Id="rId20" Type="http://schemas.openxmlformats.org/officeDocument/2006/relationships/image" Target="../media/ic_danh_paste_g.svg"/><Relationship Id="rId21" Type="http://schemas.openxmlformats.org/officeDocument/2006/relationships/image" Target="../media/ic_dinh_luong_g.svg"/><Relationship Id="rId22" Type="http://schemas.openxmlformats.org/officeDocument/2006/relationships/image" Target="../media/ic_loc_donggoi_g.svg"/><Relationship Id="rId23" Type="http://schemas.openxmlformats.org/officeDocument/2006/relationships/image" Target="../media/ic_ngam_u_g.svg"/><Relationship Id="rId24" Type="http://schemas.openxmlformats.org/officeDocument/2006/relationships/image" Target="../media/ic_nghien_min_g.svg"/><Relationship Id="rId25" Type="http://schemas.openxmlformats.org/officeDocument/2006/relationships/image" Target="../media/ic_pha_loang_g.sv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Relationship Id="rId3" Type="http://schemas.openxmlformats.org/officeDocument/2006/relationships/image" Target="../media/image22.png"/><Relationship Id="rId4" Type="http://schemas.openxmlformats.org/officeDocument/2006/relationships/image" Target="../media/image23.png"/><Relationship Id="rId5" Type="http://schemas.openxmlformats.org/officeDocument/2006/relationships/image" Target="../media/image24.png"/><Relationship Id="rId6" Type="http://schemas.openxmlformats.org/officeDocument/2006/relationships/image" Target="../media/image25.png"/><Relationship Id="rId7" Type="http://schemas.openxmlformats.org/officeDocument/2006/relationships/image" Target="../media/image26.png"/><Relationship Id="rId8" Type="http://schemas.openxmlformats.org/officeDocument/2006/relationships/image" Target="../media/ic_danh_paste_w.svg"/><Relationship Id="rId9" Type="http://schemas.openxmlformats.org/officeDocument/2006/relationships/image" Target="../media/ic_dinh_luong_w.svg"/><Relationship Id="rId10" Type="http://schemas.openxmlformats.org/officeDocument/2006/relationships/image" Target="../media/ic_loc_donggoi_w.svg"/><Relationship Id="rId11" Type="http://schemas.openxmlformats.org/officeDocument/2006/relationships/image" Target="../media/ic_ngam_u_w.svg"/><Relationship Id="rId12" Type="http://schemas.openxmlformats.org/officeDocument/2006/relationships/image" Target="../media/ic_nghien_min_g.svg"/><Relationship Id="rId13" Type="http://schemas.openxmlformats.org/officeDocument/2006/relationships/image" Target="../media/ic_pha_loang_w.svg"/><Relationship Id="rId14" Type="http://schemas.openxmlformats.org/officeDocument/2006/relationships/image" Target="../media/ic_danh_paste_w.svg"/><Relationship Id="rId15" Type="http://schemas.openxmlformats.org/officeDocument/2006/relationships/image" Target="../media/ic_dinh_luong_w.svg"/><Relationship Id="rId16" Type="http://schemas.openxmlformats.org/officeDocument/2006/relationships/image" Target="../media/ic_loc_donggoi_w.svg"/><Relationship Id="rId17" Type="http://schemas.openxmlformats.org/officeDocument/2006/relationships/image" Target="../media/ic_ngam_u_w.svg"/><Relationship Id="rId18" Type="http://schemas.openxmlformats.org/officeDocument/2006/relationships/image" Target="../media/ic_nghien_min_g.svg"/><Relationship Id="rId19" Type="http://schemas.openxmlformats.org/officeDocument/2006/relationships/image" Target="../media/ic_pha_loang_w.svg"/><Relationship Id="rId20" Type="http://schemas.openxmlformats.org/officeDocument/2006/relationships/image" Target="../media/ic_danh_paste_w.svg"/><Relationship Id="rId21" Type="http://schemas.openxmlformats.org/officeDocument/2006/relationships/image" Target="../media/ic_dinh_luong_w.svg"/><Relationship Id="rId22" Type="http://schemas.openxmlformats.org/officeDocument/2006/relationships/image" Target="../media/ic_loc_donggoi_w.svg"/><Relationship Id="rId23" Type="http://schemas.openxmlformats.org/officeDocument/2006/relationships/image" Target="../media/ic_ngam_u_w.svg"/><Relationship Id="rId24" Type="http://schemas.openxmlformats.org/officeDocument/2006/relationships/image" Target="../media/ic_nghien_min_g.svg"/><Relationship Id="rId25" Type="http://schemas.openxmlformats.org/officeDocument/2006/relationships/image" Target="../media/ic_pha_loang_w.sv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.png"/><Relationship Id="rId3" Type="http://schemas.openxmlformats.org/officeDocument/2006/relationships/image" Target="../media/image50.png"/><Relationship Id="rId4" Type="http://schemas.openxmlformats.org/officeDocument/2006/relationships/image" Target="../media/ic_microscope_w.svg"/><Relationship Id="rId5" Type="http://schemas.openxmlformats.org/officeDocument/2006/relationships/image" Target="../media/ic_stopwatch_w.svg"/><Relationship Id="rId6" Type="http://schemas.openxmlformats.org/officeDocument/2006/relationships/image" Target="../media/ic_microscope_w.svg"/><Relationship Id="rId7" Type="http://schemas.openxmlformats.org/officeDocument/2006/relationships/image" Target="../media/ic_stopwatch_w.svg"/><Relationship Id="rId8" Type="http://schemas.openxmlformats.org/officeDocument/2006/relationships/image" Target="../media/ic_microscope_w.svg"/><Relationship Id="rId9" Type="http://schemas.openxmlformats.org/officeDocument/2006/relationships/image" Target="../media/ic_stopwatch_w.sv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Relationship Id="rId3" Type="http://schemas.openxmlformats.org/officeDocument/2006/relationships/image" Target="../media/image40.png"/><Relationship Id="rId4" Type="http://schemas.openxmlformats.org/officeDocument/2006/relationships/image" Target="../media/image41.png"/><Relationship Id="rId5" Type="http://schemas.openxmlformats.org/officeDocument/2006/relationships/image" Target="../media/ic_adhesion_w.svg"/><Relationship Id="rId6" Type="http://schemas.openxmlformats.org/officeDocument/2006/relationships/image" Target="../media/ic_salt_spray_w.svg"/><Relationship Id="rId7" Type="http://schemas.openxmlformats.org/officeDocument/2006/relationships/image" Target="../media/ic_sun_uv_w.svg"/><Relationship Id="rId8" Type="http://schemas.openxmlformats.org/officeDocument/2006/relationships/image" Target="../media/ic_adhesion_w.svg"/><Relationship Id="rId9" Type="http://schemas.openxmlformats.org/officeDocument/2006/relationships/image" Target="../media/ic_salt_spray_w.svg"/><Relationship Id="rId10" Type="http://schemas.openxmlformats.org/officeDocument/2006/relationships/image" Target="../media/ic_sun_uv_w.svg"/><Relationship Id="rId11" Type="http://schemas.openxmlformats.org/officeDocument/2006/relationships/image" Target="../media/ic_adhesion_w.svg"/><Relationship Id="rId12" Type="http://schemas.openxmlformats.org/officeDocument/2006/relationships/image" Target="../media/ic_salt_spray_w.svg"/><Relationship Id="rId13" Type="http://schemas.openxmlformats.org/officeDocument/2006/relationships/image" Target="../media/ic_sun_uv_w.sv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Relationship Id="rId3" Type="http://schemas.openxmlformats.org/officeDocument/2006/relationships/image" Target="../media/image8.jpg"/><Relationship Id="rId4" Type="http://schemas.openxmlformats.org/officeDocument/2006/relationships/image" Target="../media/image9.jpg"/><Relationship Id="rId5" Type="http://schemas.openxmlformats.org/officeDocument/2006/relationships/image" Target="../media/image10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Relationship Id="rId3" Type="http://schemas.openxmlformats.org/officeDocument/2006/relationships/image" Target="../media/image28.png"/><Relationship Id="rId4" Type="http://schemas.openxmlformats.org/officeDocument/2006/relationships/image" Target="../media/image29.png"/><Relationship Id="rId5" Type="http://schemas.openxmlformats.org/officeDocument/2006/relationships/image" Target="../media/image30.png"/><Relationship Id="rId6" Type="http://schemas.openxmlformats.org/officeDocument/2006/relationships/image" Target="../media/ic_chemical_glove_g.svg"/><Relationship Id="rId7" Type="http://schemas.openxmlformats.org/officeDocument/2006/relationships/image" Target="../media/ic_flame_g.svg"/><Relationship Id="rId8" Type="http://schemas.openxmlformats.org/officeDocument/2006/relationships/image" Target="../media/ic_gasmask_g.svg"/><Relationship Id="rId9" Type="http://schemas.openxmlformats.org/officeDocument/2006/relationships/image" Target="../media/ic_gear_proc_g.svg"/><Relationship Id="rId10" Type="http://schemas.openxmlformats.org/officeDocument/2006/relationships/image" Target="../media/ic_chemical_glove_g.svg"/><Relationship Id="rId11" Type="http://schemas.openxmlformats.org/officeDocument/2006/relationships/image" Target="../media/ic_flame_g.svg"/><Relationship Id="rId12" Type="http://schemas.openxmlformats.org/officeDocument/2006/relationships/image" Target="../media/ic_gasmask_g.svg"/><Relationship Id="rId13" Type="http://schemas.openxmlformats.org/officeDocument/2006/relationships/image" Target="../media/ic_gear_proc_g.svg"/><Relationship Id="rId14" Type="http://schemas.openxmlformats.org/officeDocument/2006/relationships/image" Target="../media/ic_chemical_glove_g.svg"/><Relationship Id="rId15" Type="http://schemas.openxmlformats.org/officeDocument/2006/relationships/image" Target="../media/ic_flame_g.svg"/><Relationship Id="rId16" Type="http://schemas.openxmlformats.org/officeDocument/2006/relationships/image" Target="../media/ic_gasmask_g.svg"/><Relationship Id="rId17" Type="http://schemas.openxmlformats.org/officeDocument/2006/relationships/image" Target="../media/ic_gear_proc_g.sv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1.png"/><Relationship Id="rId3" Type="http://schemas.openxmlformats.org/officeDocument/2006/relationships/image" Target="../media/image52.png"/><Relationship Id="rId4" Type="http://schemas.openxmlformats.org/officeDocument/2006/relationships/image" Target="../media/image53.png"/><Relationship Id="rId5" Type="http://schemas.openxmlformats.org/officeDocument/2006/relationships/image" Target="../media/ic_smoke_air_w.svg"/><Relationship Id="rId6" Type="http://schemas.openxmlformats.org/officeDocument/2006/relationships/image" Target="../media/ic_solid_waste_w.svg"/><Relationship Id="rId7" Type="http://schemas.openxmlformats.org/officeDocument/2006/relationships/image" Target="../media/ic_water_waste_w.svg"/><Relationship Id="rId8" Type="http://schemas.openxmlformats.org/officeDocument/2006/relationships/image" Target="../media/ic_smoke_air_w.svg"/><Relationship Id="rId9" Type="http://schemas.openxmlformats.org/officeDocument/2006/relationships/image" Target="../media/ic_solid_waste_w.svg"/><Relationship Id="rId10" Type="http://schemas.openxmlformats.org/officeDocument/2006/relationships/image" Target="../media/ic_water_waste_w.svg"/><Relationship Id="rId11" Type="http://schemas.openxmlformats.org/officeDocument/2006/relationships/image" Target="../media/ic_smoke_air_w.svg"/><Relationship Id="rId12" Type="http://schemas.openxmlformats.org/officeDocument/2006/relationships/image" Target="../media/ic_solid_waste_w.svg"/><Relationship Id="rId13" Type="http://schemas.openxmlformats.org/officeDocument/2006/relationships/image" Target="../media/ic_water_waste_w.sv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Relationship Id="rId3" Type="http://schemas.openxmlformats.org/officeDocument/2006/relationships/image" Target="../media/image32.png"/><Relationship Id="rId4" Type="http://schemas.openxmlformats.org/officeDocument/2006/relationships/image" Target="../media/image33.png"/><Relationship Id="rId5" Type="http://schemas.openxmlformats.org/officeDocument/2006/relationships/image" Target="../media/ic_grad_check_g.svg"/><Relationship Id="rId6" Type="http://schemas.openxmlformats.org/officeDocument/2006/relationships/image" Target="../media/ic_palette_g.svg"/><Relationship Id="rId7" Type="http://schemas.openxmlformats.org/officeDocument/2006/relationships/image" Target="../media/ic_qr_code_g.svg"/><Relationship Id="rId8" Type="http://schemas.openxmlformats.org/officeDocument/2006/relationships/image" Target="../media/ic_grad_check_g.svg"/><Relationship Id="rId9" Type="http://schemas.openxmlformats.org/officeDocument/2006/relationships/image" Target="../media/ic_palette_g.svg"/><Relationship Id="rId10" Type="http://schemas.openxmlformats.org/officeDocument/2006/relationships/image" Target="../media/ic_qr_code_g.svg"/><Relationship Id="rId11" Type="http://schemas.openxmlformats.org/officeDocument/2006/relationships/image" Target="../media/ic_grad_check_g.svg"/><Relationship Id="rId12" Type="http://schemas.openxmlformats.org/officeDocument/2006/relationships/image" Target="../media/ic_palette_g.svg"/><Relationship Id="rId13" Type="http://schemas.openxmlformats.org/officeDocument/2006/relationships/image" Target="../media/ic_qr_code_g.sv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4.png"/><Relationship Id="rId3" Type="http://schemas.openxmlformats.org/officeDocument/2006/relationships/image" Target="../media/ic_big_timeline.sv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5.png"/><Relationship Id="rId3" Type="http://schemas.openxmlformats.org/officeDocument/2006/relationships/image" Target="../media/ic_big_doughnut.sv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6.png"/><Relationship Id="rId3" Type="http://schemas.openxmlformats.org/officeDocument/2006/relationships/image" Target="../media/ic_big_columns.sv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7.png"/><Relationship Id="rId3" Type="http://schemas.openxmlformats.org/officeDocument/2006/relationships/image" Target="../media/ic_big_radar.sv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281160" y="-274320"/>
            <a:ext cx="502920" cy="2377440"/>
          </a:xfrm>
          <a:prstGeom prst="roundRect">
            <a:avLst/>
          </a:prstGeom>
          <a:solidFill>
            <a:srgbClr val="8C3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9756648" y="-274320"/>
            <a:ext cx="502920" cy="2697480"/>
          </a:xfrm>
          <a:prstGeom prst="roundRect">
            <a:avLst/>
          </a:prstGeom>
          <a:solidFill>
            <a:srgbClr val="B56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0232136" y="-274320"/>
            <a:ext cx="502920" cy="3017520"/>
          </a:xfrm>
          <a:prstGeom prst="roundRect">
            <a:avLst/>
          </a:prstGeom>
          <a:solidFill>
            <a:srgbClr val="4A4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0707624" y="-274320"/>
            <a:ext cx="502920" cy="2377440"/>
          </a:xfrm>
          <a:prstGeom prst="roundRect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1183112" y="-274320"/>
            <a:ext cx="502920" cy="2697480"/>
          </a:xfrm>
          <a:prstGeom prst="roundRect">
            <a:avLst/>
          </a:prstGeom>
          <a:solidFill>
            <a:srgbClr val="243B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658600" y="-274320"/>
            <a:ext cx="502920" cy="3017520"/>
          </a:xfrm>
          <a:prstGeom prst="roundRect">
            <a:avLst/>
          </a:prstGeom>
          <a:solidFill>
            <a:srgbClr val="2E6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972800" y="5394960"/>
            <a:ext cx="1645920" cy="1645920"/>
          </a:xfrm>
          <a:prstGeom prst="ellipse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241280" y="6035040"/>
            <a:ext cx="640080" cy="640080"/>
          </a:xfrm>
          <a:prstGeom prst="ellipse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640080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6FA287"/>
                </a:solidFill>
                <a:latin typeface="Calibri"/>
              </a:rPr>
              <a:t>TRƯỜNG ĐẠI HỌC CÔNG NGHIỆP TP. HỒ CHÍ MINH  ·  KHOA CÔNG NGHỆ HÓA HỌC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2148840"/>
            <a:ext cx="1051560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1" i="0">
                <a:solidFill>
                  <a:srgbClr val="C88A2E"/>
                </a:solidFill>
                <a:latin typeface="Cambria"/>
              </a:rPr>
              <a:t>BÁO CÁO THỰC TẬP TỐT NGHIỆP</a:t>
            </a:r>
          </a:p>
          <a:p>
            <a:pPr algn="l">
              <a:lnSpc>
                <a:spcPct val="104000"/>
              </a:lnSpc>
            </a:pPr>
            <a:r>
              <a:rPr sz="3800" b="1" i="0">
                <a:solidFill>
                  <a:srgbClr val="FFFFFF"/>
                </a:solidFill>
                <a:latin typeface="Cambria"/>
              </a:rPr>
              <a:t>Quy trình sản xuất và kiểm soát</a:t>
            </a:r>
          </a:p>
          <a:p>
            <a:pPr algn="l">
              <a:lnSpc>
                <a:spcPct val="104000"/>
              </a:lnSpc>
              <a:spcAft>
                <a:spcPts val="600"/>
              </a:spcAft>
            </a:pPr>
            <a:r>
              <a:rPr sz="3800" b="1" i="0">
                <a:solidFill>
                  <a:srgbClr val="FFFFFF"/>
                </a:solidFill>
                <a:latin typeface="Cambria"/>
              </a:rPr>
              <a:t>chất lượng sơn</a:t>
            </a:r>
          </a:p>
          <a:p>
            <a:pPr algn="l">
              <a:lnSpc>
                <a:spcPct val="102000"/>
              </a:lnSpc>
            </a:pPr>
            <a:r>
              <a:rPr sz="2600" b="1" i="0">
                <a:solidFill>
                  <a:srgbClr val="E9F2EC"/>
                </a:solidFill>
                <a:latin typeface="Cambria"/>
              </a:rPr>
              <a:t>tại Công ty TNHH Sơn Hải Vân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5029200"/>
            <a:ext cx="10515600" cy="1097280"/>
          </a:xfrm>
          <a:prstGeom prst="roundRect">
            <a:avLst>
              <a:gd name="adj" fmla="val 6000"/>
            </a:avLst>
          </a:prstGeom>
          <a:solidFill>
            <a:srgbClr val="1840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43000" y="5138928"/>
            <a:ext cx="49377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 i="0">
                <a:solidFill>
                  <a:srgbClr val="6FA287"/>
                </a:solidFill>
                <a:latin typeface="Calibri"/>
              </a:rPr>
              <a:t>Doanh nghiệp:  </a:t>
            </a:r>
            <a:r>
              <a:rPr sz="1450" b="0" i="0">
                <a:solidFill>
                  <a:srgbClr val="FFFFFF"/>
                </a:solidFill>
                <a:latin typeface="Calibri"/>
              </a:rPr>
              <a:t>Công ty TNHH Sơn Hải Vân</a:t>
            </a:r>
          </a:p>
          <a:p>
            <a:pPr algn="l">
              <a:spcAft>
                <a:spcPts val="400"/>
              </a:spcAft>
            </a:pPr>
            <a:r>
              <a:rPr sz="1450" b="1" i="0">
                <a:solidFill>
                  <a:srgbClr val="6FA287"/>
                </a:solidFill>
                <a:latin typeface="Calibri"/>
              </a:rPr>
              <a:t>Sinh viên:  </a:t>
            </a:r>
            <a:r>
              <a:rPr sz="1450" b="0" i="0">
                <a:solidFill>
                  <a:srgbClr val="FFFFFF"/>
                </a:solidFill>
                <a:latin typeface="Calibri"/>
              </a:rPr>
              <a:t>Nhóm 8 SV thực tập</a:t>
            </a:r>
          </a:p>
          <a:p>
            <a:pPr algn="l"/>
            <a:r>
              <a:rPr sz="1450" b="1" i="0">
                <a:solidFill>
                  <a:srgbClr val="6FA287"/>
                </a:solidFill>
                <a:latin typeface="Calibri"/>
              </a:rPr>
              <a:t>Lớp:  </a:t>
            </a:r>
            <a:r>
              <a:rPr sz="1450" b="0" i="0">
                <a:solidFill>
                  <a:srgbClr val="FFFFFF"/>
                </a:solidFill>
                <a:latin typeface="Calibri"/>
              </a:rPr>
              <a:t>DHHO18A–D  ·  Năm học 2025–2026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5138928"/>
            <a:ext cx="47548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 i="0">
                <a:solidFill>
                  <a:srgbClr val="6FA287"/>
                </a:solidFill>
                <a:latin typeface="Calibri"/>
              </a:rPr>
              <a:t>GVHD:  </a:t>
            </a:r>
            <a:r>
              <a:rPr sz="1450" b="0" i="0">
                <a:solidFill>
                  <a:srgbClr val="FFFFFF"/>
                </a:solidFill>
                <a:latin typeface="Calibri"/>
              </a:rPr>
              <a:t>Lê Nhất Thống</a:t>
            </a:r>
          </a:p>
          <a:p>
            <a:pPr algn="l">
              <a:spcAft>
                <a:spcPts val="400"/>
              </a:spcAft>
            </a:pPr>
            <a:r>
              <a:rPr sz="1450" b="1" i="0">
                <a:solidFill>
                  <a:srgbClr val="6FA287"/>
                </a:solidFill>
                <a:latin typeface="Calibri"/>
              </a:rPr>
              <a:t>CBHD:  </a:t>
            </a:r>
            <a:r>
              <a:rPr sz="1450" b="0" i="0">
                <a:solidFill>
                  <a:srgbClr val="FFFFFF"/>
                </a:solidFill>
                <a:latin typeface="Calibri"/>
              </a:rPr>
              <a:t>Lê Quốc</a:t>
            </a:r>
          </a:p>
          <a:p>
            <a:pPr algn="l"/>
            <a:r>
              <a:rPr sz="1350" b="0" i="1">
                <a:solidFill>
                  <a:srgbClr val="6FA287"/>
                </a:solidFill>
                <a:latin typeface="Calibri"/>
              </a:rPr>
              <a:t>TP. Hồ Chí Minh —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931920" cy="6858000"/>
          </a:xfrm>
          <a:prstGeom prst="rect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914400" y="5120640"/>
            <a:ext cx="2377440" cy="2377440"/>
          </a:xfrm>
          <a:prstGeom prst="ellipse">
            <a:avLst/>
          </a:prstGeom>
          <a:solidFill>
            <a:srgbClr val="1840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3108960" y="-731520"/>
            <a:ext cx="1463040" cy="1463040"/>
          </a:xfrm>
          <a:prstGeom prst="ellipse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371600"/>
            <a:ext cx="310896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C88A2E"/>
                </a:solidFill>
                <a:latin typeface="Calibri"/>
              </a:rPr>
              <a:t>NỘI DUNG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3800" b="1" i="0">
                <a:solidFill>
                  <a:srgbClr val="FFFFFF"/>
                </a:solidFill>
                <a:latin typeface="Cambria"/>
              </a:rPr>
              <a:t>Báo cáo</a:t>
            </a:r>
          </a:p>
          <a:p>
            <a:pPr algn="l">
              <a:lnSpc>
                <a:spcPct val="100000"/>
              </a:lnSpc>
              <a:spcAft>
                <a:spcPts val="1400"/>
              </a:spcAft>
            </a:pPr>
            <a:r>
              <a:rPr sz="3800" b="1" i="0">
                <a:solidFill>
                  <a:srgbClr val="FFFFFF"/>
                </a:solidFill>
                <a:latin typeface="Cambria"/>
              </a:rPr>
              <a:t>gồm 6 phần</a:t>
            </a:r>
          </a:p>
          <a:p>
            <a:pPr algn="l">
              <a:lnSpc>
                <a:spcPct val="120000"/>
              </a:lnSpc>
            </a:pPr>
            <a:r>
              <a:rPr sz="1350" b="0" i="0">
                <a:solidFill>
                  <a:srgbClr val="6FA287"/>
                </a:solidFill>
                <a:latin typeface="Calibri"/>
              </a:rPr>
              <a:t>Từ tổng quan doanh nghiệp đến quy trình, chất lượng, sự cố và an toàn – môi trường.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4709160"/>
            <a:ext cx="2926080" cy="1600200"/>
          </a:xfrm>
          <a:prstGeom prst="roundRect">
            <a:avLst>
              <a:gd name="adj" fmla="val 6000"/>
            </a:avLst>
          </a:prstGeom>
          <a:solidFill>
            <a:srgbClr val="1840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paint_can.jpg"/>
          <p:cNvPicPr>
            <a:picLocks noChangeAspect="1"/>
          </p:cNvPicPr>
          <p:nvPr/>
        </p:nvPicPr>
        <p:blipFill>
          <a:blip r:embed="rId2"/>
          <a:srcRect t="12500" b="12500"/>
          <a:stretch>
            <a:fillRect/>
          </a:stretch>
        </p:blipFill>
        <p:spPr>
          <a:xfrm>
            <a:off x="640080" y="4846320"/>
            <a:ext cx="2651760" cy="1325880"/>
          </a:xfrm>
          <a:prstGeom prst="rect">
            <a:avLst/>
          </a:prstGeom>
          <a:ln w="25400">
            <a:solidFill>
              <a:srgbClr val="FFFFFF"/>
            </a:solidFill>
          </a:ln>
          <a:effectLst/>
        </p:spPr>
      </p:pic>
      <p:sp>
        <p:nvSpPr>
          <p:cNvPr id="9" name="Rectangle 8"/>
          <p:cNvSpPr/>
          <p:nvPr/>
        </p:nvSpPr>
        <p:spPr>
          <a:xfrm>
            <a:off x="4828032" y="868680"/>
            <a:ext cx="54864" cy="5212080"/>
          </a:xfrm>
          <a:prstGeom prst="rect">
            <a:avLst/>
          </a:prstGeom>
          <a:solidFill>
            <a:srgbClr val="D5E1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4462272" y="768096"/>
            <a:ext cx="768096" cy="768096"/>
          </a:xfrm>
          <a:prstGeom prst="ellipse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62272" y="768096"/>
            <a:ext cx="768096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mbria"/>
              </a:rPr>
              <a:t/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32120" y="731520"/>
            <a:ext cx="6492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F4E3D"/>
                </a:solidFill>
                <a:latin typeface="Calibri"/>
              </a:rPr>
              <a:t>Tổng quan về công 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32120" y="1188720"/>
            <a:ext cx="6492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5C6B64"/>
                </a:solidFill>
                <a:latin typeface="Calibri"/>
              </a:rPr>
              <a:t>Giới thiệu · sản phẩm · thị trường · quy mô · khách hàng</a:t>
            </a:r>
          </a:p>
        </p:txBody>
      </p:sp>
      <p:sp>
        <p:nvSpPr>
          <p:cNvPr id="14" name="Oval 13"/>
          <p:cNvSpPr/>
          <p:nvPr/>
        </p:nvSpPr>
        <p:spPr>
          <a:xfrm>
            <a:off x="4462272" y="1655064"/>
            <a:ext cx="768096" cy="768096"/>
          </a:xfrm>
          <a:prstGeom prst="ellipse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62272" y="1655064"/>
            <a:ext cx="768096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mbria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532120" y="1618488"/>
            <a:ext cx="6492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F4E3D"/>
                </a:solidFill>
                <a:latin typeface="Calibri"/>
              </a:rPr>
              <a:t>Nguyên vật liệu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32120" y="2075688"/>
            <a:ext cx="6492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5C6B64"/>
                </a:solidFill>
                <a:latin typeface="Calibri"/>
              </a:rPr>
              <a:t>Thành phần · tỷ lệ · cấu trúc hệ sơn tàu biển</a:t>
            </a:r>
          </a:p>
        </p:txBody>
      </p:sp>
      <p:sp>
        <p:nvSpPr>
          <p:cNvPr id="18" name="Oval 17"/>
          <p:cNvSpPr/>
          <p:nvPr/>
        </p:nvSpPr>
        <p:spPr>
          <a:xfrm>
            <a:off x="4462272" y="2542032"/>
            <a:ext cx="768096" cy="768096"/>
          </a:xfrm>
          <a:prstGeom prst="ellipse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462272" y="2542032"/>
            <a:ext cx="768096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mbria"/>
              </a:rPr>
              <a:t/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532120" y="2505456"/>
            <a:ext cx="6492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F4E3D"/>
                </a:solidFill>
                <a:latin typeface="Calibri"/>
              </a:rPr>
              <a:t>Quy trình công nghệ &amp; thiết bị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532120" y="2962656"/>
            <a:ext cx="6492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5C6B64"/>
                </a:solidFill>
                <a:latin typeface="Calibri"/>
              </a:rPr>
              <a:t>Trình tự · thời gian · thiết bị chính</a:t>
            </a:r>
          </a:p>
        </p:txBody>
      </p:sp>
      <p:sp>
        <p:nvSpPr>
          <p:cNvPr id="22" name="Oval 21"/>
          <p:cNvSpPr/>
          <p:nvPr/>
        </p:nvSpPr>
        <p:spPr>
          <a:xfrm>
            <a:off x="4462272" y="3429000"/>
            <a:ext cx="768096" cy="768096"/>
          </a:xfrm>
          <a:prstGeom prst="ellipse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462272" y="3429000"/>
            <a:ext cx="768096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mbria"/>
              </a:rPr>
              <a:t/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532120" y="3392424"/>
            <a:ext cx="6492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F4E3D"/>
                </a:solidFill>
                <a:latin typeface="Calibri"/>
              </a:rPr>
              <a:t>Kiểm soát chất lượng (KCS)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532120" y="3849624"/>
            <a:ext cx="6492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5C6B64"/>
                </a:solidFill>
                <a:latin typeface="Calibri"/>
              </a:rPr>
              <a:t>Kiểm tra tại xưởng · phòng lab · sơn tàu biển</a:t>
            </a:r>
          </a:p>
        </p:txBody>
      </p:sp>
      <p:sp>
        <p:nvSpPr>
          <p:cNvPr id="26" name="Oval 25"/>
          <p:cNvSpPr/>
          <p:nvPr/>
        </p:nvSpPr>
        <p:spPr>
          <a:xfrm>
            <a:off x="4462272" y="4315968"/>
            <a:ext cx="768096" cy="768096"/>
          </a:xfrm>
          <a:prstGeom prst="ellipse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462272" y="4315968"/>
            <a:ext cx="768096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mbria"/>
              </a:rPr>
              <a:t/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532120" y="4279392"/>
            <a:ext cx="6492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F4E3D"/>
                </a:solidFill>
                <a:latin typeface="Calibri"/>
              </a:rPr>
              <a:t>Những sự cố thường gặp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532120" y="4736592"/>
            <a:ext cx="6492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5C6B64"/>
                </a:solidFill>
                <a:latin typeface="Calibri"/>
              </a:rPr>
              <a:t>Nhận diện · nguyên nhân · biện pháp xử lý</a:t>
            </a:r>
          </a:p>
        </p:txBody>
      </p:sp>
      <p:sp>
        <p:nvSpPr>
          <p:cNvPr id="30" name="Oval 29"/>
          <p:cNvSpPr/>
          <p:nvPr/>
        </p:nvSpPr>
        <p:spPr>
          <a:xfrm>
            <a:off x="4462272" y="5202936"/>
            <a:ext cx="768096" cy="768096"/>
          </a:xfrm>
          <a:prstGeom prst="ellipse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462272" y="5202936"/>
            <a:ext cx="768096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mbria"/>
              </a:rPr>
              <a:t/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532120" y="5166359"/>
            <a:ext cx="6492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F4E3D"/>
                </a:solidFill>
                <a:latin typeface="Calibri"/>
              </a:rPr>
              <a:t>An toàn lao động &amp; môi trường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532120" y="5623560"/>
            <a:ext cx="6492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5C6B64"/>
                </a:solidFill>
                <a:latin typeface="Calibri"/>
              </a:rPr>
              <a:t>PCCC · dung môi/VOC · xử lý khí thải – nước thải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972800" y="6473952"/>
            <a:ext cx="7315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2C7A5A"/>
                </a:solidFill>
                <a:latin typeface="Calibri"/>
              </a:rPr>
              <a:t>2</a:t>
            </a:r>
          </a:p>
        </p:txBody>
      </p:sp>
      <p:pic>
        <p:nvPicPr>
          <p:cNvPr id="124" name="Picture 123" descr="company_w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ns0:svgBlip xmlns:ns0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4638935" y="944759"/>
            <a:ext cx="414771" cy="414771"/>
          </a:xfrm>
          <a:prstGeom prst="rect">
            <a:avLst/>
          </a:prstGeom>
        </p:spPr>
      </p:pic>
      <p:pic>
        <p:nvPicPr>
          <p:cNvPr id="125" name="Picture 124" descr="materials_w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ns1:svgBlip xmlns:ns1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4638935" y="1831727"/>
            <a:ext cx="414771" cy="414771"/>
          </a:xfrm>
          <a:prstGeom prst="rect">
            <a:avLst/>
          </a:prstGeom>
        </p:spPr>
      </p:pic>
      <p:pic>
        <p:nvPicPr>
          <p:cNvPr id="126" name="Picture 125" descr="gear_proc_w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ns2:svgBlip xmlns:ns2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4638935" y="2718695"/>
            <a:ext cx="414771" cy="414771"/>
          </a:xfrm>
          <a:prstGeom prst="rect">
            <a:avLst/>
          </a:prstGeom>
        </p:spPr>
      </p:pic>
      <p:pic>
        <p:nvPicPr>
          <p:cNvPr id="127" name="Picture 126" descr="quality_check_w.png"/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ns3:svgBlip xmlns:ns3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4638935" y="3605663"/>
            <a:ext cx="414771" cy="414771"/>
          </a:xfrm>
          <a:prstGeom prst="rect">
            <a:avLst/>
          </a:prstGeom>
        </p:spPr>
      </p:pic>
      <p:pic>
        <p:nvPicPr>
          <p:cNvPr id="128" name="Picture 127" descr="warning_tri_g.png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ns4:svgBlip xmlns:ns4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4638935" y="4492631"/>
            <a:ext cx="414771" cy="414771"/>
          </a:xfrm>
          <a:prstGeom prst="rect">
            <a:avLst/>
          </a:prstGeom>
        </p:spPr>
      </p:pic>
      <p:pic>
        <p:nvPicPr>
          <p:cNvPr id="129" name="Picture 128" descr="safety_shield_w.png"/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ns5:svgBlip xmlns:ns5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4638935" y="5379599"/>
            <a:ext cx="414771" cy="414771"/>
          </a:xfrm>
          <a:prstGeom prst="rect">
            <a:avLst/>
          </a:prstGeom>
        </p:spPr>
      </p:pic>
      <p:pic>
        <p:nvPicPr>
          <p:cNvPr id="130" name="Picture 129" descr="imag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ns0:svgBlip xmlns:ns0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4638935" y="944759"/>
            <a:ext cx="414771" cy="414771"/>
          </a:xfrm>
          <a:prstGeom prst="rect">
            <a:avLst/>
          </a:prstGeom>
        </p:spPr>
      </p:pic>
      <p:pic>
        <p:nvPicPr>
          <p:cNvPr id="131" name="Picture 130" descr="image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ns1:svgBlip xmlns:ns1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4638935" y="1831727"/>
            <a:ext cx="414771" cy="414771"/>
          </a:xfrm>
          <a:prstGeom prst="rect">
            <a:avLst/>
          </a:prstGeom>
        </p:spPr>
      </p:pic>
      <p:pic>
        <p:nvPicPr>
          <p:cNvPr id="132" name="Picture 131" descr="image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ns2:svgBlip xmlns:ns2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4638935" y="2718695"/>
            <a:ext cx="414771" cy="414771"/>
          </a:xfrm>
          <a:prstGeom prst="rect">
            <a:avLst/>
          </a:prstGeom>
        </p:spPr>
      </p:pic>
      <p:pic>
        <p:nvPicPr>
          <p:cNvPr id="133" name="Picture 132" descr="image.png"/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ns3:svgBlip xmlns:ns3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4638935" y="3605663"/>
            <a:ext cx="414771" cy="414771"/>
          </a:xfrm>
          <a:prstGeom prst="rect">
            <a:avLst/>
          </a:prstGeom>
        </p:spPr>
      </p:pic>
      <p:pic>
        <p:nvPicPr>
          <p:cNvPr id="134" name="Picture 133" descr="image.png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ns4:svgBlip xmlns:ns4="http://schemas.microsoft.com/office/drawing/2016/SVG/main" r:embed="rId20"/>
              </a:ext>
            </a:extLst>
          </a:blip>
          <a:stretch>
            <a:fillRect/>
          </a:stretch>
        </p:blipFill>
        <p:spPr>
          <a:xfrm>
            <a:off x="4638935" y="4492631"/>
            <a:ext cx="414771" cy="414771"/>
          </a:xfrm>
          <a:prstGeom prst="rect">
            <a:avLst/>
          </a:prstGeom>
        </p:spPr>
      </p:pic>
      <p:pic>
        <p:nvPicPr>
          <p:cNvPr id="135" name="Picture 134" descr="image.png"/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ns5:svgBlip xmlns:ns5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4638935" y="5379599"/>
            <a:ext cx="414771" cy="414771"/>
          </a:xfrm>
          <a:prstGeom prst="rect">
            <a:avLst/>
          </a:prstGeom>
        </p:spPr>
      </p:pic>
      <p:pic>
        <p:nvPicPr>
          <p:cNvPr id="136" name="Picture 135" descr="imag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ns0:svgBlip xmlns:ns0="http://schemas.microsoft.com/office/drawing/2016/SVG/main" r:embed="rId21"/>
              </a:ext>
            </a:extLst>
          </a:blip>
          <a:stretch>
            <a:fillRect/>
          </a:stretch>
        </p:blipFill>
        <p:spPr>
          <a:xfrm>
            <a:off x="4638935" y="944759"/>
            <a:ext cx="414771" cy="414771"/>
          </a:xfrm>
          <a:prstGeom prst="rect">
            <a:avLst/>
          </a:prstGeom>
        </p:spPr>
      </p:pic>
      <p:pic>
        <p:nvPicPr>
          <p:cNvPr id="137" name="Picture 136" descr="image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ns1:svgBlip xmlns:ns1="http://schemas.microsoft.com/office/drawing/2016/SVG/main" r:embed="rId23"/>
              </a:ext>
            </a:extLst>
          </a:blip>
          <a:stretch>
            <a:fillRect/>
          </a:stretch>
        </p:blipFill>
        <p:spPr>
          <a:xfrm>
            <a:off x="4638935" y="1831727"/>
            <a:ext cx="414771" cy="414771"/>
          </a:xfrm>
          <a:prstGeom prst="rect">
            <a:avLst/>
          </a:prstGeom>
        </p:spPr>
      </p:pic>
      <p:pic>
        <p:nvPicPr>
          <p:cNvPr id="138" name="Picture 137" descr="image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ns2:svgBlip xmlns:ns2="http://schemas.microsoft.com/office/drawing/2016/SVG/main" r:embed="rId22"/>
              </a:ext>
            </a:extLst>
          </a:blip>
          <a:stretch>
            <a:fillRect/>
          </a:stretch>
        </p:blipFill>
        <p:spPr>
          <a:xfrm>
            <a:off x="4638935" y="2718695"/>
            <a:ext cx="414771" cy="414771"/>
          </a:xfrm>
          <a:prstGeom prst="rect">
            <a:avLst/>
          </a:prstGeom>
        </p:spPr>
      </p:pic>
      <p:pic>
        <p:nvPicPr>
          <p:cNvPr id="139" name="Picture 138" descr="image.png"/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ns3:svgBlip xmlns:ns3="http://schemas.microsoft.com/office/drawing/2016/SVG/main" r:embed="rId24"/>
              </a:ext>
            </a:extLst>
          </a:blip>
          <a:stretch>
            <a:fillRect/>
          </a:stretch>
        </p:blipFill>
        <p:spPr>
          <a:xfrm>
            <a:off x="4638935" y="3605663"/>
            <a:ext cx="414771" cy="414771"/>
          </a:xfrm>
          <a:prstGeom prst="rect">
            <a:avLst/>
          </a:prstGeom>
        </p:spPr>
      </p:pic>
      <p:pic>
        <p:nvPicPr>
          <p:cNvPr id="140" name="Picture 139" descr="image.png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ns4:svgBlip xmlns:ns4="http://schemas.microsoft.com/office/drawing/2016/SVG/main" r:embed="rId26"/>
              </a:ext>
            </a:extLst>
          </a:blip>
          <a:stretch>
            <a:fillRect/>
          </a:stretch>
        </p:blipFill>
        <p:spPr>
          <a:xfrm>
            <a:off x="4638935" y="4492631"/>
            <a:ext cx="414771" cy="414771"/>
          </a:xfrm>
          <a:prstGeom prst="rect">
            <a:avLst/>
          </a:prstGeom>
        </p:spPr>
      </p:pic>
      <p:pic>
        <p:nvPicPr>
          <p:cNvPr id="141" name="Picture 140" descr="image.png"/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ns5:svgBlip xmlns:ns5="http://schemas.microsoft.com/office/drawing/2016/SVG/main" r:embed="rId25"/>
              </a:ext>
            </a:extLst>
          </a:blip>
          <a:stretch>
            <a:fillRect/>
          </a:stretch>
        </p:blipFill>
        <p:spPr>
          <a:xfrm>
            <a:off x="4638935" y="5379599"/>
            <a:ext cx="414771" cy="414771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2" dur="indefinite" restart="never" nodeType="tmRoot">
          <p:childTnLst>
            <p:seq concurrent="1" nextAc="seek">
              <p:cTn id="3" dur="indefinite" nodeType="mainSeq">
                <p:childTnLst>
                  <p:par>
                    <p:cTn id="4" fill="hold">
                      <p:stCondLst>
                        <p:cond delay="0"/>
                      </p:stCondLst>
                      <p:childTnLst>
                        <p:par>
                          <p:cTn id="5" presetID="2" presetClass="entr" presetSubtype="8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7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ppt_x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x-0.4"/>
                                    </p:val>
                                  </p:tav>
                                  <p:tav tm="100000">
                                    <p:val>
                                      <p:strVal val="#ppt_x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8" dur="50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90"/>
                      </p:stCondLst>
                      <p:childTnLst>
                        <p:par>
                          <p:cTn id="10" presetID="2" presetClass="entr" presetSubtype="8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12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ppt_x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x-0.4"/>
                                    </p:val>
                                  </p:tav>
                                  <p:tav tm="100000">
                                    <p:val>
                                      <p:strVal val="#ppt_x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13" dur="50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180"/>
                      </p:stCondLst>
                      <p:childTnLst>
                        <p:par>
                          <p:cTn id="15" presetID="2" presetClass="entr" presetSubtype="8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17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ppt_x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x-0.4"/>
                                    </p:val>
                                  </p:tav>
                                  <p:tav tm="100000">
                                    <p:val>
                                      <p:strVal val="#ppt_x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18" dur="50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270"/>
                      </p:stCondLst>
                      <p:childTnLst>
                        <p:par>
                          <p:cTn id="20" presetID="2" presetClass="entr" presetSubtype="8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22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ppt_x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x-0.4"/>
                                    </p:val>
                                  </p:tav>
                                  <p:tav tm="100000">
                                    <p:val>
                                      <p:strVal val="#ppt_x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23" dur="50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0"/>
                      </p:stCondLst>
                      <p:childTnLst>
                        <p:par>
                          <p:cTn id="25" presetID="2" presetClass="entr" presetSubtype="8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27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ppt_x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x-0.4"/>
                                    </p:val>
                                  </p:tav>
                                  <p:tav tm="100000">
                                    <p:val>
                                      <p:strVal val="#ppt_x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28" dur="50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90"/>
                      </p:stCondLst>
                      <p:childTnLst>
                        <p:par>
                          <p:cTn id="30" presetID="2" presetClass="entr" presetSubtype="8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32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ppt_x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x-0.4"/>
                                    </p:val>
                                  </p:tav>
                                  <p:tav tm="100000">
                                    <p:val>
                                      <p:strVal val="#ppt_x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33" dur="50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180"/>
                      </p:stCondLst>
                      <p:childTnLst>
                        <p:par>
                          <p:cTn id="35" presetID="2" presetClass="entr" presetSubtype="8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3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37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ppt_x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x-0.4"/>
                                    </p:val>
                                  </p:tav>
                                  <p:tav tm="100000">
                                    <p:val>
                                      <p:strVal val="#ppt_x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38" dur="50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270"/>
                      </p:stCondLst>
                      <p:childTnLst>
                        <p:par>
                          <p:cTn id="40" presetID="2" presetClass="entr" presetSubtype="8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4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42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ppt_x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x-0.4"/>
                                    </p:val>
                                  </p:tav>
                                  <p:tav tm="100000">
                                    <p:val>
                                      <p:strVal val="#ppt_x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43" dur="50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0"/>
                      </p:stCondLst>
                      <p:childTnLst>
                        <p:par>
                          <p:cTn id="45" presetID="2" presetClass="entr" presetSubtype="8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4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47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ppt_x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x-0.4"/>
                                    </p:val>
                                  </p:tav>
                                  <p:tav tm="100000">
                                    <p:val>
                                      <p:strVal val="#ppt_x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48" dur="50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90"/>
                      </p:stCondLst>
                      <p:childTnLst>
                        <p:par>
                          <p:cTn id="50" presetID="2" presetClass="entr" presetSubtype="8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52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ppt_x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x-0.4"/>
                                    </p:val>
                                  </p:tav>
                                  <p:tav tm="100000">
                                    <p:val>
                                      <p:strVal val="#ppt_x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53" dur="50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180"/>
                      </p:stCondLst>
                      <p:childTnLst>
                        <p:par>
                          <p:cTn id="55" presetID="2" presetClass="entr" presetSubtype="8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57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0"/>
                                  </p:tgtEl>
                                  <p:attrNameLst>
                                    <p:attrName>ppt_x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x-0.4"/>
                                    </p:val>
                                  </p:tav>
                                  <p:tav tm="100000">
                                    <p:val>
                                      <p:strVal val="#ppt_x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58" dur="500"/>
                                  <p:tgtEl>
                                    <p:spTgt spid="2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270"/>
                      </p:stCondLst>
                      <p:childTnLst>
                        <p:par>
                          <p:cTn id="60" presetID="2" presetClass="entr" presetSubtype="8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62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ppt_x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x-0.4"/>
                                    </p:val>
                                  </p:tav>
                                  <p:tav tm="100000">
                                    <p:val>
                                      <p:strVal val="#ppt_x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63" dur="500"/>
                                  <p:tgtEl>
                                    <p:spTgt spid="21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64" fill="hold">
                      <p:stCondLst>
                        <p:cond delay="0"/>
                      </p:stCondLst>
                      <p:childTnLst>
                        <p:par>
                          <p:cTn id="65" presetID="2" presetClass="entr" presetSubtype="8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67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ppt_x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x-0.4"/>
                                    </p:val>
                                  </p:tav>
                                  <p:tav tm="100000">
                                    <p:val>
                                      <p:strVal val="#ppt_x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68" dur="500"/>
                                  <p:tgtEl>
                                    <p:spTgt spid="22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90"/>
                      </p:stCondLst>
                      <p:childTnLst>
                        <p:par>
                          <p:cTn id="70" presetID="2" presetClass="entr" presetSubtype="8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7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72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3"/>
                                  </p:tgtEl>
                                  <p:attrNameLst>
                                    <p:attrName>ppt_x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x-0.4"/>
                                    </p:val>
                                  </p:tav>
                                  <p:tav tm="100000">
                                    <p:val>
                                      <p:strVal val="#ppt_x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73" dur="500"/>
                                  <p:tgtEl>
                                    <p:spTgt spid="23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74" fill="hold">
                      <p:stCondLst>
                        <p:cond delay="180"/>
                      </p:stCondLst>
                      <p:childTnLst>
                        <p:par>
                          <p:cTn id="75" presetID="2" presetClass="entr" presetSubtype="8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7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77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4"/>
                                  </p:tgtEl>
                                  <p:attrNameLst>
                                    <p:attrName>ppt_x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x-0.4"/>
                                    </p:val>
                                  </p:tav>
                                  <p:tav tm="100000">
                                    <p:val>
                                      <p:strVal val="#ppt_x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78" dur="500"/>
                                  <p:tgtEl>
                                    <p:spTgt spid="2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79" fill="hold">
                      <p:stCondLst>
                        <p:cond delay="270"/>
                      </p:stCondLst>
                      <p:childTnLst>
                        <p:par>
                          <p:cTn id="80" presetID="2" presetClass="entr" presetSubtype="8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8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82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5"/>
                                  </p:tgtEl>
                                  <p:attrNameLst>
                                    <p:attrName>ppt_x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x-0.4"/>
                                    </p:val>
                                  </p:tav>
                                  <p:tav tm="100000">
                                    <p:val>
                                      <p:strVal val="#ppt_x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83" dur="500"/>
                                  <p:tgtEl>
                                    <p:spTgt spid="2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84" fill="hold">
                      <p:stCondLst>
                        <p:cond delay="0"/>
                      </p:stCondLst>
                      <p:childTnLst>
                        <p:par>
                          <p:cTn id="85" presetID="2" presetClass="entr" presetSubtype="8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8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87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6"/>
                                  </p:tgtEl>
                                  <p:attrNameLst>
                                    <p:attrName>ppt_x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x-0.4"/>
                                    </p:val>
                                  </p:tav>
                                  <p:tav tm="100000">
                                    <p:val>
                                      <p:strVal val="#ppt_x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88" dur="500"/>
                                  <p:tgtEl>
                                    <p:spTgt spid="2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89" fill="hold">
                      <p:stCondLst>
                        <p:cond delay="90"/>
                      </p:stCondLst>
                      <p:childTnLst>
                        <p:par>
                          <p:cTn id="90" presetID="2" presetClass="entr" presetSubtype="8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9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92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7"/>
                                  </p:tgtEl>
                                  <p:attrNameLst>
                                    <p:attrName>ppt_x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x-0.4"/>
                                    </p:val>
                                  </p:tav>
                                  <p:tav tm="100000">
                                    <p:val>
                                      <p:strVal val="#ppt_x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93" dur="500"/>
                                  <p:tgtEl>
                                    <p:spTgt spid="2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94" fill="hold">
                      <p:stCondLst>
                        <p:cond delay="180"/>
                      </p:stCondLst>
                      <p:childTnLst>
                        <p:par>
                          <p:cTn id="95" presetID="2" presetClass="entr" presetSubtype="8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9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97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8"/>
                                  </p:tgtEl>
                                  <p:attrNameLst>
                                    <p:attrName>ppt_x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x-0.4"/>
                                    </p:val>
                                  </p:tav>
                                  <p:tav tm="100000">
                                    <p:val>
                                      <p:strVal val="#ppt_x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98" dur="500"/>
                                  <p:tgtEl>
                                    <p:spTgt spid="2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99" fill="hold">
                      <p:stCondLst>
                        <p:cond delay="270"/>
                      </p:stCondLst>
                      <p:childTnLst>
                        <p:par>
                          <p:cTn id="100" presetID="2" presetClass="entr" presetSubtype="8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0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102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9"/>
                                  </p:tgtEl>
                                  <p:attrNameLst>
                                    <p:attrName>ppt_x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x-0.4"/>
                                    </p:val>
                                  </p:tav>
                                  <p:tav tm="100000">
                                    <p:val>
                                      <p:strVal val="#ppt_x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103" dur="500"/>
                                  <p:tgtEl>
                                    <p:spTgt spid="2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104" fill="hold">
                      <p:stCondLst>
                        <p:cond delay="0"/>
                      </p:stCondLst>
                      <p:childTnLst>
                        <p:par>
                          <p:cTn id="105" presetID="2" presetClass="entr" presetSubtype="8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0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107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0"/>
                                  </p:tgtEl>
                                  <p:attrNameLst>
                                    <p:attrName>ppt_x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x-0.4"/>
                                    </p:val>
                                  </p:tav>
                                  <p:tav tm="100000">
                                    <p:val>
                                      <p:strVal val="#ppt_x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108" dur="500"/>
                                  <p:tgtEl>
                                    <p:spTgt spid="3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109" fill="hold">
                      <p:stCondLst>
                        <p:cond delay="90"/>
                      </p:stCondLst>
                      <p:childTnLst>
                        <p:par>
                          <p:cTn id="110" presetID="2" presetClass="entr" presetSubtype="8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112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1"/>
                                  </p:tgtEl>
                                  <p:attrNameLst>
                                    <p:attrName>ppt_x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x-0.4"/>
                                    </p:val>
                                  </p:tav>
                                  <p:tav tm="100000">
                                    <p:val>
                                      <p:strVal val="#ppt_x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113" dur="500"/>
                                  <p:tgtEl>
                                    <p:spTgt spid="31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114" fill="hold">
                      <p:stCondLst>
                        <p:cond delay="180"/>
                      </p:stCondLst>
                      <p:childTnLst>
                        <p:par>
                          <p:cTn id="115" presetID="2" presetClass="entr" presetSubtype="8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117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2"/>
                                  </p:tgtEl>
                                  <p:attrNameLst>
                                    <p:attrName>ppt_x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x-0.4"/>
                                    </p:val>
                                  </p:tav>
                                  <p:tav tm="100000">
                                    <p:val>
                                      <p:strVal val="#ppt_x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118" dur="500"/>
                                  <p:tgtEl>
                                    <p:spTgt spid="32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119" fill="hold">
                      <p:stCondLst>
                        <p:cond delay="270"/>
                      </p:stCondLst>
                      <p:childTnLst>
                        <p:par>
                          <p:cTn id="120" presetID="2" presetClass="entr" presetSubtype="8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122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3"/>
                                  </p:tgtEl>
                                  <p:attrNameLst>
                                    <p:attrName>ppt_x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x-0.4"/>
                                    </p:val>
                                  </p:tav>
                                  <p:tav tm="100000">
                                    <p:val>
                                      <p:strVal val="#ppt_x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123" dur="500"/>
                                  <p:tgtEl>
                                    <p:spTgt spid="33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097280" y="5120640"/>
            <a:ext cx="2743200" cy="2743200"/>
          </a:xfrm>
          <a:prstGeom prst="ellipse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22960" y="960120"/>
            <a:ext cx="1234440" cy="1234440"/>
          </a:xfrm>
          <a:prstGeom prst="ellipse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960120"/>
            <a:ext cx="1234440" cy="12344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468880"/>
            <a:ext cx="5669280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6FA287"/>
                </a:solidFill>
                <a:latin typeface="Calibri"/>
              </a:rPr>
              <a:t>PHẦN 1</a:t>
            </a:r>
          </a:p>
          <a:p>
            <a:pPr algn="l">
              <a:lnSpc>
                <a:spcPct val="103000"/>
              </a:lnSpc>
              <a:spcAft>
                <a:spcPts val="800"/>
              </a:spcAft>
            </a:pPr>
            <a:r>
              <a:rPr sz="3400" b="1" i="0">
                <a:solidFill>
                  <a:srgbClr val="FFFFFF"/>
                </a:solidFill>
                <a:latin typeface="Cambria"/>
              </a:rPr>
              <a:t>Tổng quan về công ty</a:t>
            </a:r>
          </a:p>
          <a:p>
            <a:pPr algn="l">
              <a:lnSpc>
                <a:spcPct val="110000"/>
              </a:lnSpc>
            </a:pPr>
            <a:r>
              <a:rPr sz="1400" b="0" i="0">
                <a:solidFill>
                  <a:srgbClr val="6FA287"/>
                </a:solidFill>
                <a:latin typeface="Calibri"/>
              </a:rPr>
              <a:t>Giới thiệu · sản phẩm · thị trường · quy mô · khách hàng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720840" y="960120"/>
            <a:ext cx="4937760" cy="4937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marine_hull.jpg"/>
          <p:cNvPicPr>
            <a:picLocks noChangeAspect="1"/>
          </p:cNvPicPr>
          <p:nvPr/>
        </p:nvPicPr>
        <p:blipFill>
          <a:blip r:embed="rId2"/>
          <a:srcRect l="17500" r="17500"/>
          <a:stretch>
            <a:fillRect/>
          </a:stretch>
        </p:blipFill>
        <p:spPr>
          <a:xfrm>
            <a:off x="6858000" y="1097280"/>
            <a:ext cx="4663440" cy="4663440"/>
          </a:xfrm>
          <a:prstGeom prst="rect">
            <a:avLst/>
          </a:prstGeom>
          <a:ln w="25400">
            <a:solidFill>
              <a:srgbClr val="FFFFFF"/>
            </a:solidFill>
          </a:ln>
          <a:effectLst/>
        </p:spPr>
      </p:pic>
      <p:sp>
        <p:nvSpPr>
          <p:cNvPr id="9" name="TextBox 8"/>
          <p:cNvSpPr txBox="1"/>
          <p:nvPr/>
        </p:nvSpPr>
        <p:spPr>
          <a:xfrm>
            <a:off x="6720840" y="6035040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6FA287"/>
                </a:solidFill>
                <a:latin typeface="Calibri"/>
              </a:rPr>
              <a:t>Ảnh: U.S. Navy (Public Domain) — minh họa sơn tàu biển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206240" cy="6858000"/>
          </a:xfrm>
          <a:prstGeom prst="rect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914400" y="5212080"/>
            <a:ext cx="2377440" cy="2377440"/>
          </a:xfrm>
          <a:prstGeom prst="ellipse">
            <a:avLst/>
          </a:prstGeom>
          <a:solidFill>
            <a:srgbClr val="1840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3383280" y="-731520"/>
            <a:ext cx="1371600" cy="1371600"/>
          </a:xfrm>
          <a:prstGeom prst="ellipse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822960"/>
            <a:ext cx="338328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C88A2E"/>
                </a:solidFill>
                <a:latin typeface="Calibri"/>
              </a:rPr>
              <a:t>1. TỔNG QUAN</a:t>
            </a:r>
          </a:p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FFFFFF"/>
                </a:solidFill>
                <a:latin typeface="Cambria"/>
              </a:rPr>
              <a:t>Công ty</a:t>
            </a:r>
          </a:p>
          <a:p>
            <a:pPr algn="l">
              <a:lnSpc>
                <a:spcPct val="100000"/>
              </a:lnSpc>
              <a:spcAft>
                <a:spcPts val="1000"/>
              </a:spcAft>
            </a:pPr>
            <a:r>
              <a:rPr sz="3000" b="1" i="0">
                <a:solidFill>
                  <a:srgbClr val="FFFFFF"/>
                </a:solidFill>
                <a:latin typeface="Cambria"/>
              </a:rPr>
              <a:t>Sơn Hải Vân</a:t>
            </a:r>
          </a:p>
          <a:p>
            <a:pPr algn="l">
              <a:lnSpc>
                <a:spcPct val="120000"/>
              </a:lnSpc>
            </a:pPr>
            <a:r>
              <a:rPr sz="1350" b="0" i="0">
                <a:solidFill>
                  <a:srgbClr val="6FA287"/>
                </a:solidFill>
                <a:latin typeface="Calibri"/>
              </a:rPr>
              <a:t>Sản xuất sơn công nghiệp &amp; sơn tàu biển bảo vệ chuyên dụng.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4160520"/>
            <a:ext cx="3200400" cy="2148840"/>
          </a:xfrm>
          <a:prstGeom prst="roundRect">
            <a:avLst>
              <a:gd name="adj" fmla="val 6000"/>
            </a:avLst>
          </a:prstGeom>
          <a:solidFill>
            <a:srgbClr val="1840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paint_can.jpg"/>
          <p:cNvPicPr>
            <a:picLocks noChangeAspect="1"/>
          </p:cNvPicPr>
          <p:nvPr/>
        </p:nvPicPr>
        <p:blipFill>
          <a:blip r:embed="rId2"/>
          <a:srcRect t="2031" b="2031"/>
          <a:stretch>
            <a:fillRect/>
          </a:stretch>
        </p:blipFill>
        <p:spPr>
          <a:xfrm>
            <a:off x="640080" y="4297680"/>
            <a:ext cx="2926080" cy="1874519"/>
          </a:xfrm>
          <a:prstGeom prst="rect">
            <a:avLst/>
          </a:prstGeom>
          <a:ln w="25400">
            <a:solidFill>
              <a:srgbClr val="FFFFFF"/>
            </a:solidFill>
          </a:ln>
          <a:effectLst/>
        </p:spPr>
      </p:pic>
      <p:sp>
        <p:nvSpPr>
          <p:cNvPr id="9" name="Rounded Rectangle 8"/>
          <p:cNvSpPr/>
          <p:nvPr/>
        </p:nvSpPr>
        <p:spPr>
          <a:xfrm>
            <a:off x="4663440" y="1417320"/>
            <a:ext cx="6949440" cy="1417320"/>
          </a:xfrm>
          <a:prstGeom prst="roundRect">
            <a:avLst>
              <a:gd name="adj" fmla="val 6000"/>
            </a:avLst>
          </a:prstGeom>
          <a:solidFill>
            <a:srgbClr val="EEF4F0"/>
          </a:solidFill>
          <a:ln w="12700">
            <a:solidFill>
              <a:srgbClr val="D5E1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663440" y="1417320"/>
            <a:ext cx="146304" cy="1417320"/>
          </a:xfrm>
          <a:prstGeom prst="roundRect">
            <a:avLst>
              <a:gd name="adj" fmla="val 6000"/>
            </a:avLst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709200" y="1600200"/>
            <a:ext cx="4720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F4E3D"/>
                </a:solidFill>
                <a:latin typeface="Calibri"/>
              </a:rPr>
              <a:t>Lịch sử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09200" y="2057400"/>
            <a:ext cx="4720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50" b="0" i="0">
                <a:solidFill>
                  <a:srgbClr val="222B28"/>
                </a:solidFill>
                <a:latin typeface="Calibri"/>
              </a:rPr>
              <a:t>Thành lập 2008, chính thức sản xuất từ 2009 (ĐKKD Sở KH&amp;ĐT TP.HCM).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63440" y="2999232"/>
            <a:ext cx="6949440" cy="1417320"/>
          </a:xfrm>
          <a:prstGeom prst="roundRect">
            <a:avLst>
              <a:gd name="adj" fmla="val 6000"/>
            </a:avLst>
          </a:prstGeom>
          <a:solidFill>
            <a:srgbClr val="EEF4F0"/>
          </a:solidFill>
          <a:ln w="12700">
            <a:solidFill>
              <a:srgbClr val="D5E1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63440" y="2999232"/>
            <a:ext cx="146304" cy="1417320"/>
          </a:xfrm>
          <a:prstGeom prst="roundRect">
            <a:avLst>
              <a:gd name="adj" fmla="val 6000"/>
            </a:avLst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709200" y="3182112"/>
            <a:ext cx="4720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C88A2E"/>
                </a:solidFill>
                <a:latin typeface="Calibri"/>
              </a:rPr>
              <a:t>Sản phẩm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09200" y="3639312"/>
            <a:ext cx="4720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50" b="0" i="0">
                <a:solidFill>
                  <a:srgbClr val="222B28"/>
                </a:solidFill>
                <a:latin typeface="Calibri"/>
              </a:rPr>
              <a:t>Sơn chống ăn mòn, chống cháy, bảo vệ công trình &amp; hàng hải; kèm hóa chất, chất phủ.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663440" y="4581144"/>
            <a:ext cx="6949440" cy="1417320"/>
          </a:xfrm>
          <a:prstGeom prst="roundRect">
            <a:avLst>
              <a:gd name="adj" fmla="val 6000"/>
            </a:avLst>
          </a:prstGeom>
          <a:solidFill>
            <a:srgbClr val="EEF4F0"/>
          </a:solidFill>
          <a:ln w="12700">
            <a:solidFill>
              <a:srgbClr val="D5E1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663440" y="4581144"/>
            <a:ext cx="146304" cy="1417320"/>
          </a:xfrm>
          <a:prstGeom prst="roundRect">
            <a:avLst>
              <a:gd name="adj" fmla="val 6000"/>
            </a:avLst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09200" y="4764024"/>
            <a:ext cx="4720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2C7A5A"/>
                </a:solidFill>
                <a:latin typeface="Calibri"/>
              </a:rPr>
              <a:t>Quy mô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09200" y="5221224"/>
            <a:ext cx="4720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50" b="0" i="0">
                <a:solidFill>
                  <a:srgbClr val="222B28"/>
                </a:solidFill>
                <a:latin typeface="Calibri"/>
              </a:rPr>
              <a:t>Doanh nghiệp sản xuất vừa (SME) · mô hình B2B · nhà máy tại Long An.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473952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2C7A5A"/>
                </a:solidFill>
                <a:latin typeface="Calibri"/>
              </a:rPr>
              <a:t>4</a:t>
            </a:r>
          </a:p>
        </p:txBody>
      </p:sp>
      <p:pic>
        <p:nvPicPr>
          <p:cNvPr id="64" name="Picture 63" descr="history_clock_g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ns0:svgBlip xmlns:ns0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813440" y="1905980"/>
            <a:ext cx="440000" cy="440000"/>
          </a:xfrm>
          <a:prstGeom prst="rect">
            <a:avLst/>
          </a:prstGeom>
        </p:spPr>
      </p:pic>
      <p:pic>
        <p:nvPicPr>
          <p:cNvPr id="65" name="Picture 64" descr="paint_can_g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ns1:svgBlip xmlns:ns1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4813440" y="3487892"/>
            <a:ext cx="440000" cy="440000"/>
          </a:xfrm>
          <a:prstGeom prst="rect">
            <a:avLst/>
          </a:prstGeom>
        </p:spPr>
      </p:pic>
      <p:pic>
        <p:nvPicPr>
          <p:cNvPr id="66" name="Picture 65" descr="factory_g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ns2:svgBlip xmlns:ns2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813440" y="5069804"/>
            <a:ext cx="440000" cy="440000"/>
          </a:xfrm>
          <a:prstGeom prst="rect">
            <a:avLst/>
          </a:prstGeom>
        </p:spPr>
      </p:pic>
      <p:pic>
        <p:nvPicPr>
          <p:cNvPr id="67" name="Picture 66" descr="imag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ns0:svgBlip xmlns:ns0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4813440" y="1905980"/>
            <a:ext cx="440000" cy="440000"/>
          </a:xfrm>
          <a:prstGeom prst="rect">
            <a:avLst/>
          </a:prstGeom>
        </p:spPr>
      </p:pic>
      <p:pic>
        <p:nvPicPr>
          <p:cNvPr id="68" name="Picture 67" descr="image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ns1:svgBlip xmlns:ns1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4813440" y="3487892"/>
            <a:ext cx="440000" cy="440000"/>
          </a:xfrm>
          <a:prstGeom prst="rect">
            <a:avLst/>
          </a:prstGeom>
        </p:spPr>
      </p:pic>
      <p:pic>
        <p:nvPicPr>
          <p:cNvPr id="69" name="Picture 68" descr="image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ns2:svgBlip xmlns:ns2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4813440" y="5069804"/>
            <a:ext cx="440000" cy="440000"/>
          </a:xfrm>
          <a:prstGeom prst="rect">
            <a:avLst/>
          </a:prstGeom>
        </p:spPr>
      </p:pic>
      <p:pic>
        <p:nvPicPr>
          <p:cNvPr id="70" name="Picture 69" descr="imag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ns0:svgBlip xmlns:ns0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4813440" y="1905980"/>
            <a:ext cx="440000" cy="440000"/>
          </a:xfrm>
          <a:prstGeom prst="rect">
            <a:avLst/>
          </a:prstGeom>
        </p:spPr>
      </p:pic>
      <p:pic>
        <p:nvPicPr>
          <p:cNvPr id="71" name="Picture 70" descr="image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ns1:svgBlip xmlns:ns1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4813440" y="3487892"/>
            <a:ext cx="440000" cy="440000"/>
          </a:xfrm>
          <a:prstGeom prst="rect">
            <a:avLst/>
          </a:prstGeom>
        </p:spPr>
      </p:pic>
      <p:pic>
        <p:nvPicPr>
          <p:cNvPr id="72" name="Picture 71" descr="image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ns2:svgBlip xmlns:ns2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4813440" y="5069804"/>
            <a:ext cx="440000" cy="4400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2" dur="indefinite" restart="never" nodeType="tmRoot">
          <p:childTnLst>
            <p:seq concurrent="1" nextAc="seek">
              <p:cTn id="3" dur="indefinite" nodeType="mainSeq">
                <p:childTnLst>
                  <p:par>
                    <p:cTn id="4" fill="hold">
                      <p:stCondLst>
                        <p:cond delay="0"/>
                      </p:stCondLst>
                      <p:childTnLst>
                        <p:par>
                          <p:cTn id="5" presetID="2" presetClass="entr" presetSubtype="8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7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ppt_x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x-0.4"/>
                                    </p:val>
                                  </p:tav>
                                  <p:tav tm="100000">
                                    <p:val>
                                      <p:strVal val="#ppt_x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8" dur="50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90"/>
                      </p:stCondLst>
                      <p:childTnLst>
                        <p:par>
                          <p:cTn id="10" presetID="2" presetClass="entr" presetSubtype="8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12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ppt_x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x-0.4"/>
                                    </p:val>
                                  </p:tav>
                                  <p:tav tm="100000">
                                    <p:val>
                                      <p:strVal val="#ppt_x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13" dur="50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180"/>
                      </p:stCondLst>
                      <p:childTnLst>
                        <p:par>
                          <p:cTn id="15" presetID="2" presetClass="entr" presetSubtype="8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17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ppt_x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x-0.4"/>
                                    </p:val>
                                  </p:tav>
                                  <p:tav tm="100000">
                                    <p:val>
                                      <p:strVal val="#ppt_x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18" dur="50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270"/>
                      </p:stCondLst>
                      <p:childTnLst>
                        <p:par>
                          <p:cTn id="20" presetID="2" presetClass="entr" presetSubtype="8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22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ppt_x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x-0.4"/>
                                    </p:val>
                                  </p:tav>
                                  <p:tav tm="100000">
                                    <p:val>
                                      <p:strVal val="#ppt_x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23" dur="50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0"/>
                      </p:stCondLst>
                      <p:childTnLst>
                        <p:par>
                          <p:cTn id="25" presetID="2" presetClass="entr" presetSubtype="8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27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ppt_x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x-0.4"/>
                                    </p:val>
                                  </p:tav>
                                  <p:tav tm="100000">
                                    <p:val>
                                      <p:strVal val="#ppt_x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28" dur="50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90"/>
                      </p:stCondLst>
                      <p:childTnLst>
                        <p:par>
                          <p:cTn id="30" presetID="2" presetClass="entr" presetSubtype="8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32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ppt_x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x-0.4"/>
                                    </p:val>
                                  </p:tav>
                                  <p:tav tm="100000">
                                    <p:val>
                                      <p:strVal val="#ppt_x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33" dur="50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180"/>
                      </p:stCondLst>
                      <p:childTnLst>
                        <p:par>
                          <p:cTn id="35" presetID="2" presetClass="entr" presetSubtype="8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3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37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ppt_x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x-0.4"/>
                                    </p:val>
                                  </p:tav>
                                  <p:tav tm="100000">
                                    <p:val>
                                      <p:strVal val="#ppt_x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38" dur="50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270"/>
                      </p:stCondLst>
                      <p:childTnLst>
                        <p:par>
                          <p:cTn id="40" presetID="2" presetClass="entr" presetSubtype="8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4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42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ppt_x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x-0.4"/>
                                    </p:val>
                                  </p:tav>
                                  <p:tav tm="100000">
                                    <p:val>
                                      <p:strVal val="#ppt_x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43" dur="50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0"/>
                      </p:stCondLst>
                      <p:childTnLst>
                        <p:par>
                          <p:cTn id="45" presetID="2" presetClass="entr" presetSubtype="8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4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47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ppt_x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x-0.4"/>
                                    </p:val>
                                  </p:tav>
                                  <p:tav tm="100000">
                                    <p:val>
                                      <p:strVal val="#ppt_x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48" dur="50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90"/>
                      </p:stCondLst>
                      <p:childTnLst>
                        <p:par>
                          <p:cTn id="50" presetID="2" presetClass="entr" presetSubtype="8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52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ppt_x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x-0.4"/>
                                    </p:val>
                                  </p:tav>
                                  <p:tav tm="100000">
                                    <p:val>
                                      <p:strVal val="#ppt_x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53" dur="50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180"/>
                      </p:stCondLst>
                      <p:childTnLst>
                        <p:par>
                          <p:cTn id="55" presetID="2" presetClass="entr" presetSubtype="8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57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ppt_x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x-0.4"/>
                                    </p:val>
                                  </p:tav>
                                  <p:tav tm="100000">
                                    <p:val>
                                      <p:strVal val="#ppt_x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58" dur="50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270"/>
                      </p:stCondLst>
                      <p:childTnLst>
                        <p:par>
                          <p:cTn id="60" presetID="2" presetClass="entr" presetSubtype="8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62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0"/>
                                  </p:tgtEl>
                                  <p:attrNameLst>
                                    <p:attrName>ppt_x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x-0.4"/>
                                    </p:val>
                                  </p:tav>
                                  <p:tav tm="100000">
                                    <p:val>
                                      <p:strVal val="#ppt_x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63" dur="500"/>
                                  <p:tgtEl>
                                    <p:spTgt spid="2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48640" y="502920"/>
            <a:ext cx="640080" cy="64008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502920"/>
            <a:ext cx="6400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457200"/>
            <a:ext cx="102412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 i="0">
                <a:solidFill>
                  <a:srgbClr val="2C7A5A"/>
                </a:solidFill>
                <a:latin typeface="Calibri"/>
              </a:rPr>
              <a:t>1. TỔNG QUAN</a:t>
            </a:r>
          </a:p>
          <a:p>
            <a:pPr algn="l"/>
            <a:r>
              <a:rPr sz="2700" b="1" i="0">
                <a:solidFill>
                  <a:srgbClr val="1F4E3D"/>
                </a:solidFill>
                <a:latin typeface="Cambria"/>
              </a:rPr>
              <a:t>Thị trường, quy mô &amp; khách hàng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554480"/>
            <a:ext cx="3611880" cy="4297680"/>
          </a:xfrm>
          <a:prstGeom prst="roundRect">
            <a:avLst>
              <a:gd name="adj" fmla="val 6000"/>
            </a:avLst>
          </a:prstGeom>
          <a:solidFill>
            <a:srgbClr val="EEF4F0"/>
          </a:solidFill>
          <a:ln w="12700">
            <a:solidFill>
              <a:srgbClr val="D5E1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1554480"/>
            <a:ext cx="3611880" cy="777240"/>
          </a:xfrm>
          <a:prstGeom prst="roundRect">
            <a:avLst>
              <a:gd name="adj" fmla="val 6000"/>
            </a:avLst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2011680"/>
            <a:ext cx="3611880" cy="320040"/>
          </a:xfrm>
          <a:prstGeom prst="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364672" y="1554480"/>
            <a:ext cx="159468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Phân khúc thị trường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2" y="2514600"/>
            <a:ext cx="3099816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50" b="0" i="1">
                <a:solidFill>
                  <a:srgbClr val="5C6B64"/>
                </a:solidFill>
                <a:latin typeface="Calibri"/>
              </a:rPr>
              <a:t>B2B kỹ thuật — không phải sơn trang trí dân dụng đại trà.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2" y="3611880"/>
            <a:ext cx="3099816" cy="2103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400" b="0" i="0">
                <a:solidFill>
                  <a:srgbClr val="C88A2E"/>
                </a:solidFill>
                <a:latin typeface="Calibri"/>
              </a:rPr>
              <a:t>▪  </a:t>
            </a:r>
            <a:r>
              <a:rPr sz="1400" b="0" i="0">
                <a:solidFill>
                  <a:srgbClr val="222B28"/>
                </a:solidFill>
                <a:latin typeface="Calibri"/>
              </a:rPr>
              <a:t>Chủ đầu tư công trình công nghiệp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400" b="0" i="0">
                <a:solidFill>
                  <a:srgbClr val="C88A2E"/>
                </a:solidFill>
                <a:latin typeface="Calibri"/>
              </a:rPr>
              <a:t>▪  </a:t>
            </a:r>
            <a:r>
              <a:rPr sz="1400" b="0" i="0">
                <a:solidFill>
                  <a:srgbClr val="222B28"/>
                </a:solidFill>
                <a:latin typeface="Calibri"/>
              </a:rPr>
              <a:t>Đơn vị đóng / sửa chữa tàu biển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400" b="0" i="0">
                <a:solidFill>
                  <a:srgbClr val="C88A2E"/>
                </a:solidFill>
                <a:latin typeface="Calibri"/>
              </a:rPr>
              <a:t>▪  </a:t>
            </a:r>
            <a:r>
              <a:rPr sz="1400" b="0" i="0">
                <a:solidFill>
                  <a:srgbClr val="222B28"/>
                </a:solidFill>
                <a:latin typeface="Calibri"/>
              </a:rPr>
              <a:t>Đại lý phân phối sơn bảo vệ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16552" y="1554480"/>
            <a:ext cx="3611880" cy="4297680"/>
          </a:xfrm>
          <a:prstGeom prst="roundRect">
            <a:avLst>
              <a:gd name="adj" fmla="val 6000"/>
            </a:avLst>
          </a:prstGeom>
          <a:solidFill>
            <a:srgbClr val="EEF4F0"/>
          </a:solidFill>
          <a:ln w="12700">
            <a:solidFill>
              <a:srgbClr val="D5E1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416552" y="1554480"/>
            <a:ext cx="3611880" cy="777240"/>
          </a:xfrm>
          <a:prstGeom prst="roundRect">
            <a:avLst>
              <a:gd name="adj" fmla="val 6000"/>
            </a:avLst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16552" y="2011680"/>
            <a:ext cx="3611880" cy="320040"/>
          </a:xfrm>
          <a:prstGeom prst="rect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32584" y="1554480"/>
            <a:ext cx="159468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Quy mô doanh nghiệp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72584" y="2514600"/>
            <a:ext cx="3099816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50" b="0" i="1">
                <a:solidFill>
                  <a:srgbClr val="5C6B64"/>
                </a:solidFill>
                <a:latin typeface="Calibri"/>
              </a:rPr>
              <a:t>Doanh nghiệp sản xuất vừa (SME), bộ máy quản lý gọn.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72584" y="3611880"/>
            <a:ext cx="3099816" cy="2103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400" b="0" i="0">
                <a:solidFill>
                  <a:srgbClr val="2C7A5A"/>
                </a:solidFill>
                <a:latin typeface="Calibri"/>
              </a:rPr>
              <a:t>▪  </a:t>
            </a:r>
            <a:r>
              <a:rPr sz="1400" b="0" i="0">
                <a:solidFill>
                  <a:srgbClr val="222B28"/>
                </a:solidFill>
                <a:latin typeface="Calibri"/>
              </a:rPr>
              <a:t>01 nhà máy sản xuất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400" b="0" i="0">
                <a:solidFill>
                  <a:srgbClr val="2C7A5A"/>
                </a:solidFill>
                <a:latin typeface="Calibri"/>
              </a:rPr>
              <a:t>▪  </a:t>
            </a:r>
            <a:r>
              <a:rPr sz="1400" b="0" i="0">
                <a:solidFill>
                  <a:srgbClr val="222B28"/>
                </a:solidFill>
                <a:latin typeface="Calibri"/>
              </a:rPr>
              <a:t>Giám đốc → Phó GĐ / TP. Kỹ thuật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400" b="0" i="0">
                <a:solidFill>
                  <a:srgbClr val="2C7A5A"/>
                </a:solidFill>
                <a:latin typeface="Calibri"/>
              </a:rPr>
              <a:t>▪  </a:t>
            </a:r>
            <a:r>
              <a:rPr sz="1400" b="0" i="0">
                <a:solidFill>
                  <a:srgbClr val="222B28"/>
                </a:solidFill>
                <a:latin typeface="Calibri"/>
              </a:rPr>
              <a:t>Các phòng ban chức năng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84464" y="1554480"/>
            <a:ext cx="3611880" cy="4297680"/>
          </a:xfrm>
          <a:prstGeom prst="roundRect">
            <a:avLst>
              <a:gd name="adj" fmla="val 6000"/>
            </a:avLst>
          </a:prstGeom>
          <a:solidFill>
            <a:srgbClr val="EEF4F0"/>
          </a:solidFill>
          <a:ln w="12700">
            <a:solidFill>
              <a:srgbClr val="D5E1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284464" y="1554480"/>
            <a:ext cx="3611880" cy="777240"/>
          </a:xfrm>
          <a:prstGeom prst="roundRect">
            <a:avLst>
              <a:gd name="adj" fmla="val 6000"/>
            </a:avLst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284464" y="2011680"/>
            <a:ext cx="3611880" cy="320040"/>
          </a:xfrm>
          <a:prstGeom prst="rect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100496" y="1554480"/>
            <a:ext cx="159468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Khách hàng chính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40496" y="2514600"/>
            <a:ext cx="3099816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50" b="0" i="1">
                <a:solidFill>
                  <a:srgbClr val="5C6B64"/>
                </a:solidFill>
                <a:latin typeface="Calibri"/>
              </a:rPr>
              <a:t>Tập trung nhóm khách kỹ thuật, mua theo dự án / hợp đồng.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40496" y="3611880"/>
            <a:ext cx="3099816" cy="2103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400" b="0" i="0">
                <a:solidFill>
                  <a:srgbClr val="1F4E3D"/>
                </a:solidFill>
                <a:latin typeface="Calibri"/>
              </a:rPr>
              <a:t>▪  </a:t>
            </a:r>
            <a:r>
              <a:rPr sz="1400" b="0" i="0">
                <a:solidFill>
                  <a:srgbClr val="222B28"/>
                </a:solidFill>
                <a:latin typeface="Calibri"/>
              </a:rPr>
              <a:t>Xưởng đóng &amp; sửa chữa tàu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400" b="0" i="0">
                <a:solidFill>
                  <a:srgbClr val="1F4E3D"/>
                </a:solidFill>
                <a:latin typeface="Calibri"/>
              </a:rPr>
              <a:t>▪  </a:t>
            </a:r>
            <a:r>
              <a:rPr sz="1400" b="0" i="0">
                <a:solidFill>
                  <a:srgbClr val="222B28"/>
                </a:solidFill>
                <a:latin typeface="Calibri"/>
              </a:rPr>
              <a:t>Chủ đầu tư công trình thép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400" b="0" i="0">
                <a:solidFill>
                  <a:srgbClr val="1F4E3D"/>
                </a:solidFill>
                <a:latin typeface="Calibri"/>
              </a:rPr>
              <a:t>▪  </a:t>
            </a:r>
            <a:r>
              <a:rPr sz="1400" b="0" i="0">
                <a:solidFill>
                  <a:srgbClr val="222B28"/>
                </a:solidFill>
                <a:latin typeface="Calibri"/>
              </a:rPr>
              <a:t>Đại lý sơn chuyên dụng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6473952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C6B64"/>
                </a:solidFill>
                <a:latin typeface="Calibri"/>
              </a:rPr>
              <a:t>Báo cáo thực tập  ·  Công ty TNHH Sơn Hải Vân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72800" y="6473952"/>
            <a:ext cx="7315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2C7A5A"/>
                </a:solidFill>
                <a:latin typeface="Calibri"/>
              </a:rPr>
              <a:t>6</a:t>
            </a:r>
          </a:p>
        </p:txBody>
      </p:sp>
      <p:pic>
        <p:nvPicPr>
          <p:cNvPr id="94" name="Picture 93" descr="target_w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98640" y="1728100"/>
            <a:ext cx="430000" cy="430000"/>
          </a:xfrm>
          <a:prstGeom prst="rect">
            <a:avLst/>
          </a:prstGeom>
        </p:spPr>
      </p:pic>
      <p:pic>
        <p:nvPicPr>
          <p:cNvPr id="95" name="Picture 94" descr="org_chart_w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ns1:svgBlip xmlns:ns1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566552" y="1728100"/>
            <a:ext cx="430000" cy="430000"/>
          </a:xfrm>
          <a:prstGeom prst="rect">
            <a:avLst/>
          </a:prstGeom>
        </p:spPr>
      </p:pic>
      <p:pic>
        <p:nvPicPr>
          <p:cNvPr id="96" name="Picture 95" descr="customers_w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ns2:svgBlip xmlns:ns2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434464" y="1728100"/>
            <a:ext cx="430000" cy="430000"/>
          </a:xfrm>
          <a:prstGeom prst="rect">
            <a:avLst/>
          </a:prstGeom>
        </p:spPr>
      </p:pic>
      <p:pic>
        <p:nvPicPr>
          <p:cNvPr id="97" name="Picture 96" descr="image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698640" y="1728100"/>
            <a:ext cx="430000" cy="430000"/>
          </a:xfrm>
          <a:prstGeom prst="rect">
            <a:avLst/>
          </a:prstGeom>
        </p:spPr>
      </p:pic>
      <p:pic>
        <p:nvPicPr>
          <p:cNvPr id="98" name="Picture 97" descr="imag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ns1:svgBlip xmlns:ns1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4566552" y="1728100"/>
            <a:ext cx="430000" cy="430000"/>
          </a:xfrm>
          <a:prstGeom prst="rect">
            <a:avLst/>
          </a:prstGeom>
        </p:spPr>
      </p:pic>
      <p:pic>
        <p:nvPicPr>
          <p:cNvPr id="99" name="Picture 98" descr="image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ns2:svgBlip xmlns:ns2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434464" y="1728100"/>
            <a:ext cx="430000" cy="430000"/>
          </a:xfrm>
          <a:prstGeom prst="rect">
            <a:avLst/>
          </a:prstGeom>
        </p:spPr>
      </p:pic>
      <p:pic>
        <p:nvPicPr>
          <p:cNvPr id="100" name="Picture 99" descr="image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698640" y="1728100"/>
            <a:ext cx="430000" cy="430000"/>
          </a:xfrm>
          <a:prstGeom prst="rect">
            <a:avLst/>
          </a:prstGeom>
        </p:spPr>
      </p:pic>
      <p:pic>
        <p:nvPicPr>
          <p:cNvPr id="101" name="Picture 100" descr="imag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ns1:svgBlip xmlns:ns1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4566552" y="1728100"/>
            <a:ext cx="430000" cy="430000"/>
          </a:xfrm>
          <a:prstGeom prst="rect">
            <a:avLst/>
          </a:prstGeom>
        </p:spPr>
      </p:pic>
      <p:pic>
        <p:nvPicPr>
          <p:cNvPr id="102" name="Picture 101" descr="image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ns2:svgBlip xmlns:ns2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8434464" y="1728100"/>
            <a:ext cx="430000" cy="4300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2" dur="indefinite" restart="never" nodeType="tmRoot">
          <p:childTnLst>
            <p:seq concurrent="1" nextAc="seek">
              <p:cTn id="3" dur="indefinite" nodeType="mainSeq">
                <p:childTnLst>
                  <p:par>
                    <p:cTn id="4" fill="hold">
                      <p:stCondLst>
                        <p:cond delay="0"/>
                      </p:stCondLst>
                      <p:childTnLst>
                        <p:par>
                          <p:cTn id="5" presetID="2" presetClass="entr" presetSubtype="4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7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y+0.35"/>
                                    </p:val>
                                  </p:tav>
                                  <p:tav tm="100000">
                                    <p:val>
                                      <p:strVal val="#ppt_y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8" dur="50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90"/>
                      </p:stCondLst>
                      <p:childTnLst>
                        <p:par>
                          <p:cTn id="10" presetID="2" presetClass="entr" presetSubtype="4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12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y+0.35"/>
                                    </p:val>
                                  </p:tav>
                                  <p:tav tm="100000">
                                    <p:val>
                                      <p:strVal val="#ppt_y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13" dur="50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180"/>
                      </p:stCondLst>
                      <p:childTnLst>
                        <p:par>
                          <p:cTn id="15" presetID="2" presetClass="entr" presetSubtype="4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17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y+0.35"/>
                                    </p:val>
                                  </p:tav>
                                  <p:tav tm="100000">
                                    <p:val>
                                      <p:strVal val="#ppt_y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18" dur="50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270"/>
                      </p:stCondLst>
                      <p:childTnLst>
                        <p:par>
                          <p:cTn id="20" presetID="2" presetClass="entr" presetSubtype="4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22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y+0.35"/>
                                    </p:val>
                                  </p:tav>
                                  <p:tav tm="100000">
                                    <p:val>
                                      <p:strVal val="#ppt_y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23" dur="50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360"/>
                      </p:stCondLst>
                      <p:childTnLst>
                        <p:par>
                          <p:cTn id="25" presetID="2" presetClass="entr" presetSubtype="4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27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y+0.35"/>
                                    </p:val>
                                  </p:tav>
                                  <p:tav tm="100000">
                                    <p:val>
                                      <p:strVal val="#ppt_y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28" dur="50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450"/>
                      </p:stCondLst>
                      <p:childTnLst>
                        <p:par>
                          <p:cTn id="30" presetID="2" presetClass="entr" presetSubtype="4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32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y+0.35"/>
                                    </p:val>
                                  </p:tav>
                                  <p:tav tm="100000">
                                    <p:val>
                                      <p:strVal val="#ppt_y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33" dur="50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0"/>
                      </p:stCondLst>
                      <p:childTnLst>
                        <p:par>
                          <p:cTn id="35" presetID="2" presetClass="entr" presetSubtype="4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3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37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y+0.35"/>
                                    </p:val>
                                  </p:tav>
                                  <p:tav tm="100000">
                                    <p:val>
                                      <p:strVal val="#ppt_y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38" dur="50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90"/>
                      </p:stCondLst>
                      <p:childTnLst>
                        <p:par>
                          <p:cTn id="40" presetID="2" presetClass="entr" presetSubtype="4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4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42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y+0.35"/>
                                    </p:val>
                                  </p:tav>
                                  <p:tav tm="100000">
                                    <p:val>
                                      <p:strVal val="#ppt_y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43" dur="50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180"/>
                      </p:stCondLst>
                      <p:childTnLst>
                        <p:par>
                          <p:cTn id="45" presetID="2" presetClass="entr" presetSubtype="4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4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47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y+0.35"/>
                                    </p:val>
                                  </p:tav>
                                  <p:tav tm="100000">
                                    <p:val>
                                      <p:strVal val="#ppt_y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48" dur="50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270"/>
                      </p:stCondLst>
                      <p:childTnLst>
                        <p:par>
                          <p:cTn id="50" presetID="2" presetClass="entr" presetSubtype="4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52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y+0.35"/>
                                    </p:val>
                                  </p:tav>
                                  <p:tav tm="100000">
                                    <p:val>
                                      <p:strVal val="#ppt_y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53" dur="50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360"/>
                      </p:stCondLst>
                      <p:childTnLst>
                        <p:par>
                          <p:cTn id="55" presetID="2" presetClass="entr" presetSubtype="4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57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y+0.35"/>
                                    </p:val>
                                  </p:tav>
                                  <p:tav tm="100000">
                                    <p:val>
                                      <p:strVal val="#ppt_y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58" dur="50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450"/>
                      </p:stCondLst>
                      <p:childTnLst>
                        <p:par>
                          <p:cTn id="60" presetID="2" presetClass="entr" presetSubtype="4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62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y+0.35"/>
                                    </p:val>
                                  </p:tav>
                                  <p:tav tm="100000">
                                    <p:val>
                                      <p:strVal val="#ppt_y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63" dur="50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64" fill="hold">
                      <p:stCondLst>
                        <p:cond delay="0"/>
                      </p:stCondLst>
                      <p:childTnLst>
                        <p:par>
                          <p:cTn id="65" presetID="2" presetClass="entr" presetSubtype="4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67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y+0.35"/>
                                    </p:val>
                                  </p:tav>
                                  <p:tav tm="100000">
                                    <p:val>
                                      <p:strVal val="#ppt_y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68" dur="50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90"/>
                      </p:stCondLst>
                      <p:childTnLst>
                        <p:par>
                          <p:cTn id="70" presetID="2" presetClass="entr" presetSubtype="4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7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72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y+0.35"/>
                                    </p:val>
                                  </p:tav>
                                  <p:tav tm="100000">
                                    <p:val>
                                      <p:strVal val="#ppt_y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73" dur="50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74" fill="hold">
                      <p:stCondLst>
                        <p:cond delay="180"/>
                      </p:stCondLst>
                      <p:childTnLst>
                        <p:par>
                          <p:cTn id="75" presetID="2" presetClass="entr" presetSubtype="4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7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77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0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y+0.35"/>
                                    </p:val>
                                  </p:tav>
                                  <p:tav tm="100000">
                                    <p:val>
                                      <p:strVal val="#ppt_y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78" dur="500"/>
                                  <p:tgtEl>
                                    <p:spTgt spid="2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79" fill="hold">
                      <p:stCondLst>
                        <p:cond delay="270"/>
                      </p:stCondLst>
                      <p:childTnLst>
                        <p:par>
                          <p:cTn id="80" presetID="2" presetClass="entr" presetSubtype="4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8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82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y+0.35"/>
                                    </p:val>
                                  </p:tav>
                                  <p:tav tm="100000">
                                    <p:val>
                                      <p:strVal val="#ppt_y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83" dur="500"/>
                                  <p:tgtEl>
                                    <p:spTgt spid="21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84" fill="hold">
                      <p:stCondLst>
                        <p:cond delay="360"/>
                      </p:stCondLst>
                      <p:childTnLst>
                        <p:par>
                          <p:cTn id="85" presetID="2" presetClass="entr" presetSubtype="4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8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87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y+0.35"/>
                                    </p:val>
                                  </p:tav>
                                  <p:tav tm="100000">
                                    <p:val>
                                      <p:strVal val="#ppt_y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88" dur="500"/>
                                  <p:tgtEl>
                                    <p:spTgt spid="22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89" fill="hold">
                      <p:stCondLst>
                        <p:cond delay="450"/>
                      </p:stCondLst>
                      <p:childTnLst>
                        <p:par>
                          <p:cTn id="90" presetID="2" presetClass="entr" presetSubtype="4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9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92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3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y+0.35"/>
                                    </p:val>
                                  </p:tav>
                                  <p:tav tm="100000">
                                    <p:val>
                                      <p:strVal val="#ppt_y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93" dur="500"/>
                                  <p:tgtEl>
                                    <p:spTgt spid="23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097280" y="5120640"/>
            <a:ext cx="2743200" cy="2743200"/>
          </a:xfrm>
          <a:prstGeom prst="ellipse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22960" y="960120"/>
            <a:ext cx="1234440" cy="1234440"/>
          </a:xfrm>
          <a:prstGeom prst="ellipse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960120"/>
            <a:ext cx="1234440" cy="12344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468880"/>
            <a:ext cx="5669280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6FA287"/>
                </a:solidFill>
                <a:latin typeface="Calibri"/>
              </a:rPr>
              <a:t>PHẦN 2</a:t>
            </a:r>
          </a:p>
          <a:p>
            <a:pPr algn="l">
              <a:lnSpc>
                <a:spcPct val="103000"/>
              </a:lnSpc>
              <a:spcAft>
                <a:spcPts val="800"/>
              </a:spcAft>
            </a:pPr>
            <a:r>
              <a:rPr sz="3400" b="1" i="0">
                <a:solidFill>
                  <a:srgbClr val="FFFFFF"/>
                </a:solidFill>
                <a:latin typeface="Cambria"/>
              </a:rPr>
              <a:t>Nguyên vật liệu</a:t>
            </a:r>
          </a:p>
          <a:p>
            <a:pPr algn="l">
              <a:lnSpc>
                <a:spcPct val="110000"/>
              </a:lnSpc>
            </a:pPr>
            <a:r>
              <a:rPr sz="1400" b="0" i="0">
                <a:solidFill>
                  <a:srgbClr val="6FA287"/>
                </a:solidFill>
                <a:latin typeface="Calibri"/>
              </a:rPr>
              <a:t>Thành phần · tỷ lệ · cấu trúc hệ sơn tàu biển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720840" y="960120"/>
            <a:ext cx="4937760" cy="4937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paint_can.jpg"/>
          <p:cNvPicPr>
            <a:picLocks noChangeAspect="1"/>
          </p:cNvPicPr>
          <p:nvPr/>
        </p:nvPicPr>
        <p:blipFill>
          <a:blip r:embed="rId2"/>
          <a:srcRect l="16666" r="16666"/>
          <a:stretch>
            <a:fillRect/>
          </a:stretch>
        </p:blipFill>
        <p:spPr>
          <a:xfrm>
            <a:off x="6858000" y="1097280"/>
            <a:ext cx="4663440" cy="4663440"/>
          </a:xfrm>
          <a:prstGeom prst="rect">
            <a:avLst/>
          </a:prstGeom>
          <a:ln w="25400">
            <a:solidFill>
              <a:srgbClr val="FFFFFF"/>
            </a:solidFill>
          </a:ln>
          <a:effectLst/>
        </p:spPr>
      </p:pic>
      <p:sp>
        <p:nvSpPr>
          <p:cNvPr id="9" name="TextBox 8"/>
          <p:cNvSpPr txBox="1"/>
          <p:nvPr/>
        </p:nvSpPr>
        <p:spPr>
          <a:xfrm>
            <a:off x="6720840" y="6035040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6FA287"/>
                </a:solidFill>
                <a:latin typeface="Calibri"/>
              </a:rPr>
              <a:t>Ảnh: Wikimedia Commons (CC BY 2.0) — lọ sơn thành phẩm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48640" y="502920"/>
            <a:ext cx="640080" cy="64008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502920"/>
            <a:ext cx="6400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457200"/>
            <a:ext cx="102412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 i="0">
                <a:solidFill>
                  <a:srgbClr val="2C7A5A"/>
                </a:solidFill>
                <a:latin typeface="Calibri"/>
              </a:rPr>
              <a:t>2. NGUYÊN VẬT LIỆU</a:t>
            </a:r>
          </a:p>
          <a:p>
            <a:pPr algn="l"/>
            <a:r>
              <a:rPr sz="2700" b="1" i="0">
                <a:solidFill>
                  <a:srgbClr val="1F4E3D"/>
                </a:solidFill>
                <a:latin typeface="Cambria"/>
              </a:rPr>
              <a:t>Bốn nhóm nguyên liệu cấu thành sơn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481328"/>
            <a:ext cx="11109960" cy="1024128"/>
          </a:xfrm>
          <a:prstGeom prst="roundRect">
            <a:avLst>
              <a:gd name="adj" fmla="val 6000"/>
            </a:avLst>
          </a:prstGeom>
          <a:solidFill>
            <a:srgbClr val="EEF4F0"/>
          </a:solidFill>
          <a:ln w="12700">
            <a:solidFill>
              <a:srgbClr val="D5E1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1673352"/>
            <a:ext cx="640080" cy="640080"/>
          </a:xfrm>
          <a:prstGeom prst="ellipse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691640"/>
            <a:ext cx="6400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mbria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00200" y="1609344"/>
            <a:ext cx="237744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F4E3D"/>
                </a:solidFill>
                <a:latin typeface="Calibri"/>
              </a:rPr>
              <a:t>Nhựa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931920" y="1783080"/>
            <a:ext cx="1234440" cy="457200"/>
          </a:xfrm>
          <a:prstGeom prst="roundRect">
            <a:avLst>
              <a:gd name="adj" fmla="val 6000"/>
            </a:avLst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931920" y="1783080"/>
            <a:ext cx="12344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50" b="1" i="0">
                <a:solidFill>
                  <a:srgbClr val="FFFFFF"/>
                </a:solidFill>
                <a:latin typeface="Calibri"/>
              </a:rPr>
              <a:t>40–60%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49240" y="1572768"/>
            <a:ext cx="617220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0" i="0">
                <a:solidFill>
                  <a:srgbClr val="222B28"/>
                </a:solidFill>
                <a:latin typeface="Calibri"/>
              </a:rPr>
              <a:t>“Khung xương” tạo màng liên tục — quyết định độ bám dính, độ bóng và độ bền cơ học.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2615184"/>
            <a:ext cx="11109960" cy="1024128"/>
          </a:xfrm>
          <a:prstGeom prst="roundRect">
            <a:avLst>
              <a:gd name="adj" fmla="val 6000"/>
            </a:avLst>
          </a:prstGeom>
          <a:solidFill>
            <a:srgbClr val="EEF4F0"/>
          </a:solidFill>
          <a:ln w="12700">
            <a:solidFill>
              <a:srgbClr val="D5E1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777240" y="2807208"/>
            <a:ext cx="640080" cy="64008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2825496"/>
            <a:ext cx="6400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mbria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00200" y="2743200"/>
            <a:ext cx="237744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F4E3D"/>
                </a:solidFill>
                <a:latin typeface="Calibri"/>
              </a:rPr>
              <a:t>Dung môi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931920" y="2916936"/>
            <a:ext cx="1234440" cy="457200"/>
          </a:xfrm>
          <a:prstGeom prst="roundRect">
            <a:avLst>
              <a:gd name="adj" fmla="val 6000"/>
            </a:avLst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931920" y="2916936"/>
            <a:ext cx="12344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50" b="1" i="0">
                <a:solidFill>
                  <a:srgbClr val="FFFFFF"/>
                </a:solidFill>
                <a:latin typeface="Calibri"/>
              </a:rPr>
              <a:t>20–40%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49240" y="2706624"/>
            <a:ext cx="617220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0" i="0">
                <a:solidFill>
                  <a:srgbClr val="222B28"/>
                </a:solidFill>
                <a:latin typeface="Calibri"/>
              </a:rPr>
              <a:t>Hòa tan và phân tán các thành phần, điều chỉnh độ nhớt để dễ thi công; bay hơi khi sơn khô.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3749040"/>
            <a:ext cx="11109960" cy="1024128"/>
          </a:xfrm>
          <a:prstGeom prst="roundRect">
            <a:avLst>
              <a:gd name="adj" fmla="val 6000"/>
            </a:avLst>
          </a:prstGeom>
          <a:solidFill>
            <a:srgbClr val="EEF4F0"/>
          </a:solidFill>
          <a:ln w="12700">
            <a:solidFill>
              <a:srgbClr val="D5E1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77240" y="3941064"/>
            <a:ext cx="640080" cy="640080"/>
          </a:xfrm>
          <a:prstGeom prst="ellipse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7240" y="3959352"/>
            <a:ext cx="6400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mbria"/>
              </a:rPr>
              <a:t/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600200" y="3877056"/>
            <a:ext cx="237744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F4E3D"/>
                </a:solidFill>
                <a:latin typeface="Calibri"/>
              </a:rPr>
              <a:t>Bột màu / bột độn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931920" y="4050792"/>
            <a:ext cx="1234440" cy="457200"/>
          </a:xfrm>
          <a:prstGeom prst="roundRect">
            <a:avLst>
              <a:gd name="adj" fmla="val 6000"/>
            </a:avLst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931920" y="4050792"/>
            <a:ext cx="12344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50" b="1" i="0">
                <a:solidFill>
                  <a:srgbClr val="FFFFFF"/>
                </a:solidFill>
                <a:latin typeface="Calibri"/>
              </a:rPr>
              <a:t>15–35%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349240" y="3840480"/>
            <a:ext cx="617220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0" i="0">
                <a:solidFill>
                  <a:srgbClr val="222B28"/>
                </a:solidFill>
                <a:latin typeface="Calibri"/>
              </a:rPr>
              <a:t>Bột màu tạo quang tính &amp; chức năng hóa lý; bột độn tối ưu thể tích, cải thiện cơ tính, giảm chi phí.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48640" y="4882896"/>
            <a:ext cx="11109960" cy="1024128"/>
          </a:xfrm>
          <a:prstGeom prst="roundRect">
            <a:avLst>
              <a:gd name="adj" fmla="val 6000"/>
            </a:avLst>
          </a:prstGeom>
          <a:solidFill>
            <a:srgbClr val="EEF4F0"/>
          </a:solidFill>
          <a:ln w="12700">
            <a:solidFill>
              <a:srgbClr val="D5E1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777240" y="5074920"/>
            <a:ext cx="640080" cy="640080"/>
          </a:xfrm>
          <a:prstGeom prst="ellipse">
            <a:avLst/>
          </a:prstGeom>
          <a:solidFill>
            <a:srgbClr val="5C7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77240" y="5093208"/>
            <a:ext cx="6400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mbria"/>
              </a:rPr>
              <a:t/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600200" y="5010912"/>
            <a:ext cx="237744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F4E3D"/>
                </a:solidFill>
                <a:latin typeface="Calibri"/>
              </a:rPr>
              <a:t>Phụ gia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931920" y="5184648"/>
            <a:ext cx="1234440" cy="457200"/>
          </a:xfrm>
          <a:prstGeom prst="roundRect">
            <a:avLst>
              <a:gd name="adj" fmla="val 6000"/>
            </a:avLst>
          </a:prstGeom>
          <a:solidFill>
            <a:srgbClr val="5C7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931920" y="5184648"/>
            <a:ext cx="12344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50" b="1" i="0">
                <a:solidFill>
                  <a:srgbClr val="FFFFFF"/>
                </a:solidFill>
                <a:latin typeface="Calibri"/>
              </a:rPr>
              <a:t>≤ 1%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349240" y="4974336"/>
            <a:ext cx="617220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0" i="0">
                <a:solidFill>
                  <a:srgbClr val="222B28"/>
                </a:solidFill>
                <a:latin typeface="Calibri"/>
              </a:rPr>
              <a:t>Tỷ lệ rất nhỏ nhưng thiết yếu — nâng cao chất lượng và ngoại quan của màng sơn.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48640" y="6199632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5C6B64"/>
                </a:solidFill>
                <a:latin typeface="Calibri"/>
              </a:rPr>
              <a:t>Tỷ lệ thay đổi theo loại sơn; sơn tàu biển thường giàu nhựa và bột độn chống ăn mòn hơn sơn trang trí.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972800" y="6473952"/>
            <a:ext cx="7315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2C7A5A"/>
                </a:solidFill>
                <a:latin typeface="Calibri"/>
              </a:rPr>
              <a:t>8</a:t>
            </a:r>
          </a:p>
        </p:txBody>
      </p:sp>
      <p:pic>
        <p:nvPicPr>
          <p:cNvPr id="84" name="Picture 83" descr="resin_w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918058" y="1814170"/>
            <a:ext cx="358444" cy="358444"/>
          </a:xfrm>
          <a:prstGeom prst="rect">
            <a:avLst/>
          </a:prstGeom>
        </p:spPr>
      </p:pic>
      <p:pic>
        <p:nvPicPr>
          <p:cNvPr id="85" name="Picture 84" descr="solvent_w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ns1:svgBlip xmlns:ns1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918058" y="2948026"/>
            <a:ext cx="358444" cy="358444"/>
          </a:xfrm>
          <a:prstGeom prst="rect">
            <a:avLst/>
          </a:prstGeom>
        </p:spPr>
      </p:pic>
      <p:pic>
        <p:nvPicPr>
          <p:cNvPr id="86" name="Picture 85" descr="pigment_g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ns2:svgBlip xmlns:ns2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918058" y="4081882"/>
            <a:ext cx="358444" cy="358444"/>
          </a:xfrm>
          <a:prstGeom prst="rect">
            <a:avLst/>
          </a:prstGeom>
        </p:spPr>
      </p:pic>
      <p:pic>
        <p:nvPicPr>
          <p:cNvPr id="87" name="Picture 86" descr="additive_w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ns3:svgBlip xmlns:ns3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8058" y="5215738"/>
            <a:ext cx="358444" cy="358444"/>
          </a:xfrm>
          <a:prstGeom prst="rect">
            <a:avLst/>
          </a:prstGeom>
        </p:spPr>
      </p:pic>
      <p:pic>
        <p:nvPicPr>
          <p:cNvPr id="88" name="Picture 87" descr="image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20"/>
              </a:ext>
            </a:extLst>
          </a:blip>
          <a:stretch>
            <a:fillRect/>
          </a:stretch>
        </p:blipFill>
        <p:spPr>
          <a:xfrm>
            <a:off x="918058" y="1814170"/>
            <a:ext cx="358444" cy="358444"/>
          </a:xfrm>
          <a:prstGeom prst="rect">
            <a:avLst/>
          </a:prstGeom>
        </p:spPr>
      </p:pic>
      <p:pic>
        <p:nvPicPr>
          <p:cNvPr id="89" name="Picture 88" descr="imag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ns1:svgBlip xmlns:ns1="http://schemas.microsoft.com/office/drawing/2016/SVG/main" r:embed="rId21"/>
              </a:ext>
            </a:extLst>
          </a:blip>
          <a:stretch>
            <a:fillRect/>
          </a:stretch>
        </p:blipFill>
        <p:spPr>
          <a:xfrm>
            <a:off x="918058" y="2948026"/>
            <a:ext cx="358444" cy="358444"/>
          </a:xfrm>
          <a:prstGeom prst="rect">
            <a:avLst/>
          </a:prstGeom>
        </p:spPr>
      </p:pic>
      <p:pic>
        <p:nvPicPr>
          <p:cNvPr id="90" name="Picture 89" descr="image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ns2:svgBlip xmlns:ns2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918058" y="4081882"/>
            <a:ext cx="358444" cy="358444"/>
          </a:xfrm>
          <a:prstGeom prst="rect">
            <a:avLst/>
          </a:prstGeom>
        </p:spPr>
      </p:pic>
      <p:pic>
        <p:nvPicPr>
          <p:cNvPr id="91" name="Picture 90" descr="image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ns3:svgBlip xmlns:ns3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918058" y="5215738"/>
            <a:ext cx="358444" cy="358444"/>
          </a:xfrm>
          <a:prstGeom prst="rect">
            <a:avLst/>
          </a:prstGeom>
        </p:spPr>
      </p:pic>
      <p:pic>
        <p:nvPicPr>
          <p:cNvPr id="92" name="Picture 91" descr="chart7_nhua.png"/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ns4:svgBlip xmlns:ns4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3931920" y="2264280"/>
            <a:ext cx="1234440" cy="145890"/>
          </a:xfrm>
          <a:prstGeom prst="rect">
            <a:avLst/>
          </a:prstGeom>
        </p:spPr>
      </p:pic>
      <p:pic>
        <p:nvPicPr>
          <p:cNvPr id="93" name="Picture 92" descr="chart7_dungmoi.png"/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ns5:svgBlip xmlns:ns5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3931920" y="3398136"/>
            <a:ext cx="1234440" cy="145890"/>
          </a:xfrm>
          <a:prstGeom prst="rect">
            <a:avLst/>
          </a:prstGeom>
        </p:spPr>
      </p:pic>
      <p:pic>
        <p:nvPicPr>
          <p:cNvPr id="94" name="Picture 93" descr="chart7_bot.png"/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ns6:svgBlip xmlns:ns6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3931920" y="4531992"/>
            <a:ext cx="1234440" cy="145890"/>
          </a:xfrm>
          <a:prstGeom prst="rect">
            <a:avLst/>
          </a:prstGeom>
        </p:spPr>
      </p:pic>
      <p:pic>
        <p:nvPicPr>
          <p:cNvPr id="95" name="Picture 94" descr="chart7_phugia.png"/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ns7:svgBlip xmlns:ns7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3931920" y="5665848"/>
            <a:ext cx="1234440" cy="145890"/>
          </a:xfrm>
          <a:prstGeom prst="rect">
            <a:avLst/>
          </a:prstGeom>
        </p:spPr>
      </p:pic>
      <p:pic>
        <p:nvPicPr>
          <p:cNvPr id="96" name="Picture 95" descr="image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28"/>
              </a:ext>
            </a:extLst>
          </a:blip>
          <a:stretch>
            <a:fillRect/>
          </a:stretch>
        </p:blipFill>
        <p:spPr>
          <a:xfrm>
            <a:off x="918058" y="1814170"/>
            <a:ext cx="358444" cy="358444"/>
          </a:xfrm>
          <a:prstGeom prst="rect">
            <a:avLst/>
          </a:prstGeom>
        </p:spPr>
      </p:pic>
      <p:pic>
        <p:nvPicPr>
          <p:cNvPr id="97" name="Picture 96" descr="imag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ns1:svgBlip xmlns:ns1="http://schemas.microsoft.com/office/drawing/2016/SVG/main" r:embed="rId29"/>
              </a:ext>
            </a:extLst>
          </a:blip>
          <a:stretch>
            <a:fillRect/>
          </a:stretch>
        </p:blipFill>
        <p:spPr>
          <a:xfrm>
            <a:off x="918058" y="2948026"/>
            <a:ext cx="358444" cy="358444"/>
          </a:xfrm>
          <a:prstGeom prst="rect">
            <a:avLst/>
          </a:prstGeom>
        </p:spPr>
      </p:pic>
      <p:pic>
        <p:nvPicPr>
          <p:cNvPr id="98" name="Picture 97" descr="image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ns2:svgBlip xmlns:ns2="http://schemas.microsoft.com/office/drawing/2016/SVG/main" r:embed="rId27"/>
              </a:ext>
            </a:extLst>
          </a:blip>
          <a:stretch>
            <a:fillRect/>
          </a:stretch>
        </p:blipFill>
        <p:spPr>
          <a:xfrm>
            <a:off x="918058" y="4081882"/>
            <a:ext cx="358444" cy="358444"/>
          </a:xfrm>
          <a:prstGeom prst="rect">
            <a:avLst/>
          </a:prstGeom>
        </p:spPr>
      </p:pic>
      <p:pic>
        <p:nvPicPr>
          <p:cNvPr id="99" name="Picture 98" descr="image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ns3:svgBlip xmlns:ns3="http://schemas.microsoft.com/office/drawing/2016/SVG/main" r:embed="rId22"/>
              </a:ext>
            </a:extLst>
          </a:blip>
          <a:stretch>
            <a:fillRect/>
          </a:stretch>
        </p:blipFill>
        <p:spPr>
          <a:xfrm>
            <a:off x="918058" y="5215738"/>
            <a:ext cx="358444" cy="358444"/>
          </a:xfrm>
          <a:prstGeom prst="rect">
            <a:avLst/>
          </a:prstGeom>
        </p:spPr>
      </p:pic>
      <p:pic>
        <p:nvPicPr>
          <p:cNvPr id="100" name="Picture 99" descr="image.png"/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ns4:svgBlip xmlns:ns4="http://schemas.microsoft.com/office/drawing/2016/SVG/main" r:embed="rId25"/>
              </a:ext>
            </a:extLst>
          </a:blip>
          <a:stretch>
            <a:fillRect/>
          </a:stretch>
        </p:blipFill>
        <p:spPr>
          <a:xfrm>
            <a:off x="3931920" y="2264280"/>
            <a:ext cx="1234440" cy="145890"/>
          </a:xfrm>
          <a:prstGeom prst="rect">
            <a:avLst/>
          </a:prstGeom>
        </p:spPr>
      </p:pic>
      <p:pic>
        <p:nvPicPr>
          <p:cNvPr id="101" name="Picture 100" descr="image.png"/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ns5:svgBlip xmlns:ns5="http://schemas.microsoft.com/office/drawing/2016/SVG/main" r:embed="rId24"/>
              </a:ext>
            </a:extLst>
          </a:blip>
          <a:stretch>
            <a:fillRect/>
          </a:stretch>
        </p:blipFill>
        <p:spPr>
          <a:xfrm>
            <a:off x="3931920" y="3398136"/>
            <a:ext cx="1234440" cy="145890"/>
          </a:xfrm>
          <a:prstGeom prst="rect">
            <a:avLst/>
          </a:prstGeom>
        </p:spPr>
      </p:pic>
      <p:pic>
        <p:nvPicPr>
          <p:cNvPr id="102" name="Picture 101" descr="image.png"/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ns6:svgBlip xmlns:ns6="http://schemas.microsoft.com/office/drawing/2016/SVG/main" r:embed="rId23"/>
              </a:ext>
            </a:extLst>
          </a:blip>
          <a:stretch>
            <a:fillRect/>
          </a:stretch>
        </p:blipFill>
        <p:spPr>
          <a:xfrm>
            <a:off x="3931920" y="4531992"/>
            <a:ext cx="1234440" cy="145890"/>
          </a:xfrm>
          <a:prstGeom prst="rect">
            <a:avLst/>
          </a:prstGeom>
        </p:spPr>
      </p:pic>
      <p:pic>
        <p:nvPicPr>
          <p:cNvPr id="103" name="Picture 102" descr="image.png"/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ns7:svgBlip xmlns:ns7="http://schemas.microsoft.com/office/drawing/2016/SVG/main" r:embed="rId26"/>
              </a:ext>
            </a:extLst>
          </a:blip>
          <a:stretch>
            <a:fillRect/>
          </a:stretch>
        </p:blipFill>
        <p:spPr>
          <a:xfrm>
            <a:off x="3931920" y="5665848"/>
            <a:ext cx="1234440" cy="14589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2" dur="indefinite" restart="never" nodeType="tmRoot">
          <p:childTnLst>
            <p:seq concurrent="1" nextAc="seek">
              <p:cTn id="3" dur="indefinite" nodeType="mainSeq">
                <p:childTnLst>
                  <p:par>
                    <p:cTn id="4" fill="hold">
                      <p:stCondLst>
                        <p:cond delay="0"/>
                      </p:stCondLst>
                      <p:childTnLst>
                        <p:par>
                          <p:cTn id="5" presetID="22" presetClass="entr" presetSubtype="1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7" dur="5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90"/>
                      </p:stCondLst>
                      <p:childTnLst>
                        <p:par>
                          <p:cTn id="9" presetID="22" presetClass="entr" presetSubtype="1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1" dur="5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180"/>
                      </p:stCondLst>
                      <p:childTnLst>
                        <p:par>
                          <p:cTn id="13" presetID="22" presetClass="entr" presetSubtype="1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5" dur="5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270"/>
                      </p:stCondLst>
                      <p:childTnLst>
                        <p:par>
                          <p:cTn id="17" presetID="22" presetClass="entr" presetSubtype="1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9" dur="5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360"/>
                      </p:stCondLst>
                      <p:childTnLst>
                        <p:par>
                          <p:cTn id="21" presetID="22" presetClass="entr" presetSubtype="1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3" dur="5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0"/>
                      </p:stCondLst>
                      <p:childTnLst>
                        <p:par>
                          <p:cTn id="25" presetID="22" presetClass="entr" presetSubtype="1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7" dur="5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90"/>
                      </p:stCondLst>
                      <p:childTnLst>
                        <p:par>
                          <p:cTn id="29" presetID="22" presetClass="entr" presetSubtype="1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31" dur="5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180"/>
                      </p:stCondLst>
                      <p:childTnLst>
                        <p:par>
                          <p:cTn id="33" presetID="22" presetClass="entr" presetSubtype="1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3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35" dur="5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270"/>
                      </p:stCondLst>
                      <p:childTnLst>
                        <p:par>
                          <p:cTn id="37" presetID="22" presetClass="entr" presetSubtype="1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3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39" dur="55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360"/>
                      </p:stCondLst>
                      <p:childTnLst>
                        <p:par>
                          <p:cTn id="41" presetID="22" presetClass="entr" presetSubtype="1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4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43" dur="55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0"/>
                      </p:stCondLst>
                      <p:childTnLst>
                        <p:par>
                          <p:cTn id="45" presetID="22" presetClass="entr" presetSubtype="1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4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47" dur="550"/>
                                  <p:tgtEl>
                                    <p:spTgt spid="2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90"/>
                      </p:stCondLst>
                      <p:childTnLst>
                        <p:par>
                          <p:cTn id="49" presetID="22" presetClass="entr" presetSubtype="1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51" dur="550"/>
                                  <p:tgtEl>
                                    <p:spTgt spid="21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180"/>
                      </p:stCondLst>
                      <p:childTnLst>
                        <p:par>
                          <p:cTn id="53" presetID="22" presetClass="entr" presetSubtype="1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55" dur="550"/>
                                  <p:tgtEl>
                                    <p:spTgt spid="23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270"/>
                      </p:stCondLst>
                      <p:childTnLst>
                        <p:par>
                          <p:cTn id="57" presetID="22" presetClass="entr" presetSubtype="1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59" dur="550"/>
                                  <p:tgtEl>
                                    <p:spTgt spid="2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360"/>
                      </p:stCondLst>
                      <p:childTnLst>
                        <p:par>
                          <p:cTn id="61" presetID="22" presetClass="entr" presetSubtype="1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63" dur="550"/>
                                  <p:tgtEl>
                                    <p:spTgt spid="2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64" fill="hold">
                      <p:stCondLst>
                        <p:cond delay="0"/>
                      </p:stCondLst>
                      <p:childTnLst>
                        <p:par>
                          <p:cTn id="65" presetID="22" presetClass="entr" presetSubtype="1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67" dur="550"/>
                                  <p:tgtEl>
                                    <p:spTgt spid="2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90"/>
                      </p:stCondLst>
                      <p:childTnLst>
                        <p:par>
                          <p:cTn id="69" presetID="22" presetClass="entr" presetSubtype="1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7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71" dur="550"/>
                                  <p:tgtEl>
                                    <p:spTgt spid="2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72" fill="hold">
                      <p:stCondLst>
                        <p:cond delay="180"/>
                      </p:stCondLst>
                      <p:childTnLst>
                        <p:par>
                          <p:cTn id="73" presetID="22" presetClass="entr" presetSubtype="1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7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75" dur="550"/>
                                  <p:tgtEl>
                                    <p:spTgt spid="3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76" fill="hold">
                      <p:stCondLst>
                        <p:cond delay="270"/>
                      </p:stCondLst>
                      <p:childTnLst>
                        <p:par>
                          <p:cTn id="77" presetID="22" presetClass="entr" presetSubtype="1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7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79" dur="550"/>
                                  <p:tgtEl>
                                    <p:spTgt spid="31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80" fill="hold">
                      <p:stCondLst>
                        <p:cond delay="360"/>
                      </p:stCondLst>
                      <p:childTnLst>
                        <p:par>
                          <p:cTn id="81" presetID="22" presetClass="entr" presetSubtype="1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8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83" dur="550"/>
                                  <p:tgtEl>
                                    <p:spTgt spid="33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48640" y="502920"/>
            <a:ext cx="640080" cy="64008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502920"/>
            <a:ext cx="6400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457200"/>
            <a:ext cx="102412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 i="0">
                <a:solidFill>
                  <a:srgbClr val="2C7A5A"/>
                </a:solidFill>
                <a:latin typeface="Calibri"/>
              </a:rPr>
              <a:t>2. NGUYÊN VẬT LIỆU</a:t>
            </a:r>
          </a:p>
          <a:p>
            <a:pPr algn="l"/>
            <a:r>
              <a:rPr sz="2700" b="1" i="0">
                <a:solidFill>
                  <a:srgbClr val="1F4E3D"/>
                </a:solidFill>
                <a:latin typeface="Cambria"/>
              </a:rPr>
              <a:t>Nhựa Alkyd phân loại theo hàm lượng dầu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554480"/>
            <a:ext cx="11109960" cy="502920"/>
          </a:xfrm>
          <a:prstGeom prst="roundRect">
            <a:avLst>
              <a:gd name="adj" fmla="val 6000"/>
            </a:avLst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783080"/>
            <a:ext cx="11109960" cy="274320"/>
          </a:xfrm>
          <a:prstGeom prst="rect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554480"/>
            <a:ext cx="292608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Loại nhựa Alkyd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31920" y="1554480"/>
            <a:ext cx="18288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Hàm lượng dầu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35040" y="1554480"/>
            <a:ext cx="54864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Đặc điểm &amp; ứng dụng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194560"/>
            <a:ext cx="11109960" cy="914400"/>
          </a:xfrm>
          <a:prstGeom prst="roundRect">
            <a:avLst>
              <a:gd name="adj" fmla="val 6000"/>
            </a:avLst>
          </a:prstGeom>
          <a:solidFill>
            <a:srgbClr val="EEF4F0"/>
          </a:solidFill>
          <a:ln w="12700">
            <a:solidFill>
              <a:srgbClr val="D5E1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48640" y="2331720"/>
            <a:ext cx="128016" cy="640080"/>
          </a:xfrm>
          <a:prstGeom prst="roundRect">
            <a:avLst>
              <a:gd name="adj" fmla="val 6000"/>
            </a:avLst>
          </a:prstGeom>
          <a:solidFill>
            <a:srgbClr val="6FA2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194560"/>
            <a:ext cx="292608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F4E3D"/>
                </a:solidFill>
                <a:latin typeface="Calibri"/>
              </a:rPr>
              <a:t>Nhựa gầy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31920" y="2194560"/>
            <a:ext cx="182880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6FA287"/>
                </a:solidFill>
                <a:latin typeface="Calibri"/>
              </a:rPr>
              <a:t/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35040" y="2194560"/>
            <a:ext cx="548640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222B28"/>
                </a:solidFill>
                <a:latin typeface="Calibri"/>
              </a:rPr>
              <a:t>Chất hóa dẻo, độ nhớt cao — thi công nhúng / phun.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3200400"/>
            <a:ext cx="1110996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E1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48640" y="3337560"/>
            <a:ext cx="128016" cy="640080"/>
          </a:xfrm>
          <a:prstGeom prst="roundRect">
            <a:avLst>
              <a:gd name="adj" fmla="val 6000"/>
            </a:avLst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3200400"/>
            <a:ext cx="292608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F4E3D"/>
                </a:solidFill>
                <a:latin typeface="Calibri"/>
              </a:rPr>
              <a:t>Nhựa trung bình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931920" y="3200400"/>
            <a:ext cx="182880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2C7A5A"/>
                </a:solidFill>
                <a:latin typeface="Calibri"/>
              </a:rPr>
              <a:t/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35040" y="3200400"/>
            <a:ext cx="548640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222B28"/>
                </a:solidFill>
                <a:latin typeface="Calibri"/>
              </a:rPr>
              <a:t>Dùng phổ biến nhất — cọ / lăn / súng phun.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4206240"/>
            <a:ext cx="11109960" cy="914400"/>
          </a:xfrm>
          <a:prstGeom prst="roundRect">
            <a:avLst>
              <a:gd name="adj" fmla="val 6000"/>
            </a:avLst>
          </a:prstGeom>
          <a:solidFill>
            <a:srgbClr val="EEF4F0"/>
          </a:solidFill>
          <a:ln w="12700">
            <a:solidFill>
              <a:srgbClr val="D5E1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48640" y="4343400"/>
            <a:ext cx="128016" cy="640080"/>
          </a:xfrm>
          <a:prstGeom prst="roundRect">
            <a:avLst>
              <a:gd name="adj" fmla="val 6000"/>
            </a:avLst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8680" y="4206240"/>
            <a:ext cx="292608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F4E3D"/>
                </a:solidFill>
                <a:latin typeface="Calibri"/>
              </a:rPr>
              <a:t>Nhựa béo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931920" y="4206240"/>
            <a:ext cx="182880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F4E3D"/>
                </a:solidFill>
                <a:latin typeface="Calibri"/>
              </a:rPr>
              <a:t/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035040" y="4206240"/>
            <a:ext cx="548640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222B28"/>
                </a:solidFill>
                <a:latin typeface="Calibri"/>
              </a:rPr>
              <a:t>Chất tạo màng chính cho sơn tàu biển &amp; kết cấu thép.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5532120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450" b="1" i="0">
                <a:solidFill>
                  <a:srgbClr val="C88A2E"/>
                </a:solidFill>
                <a:latin typeface="Calibri"/>
              </a:rPr>
              <a:t>→ </a:t>
            </a:r>
            <a:r>
              <a:rPr sz="1400" b="0" i="1">
                <a:solidFill>
                  <a:srgbClr val="5C6B64"/>
                </a:solidFill>
                <a:latin typeface="Calibri"/>
              </a:rPr>
              <a:t>Sơn tàu biển &amp; kết cấu thép ưu tiên nhựa béo (56–70%) nhờ khả năng tạo màng dày, bám dính và chịu môi trường khắc nghiệt.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6473952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C6B64"/>
                </a:solidFill>
                <a:latin typeface="Calibri"/>
              </a:rPr>
              <a:t>Báo cáo thực tập  ·  Công ty TNHH Sơn Hải Vân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972800" y="6473952"/>
            <a:ext cx="7315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2C7A5A"/>
                </a:solidFill>
                <a:latin typeface="Calibri"/>
              </a:rPr>
              <a:t>10</a:t>
            </a:r>
          </a:p>
        </p:txBody>
      </p:sp>
      <p:pic>
        <p:nvPicPr>
          <p:cNvPr id="64" name="Picture 63" descr="chart8_gay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931920" y="2416310"/>
            <a:ext cx="2100000" cy="470900"/>
          </a:xfrm>
          <a:prstGeom prst="rect">
            <a:avLst/>
          </a:prstGeom>
        </p:spPr>
      </p:pic>
      <p:pic>
        <p:nvPicPr>
          <p:cNvPr id="65" name="Picture 64" descr="chart8_trung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ns1:svgBlip xmlns:ns1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3931920" y="3422150"/>
            <a:ext cx="2100000" cy="470900"/>
          </a:xfrm>
          <a:prstGeom prst="rect">
            <a:avLst/>
          </a:prstGeom>
        </p:spPr>
      </p:pic>
      <p:pic>
        <p:nvPicPr>
          <p:cNvPr id="66" name="Picture 65" descr="chart8_beo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ns2:svgBlip xmlns:ns2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931920" y="4427990"/>
            <a:ext cx="2100000" cy="470900"/>
          </a:xfrm>
          <a:prstGeom prst="rect">
            <a:avLst/>
          </a:prstGeom>
        </p:spPr>
      </p:pic>
      <p:pic>
        <p:nvPicPr>
          <p:cNvPr id="67" name="Picture 66" descr="chart8_gay.png"/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ns0:svgBlip xmlns:ns0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3931920" y="2416310"/>
            <a:ext cx="2100000" cy="470900"/>
          </a:xfrm>
          <a:prstGeom prst="rect">
            <a:avLst/>
          </a:prstGeom>
        </p:spPr>
      </p:pic>
      <p:pic>
        <p:nvPicPr>
          <p:cNvPr id="68" name="Picture 67" descr="chart8_trung.png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ns1:svgBlip xmlns:ns1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3931920" y="3422150"/>
            <a:ext cx="2100000" cy="470900"/>
          </a:xfrm>
          <a:prstGeom prst="rect">
            <a:avLst/>
          </a:prstGeom>
        </p:spPr>
      </p:pic>
      <p:pic>
        <p:nvPicPr>
          <p:cNvPr id="69" name="Picture 68" descr="chart8_beo.png"/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ns2:svgBlip xmlns:ns2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3931920" y="4427990"/>
            <a:ext cx="2100000" cy="4709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2" dur="indefinite" restart="never" nodeType="tmRoot">
          <p:childTnLst>
            <p:seq concurrent="1" nextAc="seek">
              <p:cTn id="3" dur="indefinite" nodeType="mainSeq">
                <p:childTnLst>
                  <p:par>
                    <p:cTn id="4" fill="hold">
                      <p:stCondLst>
                        <p:cond delay="0"/>
                      </p:stCondLst>
                      <p:childTnLst>
                        <p:par>
                          <p:cTn id="5" presetID="22" presetClass="entr" presetSubtype="1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7" dur="5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90"/>
                      </p:stCondLst>
                      <p:childTnLst>
                        <p:par>
                          <p:cTn id="9" presetID="22" presetClass="entr" presetSubtype="1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1" dur="5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180"/>
                      </p:stCondLst>
                      <p:childTnLst>
                        <p:par>
                          <p:cTn id="13" presetID="22" presetClass="entr" presetSubtype="1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5" dur="5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270"/>
                      </p:stCondLst>
                      <p:childTnLst>
                        <p:par>
                          <p:cTn id="17" presetID="22" presetClass="entr" presetSubtype="1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9" dur="5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360"/>
                      </p:stCondLst>
                      <p:childTnLst>
                        <p:par>
                          <p:cTn id="21" presetID="22" presetClass="entr" presetSubtype="1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3" dur="5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0"/>
                      </p:stCondLst>
                      <p:childTnLst>
                        <p:par>
                          <p:cTn id="25" presetID="22" presetClass="entr" presetSubtype="1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7" dur="5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90"/>
                      </p:stCondLst>
                      <p:childTnLst>
                        <p:par>
                          <p:cTn id="29" presetID="22" presetClass="entr" presetSubtype="1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31" dur="55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180"/>
                      </p:stCondLst>
                      <p:childTnLst>
                        <p:par>
                          <p:cTn id="33" presetID="22" presetClass="entr" presetSubtype="1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3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35" dur="55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270"/>
                      </p:stCondLst>
                      <p:childTnLst>
                        <p:par>
                          <p:cTn id="37" presetID="22" presetClass="entr" presetSubtype="1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3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39" dur="55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360"/>
                      </p:stCondLst>
                      <p:childTnLst>
                        <p:par>
                          <p:cTn id="41" presetID="22" presetClass="entr" presetSubtype="1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4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43" dur="550"/>
                                  <p:tgtEl>
                                    <p:spTgt spid="2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0"/>
                      </p:stCondLst>
                      <p:childTnLst>
                        <p:par>
                          <p:cTn id="45" presetID="22" presetClass="entr" presetSubtype="1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4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47" dur="550"/>
                                  <p:tgtEl>
                                    <p:spTgt spid="21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90"/>
                      </p:stCondLst>
                      <p:childTnLst>
                        <p:par>
                          <p:cTn id="49" presetID="22" presetClass="entr" presetSubtype="1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51" dur="550"/>
                                  <p:tgtEl>
                                    <p:spTgt spid="22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180"/>
                      </p:stCondLst>
                      <p:childTnLst>
                        <p:par>
                          <p:cTn id="53" presetID="22" presetClass="entr" presetSubtype="1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55" dur="550"/>
                                  <p:tgtEl>
                                    <p:spTgt spid="23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270"/>
                      </p:stCondLst>
                      <p:childTnLst>
                        <p:par>
                          <p:cTn id="57" presetID="22" presetClass="entr" presetSubtype="1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59" dur="550"/>
                                  <p:tgtEl>
                                    <p:spTgt spid="2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360"/>
                      </p:stCondLst>
                      <p:childTnLst>
                        <p:par>
                          <p:cTn id="61" presetID="22" presetClass="entr" presetSubtype="1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63" dur="550"/>
                                  <p:tgtEl>
                                    <p:spTgt spid="2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48640" y="502920"/>
            <a:ext cx="640080" cy="64008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502920"/>
            <a:ext cx="6400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457200"/>
            <a:ext cx="102412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 i="0">
                <a:solidFill>
                  <a:srgbClr val="2C7A5A"/>
                </a:solidFill>
                <a:latin typeface="Calibri"/>
              </a:rPr>
              <a:t>2. NGUYÊN VẬT LIỆU — SƠN TÀU BIỂN</a:t>
            </a:r>
          </a:p>
          <a:p>
            <a:pPr algn="l"/>
            <a:r>
              <a:rPr sz="2700" b="1" i="0">
                <a:solidFill>
                  <a:srgbClr val="1F4E3D"/>
                </a:solidFill>
                <a:latin typeface="Cambria"/>
              </a:rPr>
              <a:t>Cấu trúc hệ sơn 3 lớp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417320"/>
            <a:ext cx="5120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243B53"/>
                </a:solidFill>
                <a:latin typeface="Calibri"/>
              </a:rPr>
              <a:t>↑ Môi trường biển (UV · muối · sóng)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1783080"/>
            <a:ext cx="5120640" cy="914400"/>
          </a:xfrm>
          <a:prstGeom prst="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783080"/>
            <a:ext cx="457200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Lớp 3 — Phủ hoàn thiện</a:t>
            </a:r>
          </a:p>
          <a:p>
            <a:pPr algn="l"/>
            <a:r>
              <a:rPr sz="1300" b="0" i="1">
                <a:solidFill>
                  <a:srgbClr val="ECF3EE"/>
                </a:solidFill>
                <a:latin typeface="Calibri"/>
              </a:rPr>
              <a:t>Polyurethan / Alkyd béo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2752344"/>
            <a:ext cx="5120640" cy="1051560"/>
          </a:xfrm>
          <a:prstGeom prst="rect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2752344"/>
            <a:ext cx="457200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Lớp 2 — Trung gian</a:t>
            </a:r>
          </a:p>
          <a:p>
            <a:pPr algn="l"/>
            <a:r>
              <a:rPr sz="1300" b="0" i="1">
                <a:solidFill>
                  <a:srgbClr val="ECF3EE"/>
                </a:solidFill>
                <a:latin typeface="Calibri"/>
              </a:rPr>
              <a:t>Epoxy MIO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3858768"/>
            <a:ext cx="5120640" cy="914400"/>
          </a:xfrm>
          <a:prstGeom prst="rect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3858768"/>
            <a:ext cx="457200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Lớp 1 — Lót chống rỉ</a:t>
            </a:r>
          </a:p>
          <a:p>
            <a:pPr algn="l"/>
            <a:r>
              <a:rPr sz="1300" b="0" i="1">
                <a:solidFill>
                  <a:srgbClr val="ECF3EE"/>
                </a:solidFill>
                <a:latin typeface="Calibri"/>
              </a:rPr>
              <a:t>Epoxy giàu kẽm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4828031"/>
            <a:ext cx="5120640" cy="566928"/>
          </a:xfrm>
          <a:prstGeom prst="rect">
            <a:avLst/>
          </a:prstGeom>
          <a:solidFill>
            <a:srgbClr val="4A4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4828031"/>
            <a:ext cx="512064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50" b="1" i="0">
                <a:solidFill>
                  <a:srgbClr val="FFFFFF"/>
                </a:solidFill>
                <a:latin typeface="Calibri"/>
              </a:rPr>
              <a:t>THÉP NỀN (đã xử lý bề mặt)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55080" y="1783080"/>
            <a:ext cx="5303520" cy="1234440"/>
          </a:xfrm>
          <a:prstGeom prst="roundRect">
            <a:avLst>
              <a:gd name="adj" fmla="val 6000"/>
            </a:avLst>
          </a:prstGeom>
          <a:solidFill>
            <a:srgbClr val="EEF4F0"/>
          </a:solidFill>
          <a:ln w="12700">
            <a:solidFill>
              <a:srgbClr val="C88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556248" y="2002536"/>
            <a:ext cx="365760" cy="365760"/>
          </a:xfrm>
          <a:prstGeom prst="ellipse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132320" y="1929384"/>
            <a:ext cx="42976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F4E3D"/>
                </a:solidFill>
                <a:latin typeface="Calibri"/>
              </a:rPr>
              <a:t>Lớp phủ (Topcoat)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32320" y="2350008"/>
            <a:ext cx="4343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222B28"/>
                </a:solidFill>
                <a:latin typeface="Calibri"/>
              </a:rPr>
              <a:t>Chịu tia UV, giữ màu và giữ độ bóng khi tiếp xúc nắng, gió biển.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355080" y="3136391"/>
            <a:ext cx="5303520" cy="1234440"/>
          </a:xfrm>
          <a:prstGeom prst="roundRect">
            <a:avLst>
              <a:gd name="adj" fmla="val 6000"/>
            </a:avLst>
          </a:prstGeom>
          <a:solidFill>
            <a:srgbClr val="EEF4F0"/>
          </a:solidFill>
          <a:ln w="12700">
            <a:solidFill>
              <a:srgbClr val="2C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556248" y="3355848"/>
            <a:ext cx="365760" cy="365760"/>
          </a:xfrm>
          <a:prstGeom prst="ellipse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132320" y="3282696"/>
            <a:ext cx="42976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F4E3D"/>
                </a:solidFill>
                <a:latin typeface="Calibri"/>
              </a:rPr>
              <a:t>Lớp trung gian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32320" y="3703320"/>
            <a:ext cx="4343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222B28"/>
                </a:solidFill>
                <a:latin typeface="Calibri"/>
              </a:rPr>
              <a:t>Tăng chiều dày màng, chắn ẩm và ion clorua xâm nhập vào trong.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355080" y="4489704"/>
            <a:ext cx="5303520" cy="1234440"/>
          </a:xfrm>
          <a:prstGeom prst="roundRect">
            <a:avLst>
              <a:gd name="adj" fmla="val 6000"/>
            </a:avLst>
          </a:prstGeom>
          <a:solidFill>
            <a:srgbClr val="EEF4F0"/>
          </a:solidFill>
          <a:ln w="12700">
            <a:solidFill>
              <a:srgbClr val="1F4E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556248" y="4709160"/>
            <a:ext cx="365760" cy="36576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132320" y="4636008"/>
            <a:ext cx="42976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F4E3D"/>
                </a:solidFill>
                <a:latin typeface="Calibri"/>
              </a:rPr>
              <a:t>Lớp lót (Primer)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32320" y="5056632"/>
            <a:ext cx="4343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222B28"/>
                </a:solidFill>
                <a:latin typeface="Calibri"/>
              </a:rPr>
              <a:t>Bám trực tiếp lên thép, bảo vệ điện hóa chống ăn mòn từ gốc.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6144768"/>
            <a:ext cx="11064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</a:pPr>
            <a:r>
              <a:rPr sz="1250" b="0" i="0">
                <a:solidFill>
                  <a:srgbClr val="5C6B64"/>
                </a:solidFill>
                <a:latin typeface="Calibri"/>
              </a:rPr>
              <a:t>Lưu ý: số lớp / độ dày thực tế của Sơn Hải Vân cần đối chiếu — đây là cấu trúc theo nguyên lý chung ngành sơn bảo vệ tàu biển.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972800" y="6473952"/>
            <a:ext cx="7315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2C7A5A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  <p:timing>
    <p:tnLst>
      <p:par>
        <p:cTn id="2" dur="indefinite" restart="never" nodeType="tmRoot">
          <p:childTnLst>
            <p:seq concurrent="1" nextAc="seek">
              <p:cTn id="3" dur="indefinite" nodeType="mainSeq">
                <p:childTnLst>
                  <p:par>
                    <p:cTn id="4" fill="hold">
                      <p:stCondLst>
                        <p:cond delay="0"/>
                      </p:stCondLst>
                      <p:childTnLst>
                        <p:par>
                          <p:cTn id="5" presetID="2" presetClass="entr" presetSubtype="4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7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y+0.35"/>
                                    </p:val>
                                  </p:tav>
                                  <p:tav tm="100000">
                                    <p:val>
                                      <p:strVal val="#ppt_y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8" dur="50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90"/>
                      </p:stCondLst>
                      <p:childTnLst>
                        <p:par>
                          <p:cTn id="10" presetID="2" presetClass="entr" presetSubtype="4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12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y+0.35"/>
                                    </p:val>
                                  </p:tav>
                                  <p:tav tm="100000">
                                    <p:val>
                                      <p:strVal val="#ppt_y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13" dur="50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0"/>
                      </p:stCondLst>
                      <p:childTnLst>
                        <p:par>
                          <p:cTn id="15" presetID="2" presetClass="entr" presetSubtype="4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17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y+0.35"/>
                                    </p:val>
                                  </p:tav>
                                  <p:tav tm="100000">
                                    <p:val>
                                      <p:strVal val="#ppt_y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18" dur="50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90"/>
                      </p:stCondLst>
                      <p:childTnLst>
                        <p:par>
                          <p:cTn id="20" presetID="2" presetClass="entr" presetSubtype="4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22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y+0.35"/>
                                    </p:val>
                                  </p:tav>
                                  <p:tav tm="100000">
                                    <p:val>
                                      <p:strVal val="#ppt_y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23" dur="50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0"/>
                      </p:stCondLst>
                      <p:childTnLst>
                        <p:par>
                          <p:cTn id="25" presetID="2" presetClass="entr" presetSubtype="4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27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y+0.35"/>
                                    </p:val>
                                  </p:tav>
                                  <p:tav tm="100000">
                                    <p:val>
                                      <p:strVal val="#ppt_y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28" dur="50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90"/>
                      </p:stCondLst>
                      <p:childTnLst>
                        <p:par>
                          <p:cTn id="30" presetID="2" presetClass="entr" presetSubtype="4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32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y+0.35"/>
                                    </p:val>
                                  </p:tav>
                                  <p:tav tm="100000">
                                    <p:val>
                                      <p:strVal val="#ppt_y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33" dur="50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0"/>
                      </p:stCondLst>
                      <p:childTnLst>
                        <p:par>
                          <p:cTn id="35" presetID="22" presetClass="entr" presetSubtype="4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3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37" dur="50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90"/>
                      </p:stCondLst>
                      <p:childTnLst>
                        <p:par>
                          <p:cTn id="39" presetID="22" presetClass="entr" presetSubtype="4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4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41" dur="50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0"/>
                      </p:stCondLst>
                      <p:childTnLst>
                        <p:par>
                          <p:cTn id="43" presetID="2" presetClass="entr" presetSubtype="8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4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45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ppt_x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x-0.4"/>
                                    </p:val>
                                  </p:tav>
                                  <p:tav tm="100000">
                                    <p:val>
                                      <p:strVal val="#ppt_x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46" dur="50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90"/>
                      </p:stCondLst>
                      <p:childTnLst>
                        <p:par>
                          <p:cTn id="48" presetID="2" presetClass="entr" presetSubtype="8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4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50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ppt_x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x-0.4"/>
                                    </p:val>
                                  </p:tav>
                                  <p:tav tm="100000">
                                    <p:val>
                                      <p:strVal val="#ppt_x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51" dur="50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180"/>
                      </p:stCondLst>
                      <p:childTnLst>
                        <p:par>
                          <p:cTn id="53" presetID="2" presetClass="entr" presetSubtype="8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55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ppt_x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x-0.4"/>
                                    </p:val>
                                  </p:tav>
                                  <p:tav tm="100000">
                                    <p:val>
                                      <p:strVal val="#ppt_x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56" dur="50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270"/>
                      </p:stCondLst>
                      <p:childTnLst>
                        <p:par>
                          <p:cTn id="58" presetID="2" presetClass="entr" presetSubtype="8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60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ppt_x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x-0.4"/>
                                    </p:val>
                                  </p:tav>
                                  <p:tav tm="100000">
                                    <p:val>
                                      <p:strVal val="#ppt_x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61" dur="50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0"/>
                      </p:stCondLst>
                      <p:childTnLst>
                        <p:par>
                          <p:cTn id="63" presetID="2" presetClass="entr" presetSubtype="8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65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ppt_x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x-0.4"/>
                                    </p:val>
                                  </p:tav>
                                  <p:tav tm="100000">
                                    <p:val>
                                      <p:strVal val="#ppt_x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66" dur="50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90"/>
                      </p:stCondLst>
                      <p:childTnLst>
                        <p:par>
                          <p:cTn id="68" presetID="2" presetClass="entr" presetSubtype="8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70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0"/>
                                  </p:tgtEl>
                                  <p:attrNameLst>
                                    <p:attrName>ppt_x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x-0.4"/>
                                    </p:val>
                                  </p:tav>
                                  <p:tav tm="100000">
                                    <p:val>
                                      <p:strVal val="#ppt_x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71" dur="500"/>
                                  <p:tgtEl>
                                    <p:spTgt spid="2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72" fill="hold">
                      <p:stCondLst>
                        <p:cond delay="180"/>
                      </p:stCondLst>
                      <p:childTnLst>
                        <p:par>
                          <p:cTn id="73" presetID="2" presetClass="entr" presetSubtype="8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7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75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ppt_x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x-0.4"/>
                                    </p:val>
                                  </p:tav>
                                  <p:tav tm="100000">
                                    <p:val>
                                      <p:strVal val="#ppt_x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76" dur="500"/>
                                  <p:tgtEl>
                                    <p:spTgt spid="21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77" fill="hold">
                      <p:stCondLst>
                        <p:cond delay="270"/>
                      </p:stCondLst>
                      <p:childTnLst>
                        <p:par>
                          <p:cTn id="78" presetID="2" presetClass="entr" presetSubtype="8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7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80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ppt_x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x-0.4"/>
                                    </p:val>
                                  </p:tav>
                                  <p:tav tm="100000">
                                    <p:val>
                                      <p:strVal val="#ppt_x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81" dur="500"/>
                                  <p:tgtEl>
                                    <p:spTgt spid="22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82" fill="hold">
                      <p:stCondLst>
                        <p:cond delay="0"/>
                      </p:stCondLst>
                      <p:childTnLst>
                        <p:par>
                          <p:cTn id="83" presetID="2" presetClass="entr" presetSubtype="8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8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85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3"/>
                                  </p:tgtEl>
                                  <p:attrNameLst>
                                    <p:attrName>ppt_x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x-0.4"/>
                                    </p:val>
                                  </p:tav>
                                  <p:tav tm="100000">
                                    <p:val>
                                      <p:strVal val="#ppt_x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86" dur="500"/>
                                  <p:tgtEl>
                                    <p:spTgt spid="23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87" fill="hold">
                      <p:stCondLst>
                        <p:cond delay="90"/>
                      </p:stCondLst>
                      <p:childTnLst>
                        <p:par>
                          <p:cTn id="88" presetID="2" presetClass="entr" presetSubtype="8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8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90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4"/>
                                  </p:tgtEl>
                                  <p:attrNameLst>
                                    <p:attrName>ppt_x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x-0.4"/>
                                    </p:val>
                                  </p:tav>
                                  <p:tav tm="100000">
                                    <p:val>
                                      <p:strVal val="#ppt_x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91" dur="500"/>
                                  <p:tgtEl>
                                    <p:spTgt spid="2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92" fill="hold">
                      <p:stCondLst>
                        <p:cond delay="180"/>
                      </p:stCondLst>
                      <p:childTnLst>
                        <p:par>
                          <p:cTn id="93" presetID="2" presetClass="entr" presetSubtype="8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9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95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5"/>
                                  </p:tgtEl>
                                  <p:attrNameLst>
                                    <p:attrName>ppt_x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x-0.4"/>
                                    </p:val>
                                  </p:tav>
                                  <p:tav tm="100000">
                                    <p:val>
                                      <p:strVal val="#ppt_x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96" dur="500"/>
                                  <p:tgtEl>
                                    <p:spTgt spid="2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97" fill="hold">
                      <p:stCondLst>
                        <p:cond delay="270"/>
                      </p:stCondLst>
                      <p:childTnLst>
                        <p:par>
                          <p:cTn id="98" presetID="2" presetClass="entr" presetSubtype="8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9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100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6"/>
                                  </p:tgtEl>
                                  <p:attrNameLst>
                                    <p:attrName>ppt_x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x-0.4"/>
                                    </p:val>
                                  </p:tav>
                                  <p:tav tm="100000">
                                    <p:val>
                                      <p:strVal val="#ppt_x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101" dur="500"/>
                                  <p:tgtEl>
                                    <p:spTgt spid="2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097280" y="4937760"/>
            <a:ext cx="3108960" cy="3108960"/>
          </a:xfrm>
          <a:prstGeom prst="ellipse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607040" y="-1005840"/>
            <a:ext cx="2743200" cy="2743200"/>
          </a:xfrm>
          <a:prstGeom prst="ellipse">
            <a:avLst/>
          </a:prstGeom>
          <a:solidFill>
            <a:srgbClr val="1840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68680" y="2011680"/>
            <a:ext cx="1371600" cy="1371600"/>
          </a:xfrm>
          <a:prstGeom prst="ellipse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2011680"/>
            <a:ext cx="137160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06040" y="2011680"/>
            <a:ext cx="8778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6FA287"/>
                </a:solidFill>
                <a:latin typeface="Calibri"/>
              </a:rPr>
              <a:t>PHẦN 3</a:t>
            </a:r>
          </a:p>
          <a:p>
            <a:pPr algn="l">
              <a:lnSpc>
                <a:spcPct val="102000"/>
              </a:lnSpc>
              <a:spcAft>
                <a:spcPts val="800"/>
              </a:spcAft>
            </a:pPr>
            <a:r>
              <a:rPr sz="3800" b="1" i="0">
                <a:solidFill>
                  <a:srgbClr val="FFFFFF"/>
                </a:solidFill>
                <a:latin typeface="Cambria"/>
              </a:rPr>
              <a:t>Quy trình công nghệ &amp; thiết bị</a:t>
            </a:r>
          </a:p>
          <a:p>
            <a:pPr algn="l"/>
            <a:r>
              <a:rPr sz="1500" b="0" i="0">
                <a:solidFill>
                  <a:srgbClr val="6FA287"/>
                </a:solidFill>
                <a:latin typeface="Calibri"/>
              </a:rPr>
              <a:t>Trình tự công đoạn · thời gian · thiết bị chính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818120" y="4160520"/>
            <a:ext cx="548640" cy="1417320"/>
          </a:xfrm>
          <a:prstGeom prst="roundRect">
            <a:avLst>
              <a:gd name="adj" fmla="val 12000"/>
            </a:avLst>
          </a:prstGeom>
          <a:solidFill>
            <a:srgbClr val="1F4E3D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366760" y="4306824"/>
            <a:ext cx="548640" cy="1417320"/>
          </a:xfrm>
          <a:prstGeom prst="roundRect">
            <a:avLst>
              <a:gd name="adj" fmla="val 12000"/>
            </a:avLst>
          </a:prstGeom>
          <a:solidFill>
            <a:srgbClr val="3E8C6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915400" y="4160520"/>
            <a:ext cx="548640" cy="1417320"/>
          </a:xfrm>
          <a:prstGeom prst="roundRect">
            <a:avLst>
              <a:gd name="adj" fmla="val 12000"/>
            </a:avLst>
          </a:prstGeom>
          <a:solidFill>
            <a:srgbClr val="2C7A5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9464040" y="4306824"/>
            <a:ext cx="548640" cy="1417320"/>
          </a:xfrm>
          <a:prstGeom prst="roundRect">
            <a:avLst>
              <a:gd name="adj" fmla="val 12000"/>
            </a:avLst>
          </a:prstGeom>
          <a:solidFill>
            <a:srgbClr val="1F4E3D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0012680" y="4160520"/>
            <a:ext cx="548640" cy="1417320"/>
          </a:xfrm>
          <a:prstGeom prst="roundRect">
            <a:avLst>
              <a:gd name="adj" fmla="val 12000"/>
            </a:avLst>
          </a:prstGeom>
          <a:solidFill>
            <a:srgbClr val="14332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561320" y="4306824"/>
            <a:ext cx="548640" cy="1417320"/>
          </a:xfrm>
          <a:prstGeom prst="roundRect">
            <a:avLst>
              <a:gd name="adj" fmla="val 12000"/>
            </a:avLst>
          </a:prstGeom>
          <a:solidFill>
            <a:srgbClr val="2E6E6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iming>
    <p:tnLst>
      <p:par>
        <p:cTn id="2" dur="indefinite" restart="never" nodeType="tmRoot">
          <p:childTnLst>
            <p:seq concurrent="1" nextAc="seek">
              <p:cTn id="3" dur="indefinite" nodeType="mainSeq">
                <p:childTnLst>
                  <p:par>
                    <p:cTn id="4" fill="hold">
                      <p:stCondLst>
                        <p:cond delay="0"/>
                      </p:stCondLst>
                      <p:childTnLst>
                        <p:par>
                          <p:cTn id="5" presetID="22" presetClass="entr" presetSubtype="4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7" dur="50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90"/>
                      </p:stCondLst>
                      <p:childTnLst>
                        <p:par>
                          <p:cTn id="9" presetID="22" presetClass="entr" presetSubtype="4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1" dur="50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180"/>
                      </p:stCondLst>
                      <p:childTnLst>
                        <p:par>
                          <p:cTn id="13" presetID="22" presetClass="entr" presetSubtype="4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5" dur="50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270"/>
                      </p:stCondLst>
                      <p:childTnLst>
                        <p:par>
                          <p:cTn id="17" presetID="22" presetClass="entr" presetSubtype="4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9" dur="50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360"/>
                      </p:stCondLst>
                      <p:childTnLst>
                        <p:par>
                          <p:cTn id="21" presetID="22" presetClass="entr" presetSubtype="4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3" dur="50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450"/>
                      </p:stCondLst>
                      <p:childTnLst>
                        <p:par>
                          <p:cTn id="25" presetID="22" presetClass="entr" presetSubtype="4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7" dur="50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48640" y="502920"/>
            <a:ext cx="640080" cy="64008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502920"/>
            <a:ext cx="6400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457200"/>
            <a:ext cx="102412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 i="0">
                <a:solidFill>
                  <a:srgbClr val="2C7A5A"/>
                </a:solidFill>
                <a:latin typeface="Calibri"/>
              </a:rPr>
              <a:t>3. QUY TRÌNH CÔNG NGHỆ</a:t>
            </a:r>
          </a:p>
          <a:p>
            <a:pPr algn="l"/>
            <a:r>
              <a:rPr sz="2700" b="1" i="0">
                <a:solidFill>
                  <a:srgbClr val="1F4E3D"/>
                </a:solidFill>
                <a:latin typeface="Cambria"/>
              </a:rPr>
              <a:t>Sáu công đoạn sản xuất sơn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286000"/>
            <a:ext cx="1600200" cy="1554480"/>
          </a:xfrm>
          <a:prstGeom prst="roundRect">
            <a:avLst>
              <a:gd name="adj" fmla="val 6000"/>
            </a:avLst>
          </a:prstGeom>
          <a:solidFill>
            <a:srgbClr val="EEF4F0"/>
          </a:solidFill>
          <a:ln w="12700">
            <a:solidFill>
              <a:srgbClr val="D5E1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508640" y="2236000"/>
            <a:ext cx="330000" cy="330000"/>
          </a:xfrm>
          <a:prstGeom prst="ellipse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8640" y="2236000"/>
            <a:ext cx="330000" cy="33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170000"/>
            <a:ext cx="141732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1F4E3D"/>
                </a:solidFill>
                <a:latin typeface="Calibri"/>
              </a:rPr>
              <a:t>Định lượng</a:t>
            </a:r>
          </a:p>
        </p:txBody>
      </p:sp>
      <p:sp>
        <p:nvSpPr>
          <p:cNvPr id="10" name="Chevron 9"/>
          <p:cNvSpPr/>
          <p:nvPr/>
        </p:nvSpPr>
        <p:spPr>
          <a:xfrm>
            <a:off x="2130552" y="2834640"/>
            <a:ext cx="292608" cy="457200"/>
          </a:xfrm>
          <a:prstGeom prst="chevron">
            <a:avLst/>
          </a:prstGeom>
          <a:solidFill>
            <a:srgbClr val="6FA2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2404872" y="2286000"/>
            <a:ext cx="1600200" cy="1554480"/>
          </a:xfrm>
          <a:prstGeom prst="roundRect">
            <a:avLst>
              <a:gd name="adj" fmla="val 6000"/>
            </a:avLst>
          </a:prstGeom>
          <a:solidFill>
            <a:srgbClr val="EEF4F0"/>
          </a:solidFill>
          <a:ln w="12700">
            <a:solidFill>
              <a:srgbClr val="D5E1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364872" y="2236000"/>
            <a:ext cx="330000" cy="330000"/>
          </a:xfrm>
          <a:prstGeom prst="ellipse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364872" y="2236000"/>
            <a:ext cx="330000" cy="33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496312" y="3170000"/>
            <a:ext cx="141732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1F4E3D"/>
                </a:solidFill>
                <a:latin typeface="Calibri"/>
              </a:rPr>
              <a:t>Đánh paste</a:t>
            </a:r>
          </a:p>
        </p:txBody>
      </p:sp>
      <p:sp>
        <p:nvSpPr>
          <p:cNvPr id="15" name="Chevron 14"/>
          <p:cNvSpPr/>
          <p:nvPr/>
        </p:nvSpPr>
        <p:spPr>
          <a:xfrm>
            <a:off x="3986784" y="2834640"/>
            <a:ext cx="292608" cy="457200"/>
          </a:xfrm>
          <a:prstGeom prst="chevron">
            <a:avLst/>
          </a:prstGeom>
          <a:solidFill>
            <a:srgbClr val="6FA2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261104" y="2286000"/>
            <a:ext cx="1600200" cy="1554480"/>
          </a:xfrm>
          <a:prstGeom prst="roundRect">
            <a:avLst>
              <a:gd name="adj" fmla="val 6000"/>
            </a:avLst>
          </a:prstGeom>
          <a:solidFill>
            <a:srgbClr val="FBF3E4"/>
          </a:solidFill>
          <a:ln w="12700">
            <a:solidFill>
              <a:srgbClr val="E7D5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4221104" y="2236000"/>
            <a:ext cx="330000" cy="330000"/>
          </a:xfrm>
          <a:prstGeom prst="ellipse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221104" y="2236000"/>
            <a:ext cx="330000" cy="33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52544" y="3170000"/>
            <a:ext cx="141732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1F4E3D"/>
                </a:solidFill>
                <a:latin typeface="Calibri"/>
              </a:rPr>
              <a:t>Nghiền mịn</a:t>
            </a:r>
          </a:p>
        </p:txBody>
      </p:sp>
      <p:sp>
        <p:nvSpPr>
          <p:cNvPr id="20" name="Chevron 19"/>
          <p:cNvSpPr/>
          <p:nvPr/>
        </p:nvSpPr>
        <p:spPr>
          <a:xfrm>
            <a:off x="5843016" y="2834640"/>
            <a:ext cx="292608" cy="457200"/>
          </a:xfrm>
          <a:prstGeom prst="chevron">
            <a:avLst/>
          </a:prstGeom>
          <a:solidFill>
            <a:srgbClr val="6FA2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117336" y="2286000"/>
            <a:ext cx="1600200" cy="1554480"/>
          </a:xfrm>
          <a:prstGeom prst="roundRect">
            <a:avLst>
              <a:gd name="adj" fmla="val 6000"/>
            </a:avLst>
          </a:prstGeom>
          <a:solidFill>
            <a:srgbClr val="EEF4F0"/>
          </a:solidFill>
          <a:ln w="12700">
            <a:solidFill>
              <a:srgbClr val="D5E1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077336" y="2236000"/>
            <a:ext cx="330000" cy="330000"/>
          </a:xfrm>
          <a:prstGeom prst="ellipse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077336" y="2236000"/>
            <a:ext cx="330000" cy="33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mbria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08776" y="3170000"/>
            <a:ext cx="141732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1F4E3D"/>
                </a:solidFill>
                <a:latin typeface="Calibri"/>
              </a:rPr>
              <a:t>Ngâm ủ</a:t>
            </a:r>
          </a:p>
        </p:txBody>
      </p:sp>
      <p:sp>
        <p:nvSpPr>
          <p:cNvPr id="25" name="Chevron 24"/>
          <p:cNvSpPr/>
          <p:nvPr/>
        </p:nvSpPr>
        <p:spPr>
          <a:xfrm>
            <a:off x="7699248" y="2834640"/>
            <a:ext cx="292608" cy="457200"/>
          </a:xfrm>
          <a:prstGeom prst="chevron">
            <a:avLst/>
          </a:prstGeom>
          <a:solidFill>
            <a:srgbClr val="6FA2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7973568" y="2286000"/>
            <a:ext cx="1600200" cy="1554480"/>
          </a:xfrm>
          <a:prstGeom prst="roundRect">
            <a:avLst>
              <a:gd name="adj" fmla="val 6000"/>
            </a:avLst>
          </a:prstGeom>
          <a:solidFill>
            <a:srgbClr val="EEF4F0"/>
          </a:solidFill>
          <a:ln w="12700">
            <a:solidFill>
              <a:srgbClr val="D5E1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933568" y="2236000"/>
            <a:ext cx="330000" cy="330000"/>
          </a:xfrm>
          <a:prstGeom prst="ellipse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933568" y="2236000"/>
            <a:ext cx="330000" cy="33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mbria"/>
              </a:rPr>
              <a:t>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065008" y="3170000"/>
            <a:ext cx="141732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1F4E3D"/>
                </a:solidFill>
                <a:latin typeface="Calibri"/>
              </a:rPr>
              <a:t>Pha loãng</a:t>
            </a:r>
          </a:p>
        </p:txBody>
      </p:sp>
      <p:sp>
        <p:nvSpPr>
          <p:cNvPr id="30" name="Chevron 29"/>
          <p:cNvSpPr/>
          <p:nvPr/>
        </p:nvSpPr>
        <p:spPr>
          <a:xfrm>
            <a:off x="9555480" y="2834640"/>
            <a:ext cx="292608" cy="457200"/>
          </a:xfrm>
          <a:prstGeom prst="chevron">
            <a:avLst/>
          </a:prstGeom>
          <a:solidFill>
            <a:srgbClr val="6FA2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9829800" y="2286000"/>
            <a:ext cx="1600200" cy="1554480"/>
          </a:xfrm>
          <a:prstGeom prst="roundRect">
            <a:avLst>
              <a:gd name="adj" fmla="val 6000"/>
            </a:avLst>
          </a:prstGeom>
          <a:solidFill>
            <a:srgbClr val="EEF4F0"/>
          </a:solidFill>
          <a:ln w="12700">
            <a:solidFill>
              <a:srgbClr val="D5E1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9789800" y="2236000"/>
            <a:ext cx="330000" cy="330000"/>
          </a:xfrm>
          <a:prstGeom prst="ellipse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789800" y="2236000"/>
            <a:ext cx="330000" cy="33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mbria"/>
              </a:rPr>
              <a:t>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921240" y="3170000"/>
            <a:ext cx="141732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1F4E3D"/>
                </a:solidFill>
                <a:latin typeface="Calibri"/>
              </a:rPr>
              <a:t>Lọc &amp; đóng gói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48640" y="4297680"/>
            <a:ext cx="11109960" cy="1554480"/>
          </a:xfrm>
          <a:prstGeom prst="roundRect">
            <a:avLst>
              <a:gd name="adj" fmla="val 6000"/>
            </a:avLst>
          </a:prstGeom>
          <a:solidFill>
            <a:srgbClr val="EE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22960" y="4480560"/>
            <a:ext cx="10515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450" b="1" i="0">
                <a:solidFill>
                  <a:srgbClr val="1F4E3D"/>
                </a:solidFill>
                <a:latin typeface="Calibri"/>
              </a:rPr>
              <a:t>Nguyên tắc thứ tự: </a:t>
            </a:r>
            <a:r>
              <a:rPr sz="1400" b="0" i="0">
                <a:solidFill>
                  <a:srgbClr val="222B28"/>
                </a:solidFill>
                <a:latin typeface="Calibri"/>
              </a:rPr>
              <a:t>Định lượng → phân tán (paste) → nghiền → ủ → pha loãng → lọc. Không thể đảo bước vì mỗi công đoạn là đầu vào của công đoạn sau.</a:t>
            </a:r>
          </a:p>
          <a:p>
            <a:pPr algn="l">
              <a:lnSpc>
                <a:spcPct val="112000"/>
              </a:lnSpc>
            </a:pPr>
            <a:r>
              <a:rPr sz="1450" b="1" i="0">
                <a:solidFill>
                  <a:srgbClr val="9A661E"/>
                </a:solidFill>
                <a:latin typeface="Calibri"/>
              </a:rPr>
              <a:t>Bước có thể bỏ qua (màu cam): </a:t>
            </a:r>
            <a:r>
              <a:rPr sz="1400" b="0" i="0">
                <a:solidFill>
                  <a:srgbClr val="222B28"/>
                </a:solidFill>
                <a:latin typeface="Calibri"/>
              </a:rPr>
              <a:t>Nghiền mịn — nếu mẻ đã đạt độ mịn Hegman ngay sau khi đánh paste thì bỏ qua để tiết kiệm thời gian &amp; năng lượng.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8640" y="6473952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C6B64"/>
                </a:solidFill>
                <a:latin typeface="Calibri"/>
              </a:rPr>
              <a:t>Báo cáo thực tập  ·  Công ty TNHH Sơn Hải Vân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972800" y="6473952"/>
            <a:ext cx="7315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2C7A5A"/>
                </a:solidFill>
                <a:latin typeface="Calibri"/>
              </a:rPr>
              <a:t>13</a:t>
            </a:r>
          </a:p>
        </p:txBody>
      </p:sp>
      <p:pic>
        <p:nvPicPr>
          <p:cNvPr id="119" name="Picture 118" descr="dinh_luong_g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1018740" y="2496000"/>
            <a:ext cx="660000" cy="660000"/>
          </a:xfrm>
          <a:prstGeom prst="rect">
            <a:avLst/>
          </a:prstGeom>
        </p:spPr>
      </p:pic>
      <p:pic>
        <p:nvPicPr>
          <p:cNvPr id="120" name="Picture 119" descr="danh_paste_g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ns1:svgBlip xmlns:ns1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2874972" y="2496000"/>
            <a:ext cx="660000" cy="660000"/>
          </a:xfrm>
          <a:prstGeom prst="rect">
            <a:avLst/>
          </a:prstGeom>
        </p:spPr>
      </p:pic>
      <p:pic>
        <p:nvPicPr>
          <p:cNvPr id="121" name="Picture 120" descr="nghien_min_g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ns2:svgBlip xmlns:ns2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4731204" y="2496000"/>
            <a:ext cx="660000" cy="660000"/>
          </a:xfrm>
          <a:prstGeom prst="rect">
            <a:avLst/>
          </a:prstGeom>
        </p:spPr>
      </p:pic>
      <p:pic>
        <p:nvPicPr>
          <p:cNvPr id="122" name="Picture 121" descr="ngam_u_g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ns3:svgBlip xmlns:ns3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6587436" y="2496000"/>
            <a:ext cx="660000" cy="660000"/>
          </a:xfrm>
          <a:prstGeom prst="rect">
            <a:avLst/>
          </a:prstGeom>
        </p:spPr>
      </p:pic>
      <p:pic>
        <p:nvPicPr>
          <p:cNvPr id="123" name="Picture 122" descr="pha_loang_g.png"/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ns4:svgBlip xmlns:ns4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8443668" y="2496000"/>
            <a:ext cx="660000" cy="660000"/>
          </a:xfrm>
          <a:prstGeom prst="rect">
            <a:avLst/>
          </a:prstGeom>
        </p:spPr>
      </p:pic>
      <p:pic>
        <p:nvPicPr>
          <p:cNvPr id="124" name="Picture 123" descr="loc_donggoi_g.png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ns5:svgBlip xmlns:ns5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299900" y="2496000"/>
            <a:ext cx="660000" cy="660000"/>
          </a:xfrm>
          <a:prstGeom prst="rect">
            <a:avLst/>
          </a:prstGeom>
        </p:spPr>
      </p:pic>
      <p:pic>
        <p:nvPicPr>
          <p:cNvPr id="125" name="Picture 124" descr="image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1018740" y="2496000"/>
            <a:ext cx="660000" cy="660000"/>
          </a:xfrm>
          <a:prstGeom prst="rect">
            <a:avLst/>
          </a:prstGeom>
        </p:spPr>
      </p:pic>
      <p:pic>
        <p:nvPicPr>
          <p:cNvPr id="126" name="Picture 125" descr="imag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ns1:svgBlip xmlns:ns1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2874972" y="2496000"/>
            <a:ext cx="660000" cy="660000"/>
          </a:xfrm>
          <a:prstGeom prst="rect">
            <a:avLst/>
          </a:prstGeom>
        </p:spPr>
      </p:pic>
      <p:pic>
        <p:nvPicPr>
          <p:cNvPr id="127" name="Picture 126" descr="image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ns2:svgBlip xmlns:ns2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4731204" y="2496000"/>
            <a:ext cx="660000" cy="660000"/>
          </a:xfrm>
          <a:prstGeom prst="rect">
            <a:avLst/>
          </a:prstGeom>
        </p:spPr>
      </p:pic>
      <p:pic>
        <p:nvPicPr>
          <p:cNvPr id="128" name="Picture 127" descr="image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ns3:svgBlip xmlns:ns3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6587436" y="2496000"/>
            <a:ext cx="660000" cy="660000"/>
          </a:xfrm>
          <a:prstGeom prst="rect">
            <a:avLst/>
          </a:prstGeom>
        </p:spPr>
      </p:pic>
      <p:pic>
        <p:nvPicPr>
          <p:cNvPr id="129" name="Picture 128" descr="image.png"/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ns4:svgBlip xmlns:ns4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8443668" y="2496000"/>
            <a:ext cx="660000" cy="660000"/>
          </a:xfrm>
          <a:prstGeom prst="rect">
            <a:avLst/>
          </a:prstGeom>
        </p:spPr>
      </p:pic>
      <p:pic>
        <p:nvPicPr>
          <p:cNvPr id="130" name="Picture 129" descr="image.png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ns5:svgBlip xmlns:ns5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10299900" y="2496000"/>
            <a:ext cx="660000" cy="660000"/>
          </a:xfrm>
          <a:prstGeom prst="rect">
            <a:avLst/>
          </a:prstGeom>
        </p:spPr>
      </p:pic>
      <p:pic>
        <p:nvPicPr>
          <p:cNvPr id="131" name="Picture 130" descr="image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21"/>
              </a:ext>
            </a:extLst>
          </a:blip>
          <a:stretch>
            <a:fillRect/>
          </a:stretch>
        </p:blipFill>
        <p:spPr>
          <a:xfrm>
            <a:off x="1018740" y="2496000"/>
            <a:ext cx="660000" cy="660000"/>
          </a:xfrm>
          <a:prstGeom prst="rect">
            <a:avLst/>
          </a:prstGeom>
        </p:spPr>
      </p:pic>
      <p:pic>
        <p:nvPicPr>
          <p:cNvPr id="132" name="Picture 131" descr="imag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ns1:svgBlip xmlns:ns1="http://schemas.microsoft.com/office/drawing/2016/SVG/main" r:embed="rId20"/>
              </a:ext>
            </a:extLst>
          </a:blip>
          <a:stretch>
            <a:fillRect/>
          </a:stretch>
        </p:blipFill>
        <p:spPr>
          <a:xfrm>
            <a:off x="2874972" y="2496000"/>
            <a:ext cx="660000" cy="660000"/>
          </a:xfrm>
          <a:prstGeom prst="rect">
            <a:avLst/>
          </a:prstGeom>
        </p:spPr>
      </p:pic>
      <p:pic>
        <p:nvPicPr>
          <p:cNvPr id="133" name="Picture 132" descr="image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ns2:svgBlip xmlns:ns2="http://schemas.microsoft.com/office/drawing/2016/SVG/main" r:embed="rId24"/>
              </a:ext>
            </a:extLst>
          </a:blip>
          <a:stretch>
            <a:fillRect/>
          </a:stretch>
        </p:blipFill>
        <p:spPr>
          <a:xfrm>
            <a:off x="4731204" y="2496000"/>
            <a:ext cx="660000" cy="660000"/>
          </a:xfrm>
          <a:prstGeom prst="rect">
            <a:avLst/>
          </a:prstGeom>
        </p:spPr>
      </p:pic>
      <p:pic>
        <p:nvPicPr>
          <p:cNvPr id="134" name="Picture 133" descr="image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ns3:svgBlip xmlns:ns3="http://schemas.microsoft.com/office/drawing/2016/SVG/main" r:embed="rId23"/>
              </a:ext>
            </a:extLst>
          </a:blip>
          <a:stretch>
            <a:fillRect/>
          </a:stretch>
        </p:blipFill>
        <p:spPr>
          <a:xfrm>
            <a:off x="6587436" y="2496000"/>
            <a:ext cx="660000" cy="660000"/>
          </a:xfrm>
          <a:prstGeom prst="rect">
            <a:avLst/>
          </a:prstGeom>
        </p:spPr>
      </p:pic>
      <p:pic>
        <p:nvPicPr>
          <p:cNvPr id="135" name="Picture 134" descr="image.png"/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ns4:svgBlip xmlns:ns4="http://schemas.microsoft.com/office/drawing/2016/SVG/main" r:embed="rId25"/>
              </a:ext>
            </a:extLst>
          </a:blip>
          <a:stretch>
            <a:fillRect/>
          </a:stretch>
        </p:blipFill>
        <p:spPr>
          <a:xfrm>
            <a:off x="8443668" y="2496000"/>
            <a:ext cx="660000" cy="660000"/>
          </a:xfrm>
          <a:prstGeom prst="rect">
            <a:avLst/>
          </a:prstGeom>
        </p:spPr>
      </p:pic>
      <p:pic>
        <p:nvPicPr>
          <p:cNvPr id="136" name="Picture 135" descr="image.png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ns5:svgBlip xmlns:ns5="http://schemas.microsoft.com/office/drawing/2016/SVG/main" r:embed="rId22"/>
              </a:ext>
            </a:extLst>
          </a:blip>
          <a:stretch>
            <a:fillRect/>
          </a:stretch>
        </p:blipFill>
        <p:spPr>
          <a:xfrm>
            <a:off x="10299900" y="2496000"/>
            <a:ext cx="660000" cy="6600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2" dur="indefinite" restart="never" nodeType="tmRoot">
          <p:childTnLst>
            <p:seq concurrent="1" nextAc="seek">
              <p:cTn id="3" dur="indefinite" nodeType="mainSeq">
                <p:childTnLst>
                  <p:par>
                    <p:cTn id="4" fill="hold">
                      <p:stCondLst>
                        <p:cond delay="0"/>
                      </p:stCondLst>
                      <p:childTnLst>
                        <p:par>
                          <p:cTn id="5" presetID="2" presetClass="entr" presetSubtype="4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7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ppt_x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x+-0.4"/>
                                    </p:val>
                                  </p:tav>
                                  <p:tav tm="100000">
                                    <p:val>
                                      <p:strVal val="#ppt_x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8" dur="50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90"/>
                      </p:stCondLst>
                      <p:childTnLst>
                        <p:par>
                          <p:cTn id="10" presetID="2" presetClass="entr" presetSubtype="4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12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ppt_x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x+-0.4"/>
                                    </p:val>
                                  </p:tav>
                                  <p:tav tm="100000">
                                    <p:val>
                                      <p:strVal val="#ppt_x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13" dur="50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180"/>
                      </p:stCondLst>
                      <p:childTnLst>
                        <p:par>
                          <p:cTn id="15" presetID="2" presetClass="entr" presetSubtype="4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17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ppt_x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x+-0.4"/>
                                    </p:val>
                                  </p:tav>
                                  <p:tav tm="100000">
                                    <p:val>
                                      <p:strVal val="#ppt_x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18" dur="50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270"/>
                      </p:stCondLst>
                      <p:childTnLst>
                        <p:par>
                          <p:cTn id="20" presetID="2" presetClass="entr" presetSubtype="4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22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ppt_x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x+-0.4"/>
                                    </p:val>
                                  </p:tav>
                                  <p:tav tm="100000">
                                    <p:val>
                                      <p:strVal val="#ppt_x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23" dur="50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0"/>
                      </p:stCondLst>
                      <p:childTnLst>
                        <p:par>
                          <p:cTn id="25" presetID="2" presetClass="entr" presetSubtype="4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27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ppt_x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x+-0.4"/>
                                    </p:val>
                                  </p:tav>
                                  <p:tav tm="100000">
                                    <p:val>
                                      <p:strVal val="#ppt_x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28" dur="50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90"/>
                      </p:stCondLst>
                      <p:childTnLst>
                        <p:par>
                          <p:cTn id="30" presetID="2" presetClass="entr" presetSubtype="4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32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ppt_x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x+-0.4"/>
                                    </p:val>
                                  </p:tav>
                                  <p:tav tm="100000">
                                    <p:val>
                                      <p:strVal val="#ppt_x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33" dur="50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180"/>
                      </p:stCondLst>
                      <p:childTnLst>
                        <p:par>
                          <p:cTn id="35" presetID="2" presetClass="entr" presetSubtype="4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3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37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ppt_x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x+-0.4"/>
                                    </p:val>
                                  </p:tav>
                                  <p:tav tm="100000">
                                    <p:val>
                                      <p:strVal val="#ppt_x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38" dur="50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270"/>
                      </p:stCondLst>
                      <p:childTnLst>
                        <p:par>
                          <p:cTn id="40" presetID="2" presetClass="entr" presetSubtype="4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4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42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ppt_x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x+-0.4"/>
                                    </p:val>
                                  </p:tav>
                                  <p:tav tm="100000">
                                    <p:val>
                                      <p:strVal val="#ppt_x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43" dur="50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0"/>
                      </p:stCondLst>
                      <p:childTnLst>
                        <p:par>
                          <p:cTn id="45" presetID="2" presetClass="entr" presetSubtype="4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4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47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ppt_x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x+-0.4"/>
                                    </p:val>
                                  </p:tav>
                                  <p:tav tm="100000">
                                    <p:val>
                                      <p:strVal val="#ppt_x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48" dur="50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90"/>
                      </p:stCondLst>
                      <p:childTnLst>
                        <p:par>
                          <p:cTn id="50" presetID="2" presetClass="entr" presetSubtype="4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52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ppt_x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x+-0.4"/>
                                    </p:val>
                                  </p:tav>
                                  <p:tav tm="100000">
                                    <p:val>
                                      <p:strVal val="#ppt_x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53" dur="50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180"/>
                      </p:stCondLst>
                      <p:childTnLst>
                        <p:par>
                          <p:cTn id="55" presetID="2" presetClass="entr" presetSubtype="4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57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ppt_x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x+-0.4"/>
                                    </p:val>
                                  </p:tav>
                                  <p:tav tm="100000">
                                    <p:val>
                                      <p:strVal val="#ppt_x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58" dur="50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270"/>
                      </p:stCondLst>
                      <p:childTnLst>
                        <p:par>
                          <p:cTn id="60" presetID="2" presetClass="entr" presetSubtype="4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62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0"/>
                                  </p:tgtEl>
                                  <p:attrNameLst>
                                    <p:attrName>ppt_x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x+-0.4"/>
                                    </p:val>
                                  </p:tav>
                                  <p:tav tm="100000">
                                    <p:val>
                                      <p:strVal val="#ppt_x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63" dur="500"/>
                                  <p:tgtEl>
                                    <p:spTgt spid="2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64" fill="hold">
                      <p:stCondLst>
                        <p:cond delay="0"/>
                      </p:stCondLst>
                      <p:childTnLst>
                        <p:par>
                          <p:cTn id="65" presetID="2" presetClass="entr" presetSubtype="4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67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ppt_x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x+-0.4"/>
                                    </p:val>
                                  </p:tav>
                                  <p:tav tm="100000">
                                    <p:val>
                                      <p:strVal val="#ppt_x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68" dur="500"/>
                                  <p:tgtEl>
                                    <p:spTgt spid="21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90"/>
                      </p:stCondLst>
                      <p:childTnLst>
                        <p:par>
                          <p:cTn id="70" presetID="2" presetClass="entr" presetSubtype="4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7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72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ppt_x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x+-0.4"/>
                                    </p:val>
                                  </p:tav>
                                  <p:tav tm="100000">
                                    <p:val>
                                      <p:strVal val="#ppt_x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73" dur="500"/>
                                  <p:tgtEl>
                                    <p:spTgt spid="22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74" fill="hold">
                      <p:stCondLst>
                        <p:cond delay="180"/>
                      </p:stCondLst>
                      <p:childTnLst>
                        <p:par>
                          <p:cTn id="75" presetID="2" presetClass="entr" presetSubtype="4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7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77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4"/>
                                  </p:tgtEl>
                                  <p:attrNameLst>
                                    <p:attrName>ppt_x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x+-0.4"/>
                                    </p:val>
                                  </p:tav>
                                  <p:tav tm="100000">
                                    <p:val>
                                      <p:strVal val="#ppt_x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78" dur="500"/>
                                  <p:tgtEl>
                                    <p:spTgt spid="2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79" fill="hold">
                      <p:stCondLst>
                        <p:cond delay="270"/>
                      </p:stCondLst>
                      <p:childTnLst>
                        <p:par>
                          <p:cTn id="80" presetID="2" presetClass="entr" presetSubtype="4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8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82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5"/>
                                  </p:tgtEl>
                                  <p:attrNameLst>
                                    <p:attrName>ppt_x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x+-0.4"/>
                                    </p:val>
                                  </p:tav>
                                  <p:tav tm="100000">
                                    <p:val>
                                      <p:strVal val="#ppt_x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83" dur="500"/>
                                  <p:tgtEl>
                                    <p:spTgt spid="2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84" fill="hold">
                      <p:stCondLst>
                        <p:cond delay="0"/>
                      </p:stCondLst>
                      <p:childTnLst>
                        <p:par>
                          <p:cTn id="85" presetID="2" presetClass="entr" presetSubtype="4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8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87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6"/>
                                  </p:tgtEl>
                                  <p:attrNameLst>
                                    <p:attrName>ppt_x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x+-0.4"/>
                                    </p:val>
                                  </p:tav>
                                  <p:tav tm="100000">
                                    <p:val>
                                      <p:strVal val="#ppt_x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88" dur="500"/>
                                  <p:tgtEl>
                                    <p:spTgt spid="2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89" fill="hold">
                      <p:stCondLst>
                        <p:cond delay="90"/>
                      </p:stCondLst>
                      <p:childTnLst>
                        <p:par>
                          <p:cTn id="90" presetID="2" presetClass="entr" presetSubtype="4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9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92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7"/>
                                  </p:tgtEl>
                                  <p:attrNameLst>
                                    <p:attrName>ppt_x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x+-0.4"/>
                                    </p:val>
                                  </p:tav>
                                  <p:tav tm="100000">
                                    <p:val>
                                      <p:strVal val="#ppt_x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93" dur="500"/>
                                  <p:tgtEl>
                                    <p:spTgt spid="2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94" fill="hold">
                      <p:stCondLst>
                        <p:cond delay="180"/>
                      </p:stCondLst>
                      <p:childTnLst>
                        <p:par>
                          <p:cTn id="95" presetID="2" presetClass="entr" presetSubtype="4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9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97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9"/>
                                  </p:tgtEl>
                                  <p:attrNameLst>
                                    <p:attrName>ppt_x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x+-0.4"/>
                                    </p:val>
                                  </p:tav>
                                  <p:tav tm="100000">
                                    <p:val>
                                      <p:strVal val="#ppt_x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98" dur="500"/>
                                  <p:tgtEl>
                                    <p:spTgt spid="2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99" fill="hold">
                      <p:stCondLst>
                        <p:cond delay="270"/>
                      </p:stCondLst>
                      <p:childTnLst>
                        <p:par>
                          <p:cTn id="100" presetID="2" presetClass="entr" presetSubtype="4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0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102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0"/>
                                  </p:tgtEl>
                                  <p:attrNameLst>
                                    <p:attrName>ppt_x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x+-0.4"/>
                                    </p:val>
                                  </p:tav>
                                  <p:tav tm="100000">
                                    <p:val>
                                      <p:strVal val="#ppt_x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103" dur="500"/>
                                  <p:tgtEl>
                                    <p:spTgt spid="3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104" fill="hold">
                      <p:stCondLst>
                        <p:cond delay="0"/>
                      </p:stCondLst>
                      <p:childTnLst>
                        <p:par>
                          <p:cTn id="105" presetID="2" presetClass="entr" presetSubtype="4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0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107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1"/>
                                  </p:tgtEl>
                                  <p:attrNameLst>
                                    <p:attrName>ppt_x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x+-0.4"/>
                                    </p:val>
                                  </p:tav>
                                  <p:tav tm="100000">
                                    <p:val>
                                      <p:strVal val="#ppt_x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108" dur="500"/>
                                  <p:tgtEl>
                                    <p:spTgt spid="31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109" fill="hold">
                      <p:stCondLst>
                        <p:cond delay="90"/>
                      </p:stCondLst>
                      <p:childTnLst>
                        <p:par>
                          <p:cTn id="110" presetID="2" presetClass="entr" presetSubtype="4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112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2"/>
                                  </p:tgtEl>
                                  <p:attrNameLst>
                                    <p:attrName>ppt_x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x+-0.4"/>
                                    </p:val>
                                  </p:tav>
                                  <p:tav tm="100000">
                                    <p:val>
                                      <p:strVal val="#ppt_x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113" dur="500"/>
                                  <p:tgtEl>
                                    <p:spTgt spid="32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114" fill="hold">
                      <p:stCondLst>
                        <p:cond delay="180"/>
                      </p:stCondLst>
                      <p:childTnLst>
                        <p:par>
                          <p:cTn id="115" presetID="2" presetClass="entr" presetSubtype="4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117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4"/>
                                  </p:tgtEl>
                                  <p:attrNameLst>
                                    <p:attrName>ppt_x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x+-0.4"/>
                                    </p:val>
                                  </p:tav>
                                  <p:tav tm="100000">
                                    <p:val>
                                      <p:strVal val="#ppt_x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118" dur="500"/>
                                  <p:tgtEl>
                                    <p:spTgt spid="3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48640" y="502920"/>
            <a:ext cx="640080" cy="64008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502920"/>
            <a:ext cx="6400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457200"/>
            <a:ext cx="102412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 i="0">
                <a:solidFill>
                  <a:srgbClr val="2C7A5A"/>
                </a:solidFill>
                <a:latin typeface="Calibri"/>
              </a:rPr>
              <a:t>3. QUY TRÌNH — CHI TIẾT TỪNG BƯỚC</a:t>
            </a:r>
          </a:p>
          <a:p>
            <a:pPr algn="l"/>
            <a:r>
              <a:rPr sz="2700" b="1" i="0">
                <a:solidFill>
                  <a:srgbClr val="1F4E3D"/>
                </a:solidFill>
                <a:latin typeface="Cambria"/>
              </a:rPr>
              <a:t>Vai trò · thời gian · có bỏ qua được không?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417320"/>
            <a:ext cx="11109960" cy="749808"/>
          </a:xfrm>
          <a:prstGeom prst="roundRect">
            <a:avLst>
              <a:gd name="adj" fmla="val 6000"/>
            </a:avLst>
          </a:prstGeom>
          <a:solidFill>
            <a:srgbClr val="EEF4F0"/>
          </a:solidFill>
          <a:ln w="12700">
            <a:solidFill>
              <a:srgbClr val="D5E1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13232" y="1591056"/>
            <a:ext cx="411480" cy="411480"/>
          </a:xfrm>
          <a:prstGeom prst="ellipse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1591056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mbria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98448" y="1453896"/>
            <a:ext cx="1965960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F4E3D"/>
                </a:solidFill>
                <a:latin typeface="Calibri"/>
              </a:rPr>
              <a:t>Định lượng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46120" y="1499616"/>
            <a:ext cx="60350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222B28"/>
                </a:solidFill>
                <a:latin typeface="Calibri"/>
              </a:rPr>
              <a:t>Cân đúng tỷ lệ nhựa / dung môi / phụ gia / bột màu.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966960" y="1600200"/>
            <a:ext cx="1508760" cy="393192"/>
          </a:xfrm>
          <a:prstGeom prst="roundRect">
            <a:avLst>
              <a:gd name="adj" fmla="val 6000"/>
            </a:avLst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966960" y="1600200"/>
            <a:ext cx="1508760" cy="3931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Bắt buộc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46120" y="1837944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2C7A5A"/>
                </a:solidFill>
                <a:latin typeface="Calibri"/>
              </a:rPr>
              <a:t>Thời gian: </a:t>
            </a:r>
            <a:r>
              <a:rPr sz="1250" b="0" i="0">
                <a:solidFill>
                  <a:srgbClr val="5C6B64"/>
                </a:solidFill>
                <a:latin typeface="Calibri"/>
              </a:rPr>
              <a:t>Theo công thức R&amp;D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185416"/>
            <a:ext cx="11109960" cy="7498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E1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13232" y="2359152"/>
            <a:ext cx="411480" cy="411480"/>
          </a:xfrm>
          <a:prstGeom prst="ellipse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13232" y="235915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mbria"/>
              </a:rPr>
              <a:t/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98448" y="2221992"/>
            <a:ext cx="1965960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F4E3D"/>
                </a:solidFill>
                <a:latin typeface="Calibri"/>
              </a:rPr>
              <a:t>Đánh paste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46120" y="2267712"/>
            <a:ext cx="60350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222B28"/>
                </a:solidFill>
                <a:latin typeface="Calibri"/>
              </a:rPr>
              <a:t>Khuấy phân tán 900–1200 v/p, hòa bột màu/độn vào nhựa.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966960" y="2368296"/>
            <a:ext cx="1508760" cy="393192"/>
          </a:xfrm>
          <a:prstGeom prst="roundRect">
            <a:avLst>
              <a:gd name="adj" fmla="val 6000"/>
            </a:avLst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966960" y="2368296"/>
            <a:ext cx="1508760" cy="3931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Bắt buộc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246120" y="2606040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2C7A5A"/>
                </a:solidFill>
                <a:latin typeface="Calibri"/>
              </a:rPr>
              <a:t>Thời gian: </a:t>
            </a:r>
            <a:r>
              <a:rPr sz="1250" b="0" i="0">
                <a:solidFill>
                  <a:srgbClr val="5C6B64"/>
                </a:solidFill>
                <a:latin typeface="Calibri"/>
              </a:rPr>
              <a:t>Vài chục phút/mẻ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2953512"/>
            <a:ext cx="11109960" cy="749808"/>
          </a:xfrm>
          <a:prstGeom prst="roundRect">
            <a:avLst>
              <a:gd name="adj" fmla="val 6000"/>
            </a:avLst>
          </a:prstGeom>
          <a:solidFill>
            <a:srgbClr val="EEF4F0"/>
          </a:solidFill>
          <a:ln w="12700">
            <a:solidFill>
              <a:srgbClr val="D5E1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13232" y="3127248"/>
            <a:ext cx="411480" cy="411480"/>
          </a:xfrm>
          <a:prstGeom prst="ellipse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13232" y="3127248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mbria"/>
              </a:rPr>
              <a:t/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98448" y="2990088"/>
            <a:ext cx="1965960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F4E3D"/>
                </a:solidFill>
                <a:latin typeface="Calibri"/>
              </a:rPr>
              <a:t>Nghiền mịn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246120" y="3035808"/>
            <a:ext cx="60350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222B28"/>
                </a:solidFill>
                <a:latin typeface="Calibri"/>
              </a:rPr>
              <a:t>Bi nghiền tạo va đập, đưa hạt xuống 10–20 µm.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966960" y="3136392"/>
            <a:ext cx="1508760" cy="393192"/>
          </a:xfrm>
          <a:prstGeom prst="roundRect">
            <a:avLst>
              <a:gd name="adj" fmla="val 6000"/>
            </a:avLst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966960" y="3136392"/>
            <a:ext cx="1508760" cy="3931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Có thể bỏ qua¹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46120" y="3374136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2C7A5A"/>
                </a:solidFill>
                <a:latin typeface="Calibri"/>
              </a:rPr>
              <a:t>Thời gian: </a:t>
            </a:r>
            <a:r>
              <a:rPr sz="1250" b="0" i="0">
                <a:solidFill>
                  <a:srgbClr val="5C6B64"/>
                </a:solidFill>
                <a:latin typeface="Calibri"/>
              </a:rPr>
              <a:t>Đến khi đạt độ mịn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8640" y="3721608"/>
            <a:ext cx="11109960" cy="7498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E1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713232" y="3895344"/>
            <a:ext cx="411480" cy="411480"/>
          </a:xfrm>
          <a:prstGeom prst="ellipse">
            <a:avLst/>
          </a:prstGeom>
          <a:solidFill>
            <a:srgbClr val="2E6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13232" y="3895344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mbria"/>
              </a:rPr>
              <a:t/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298448" y="3758184"/>
            <a:ext cx="1965960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F4E3D"/>
                </a:solidFill>
                <a:latin typeface="Calibri"/>
              </a:rPr>
              <a:t>Ngâm ủ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246120" y="3803904"/>
            <a:ext cx="60350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222B28"/>
                </a:solidFill>
                <a:latin typeface="Calibri"/>
              </a:rPr>
              <a:t>Giữ yên cho hệ ổn định, giảm bọt khí (sơn Epoxy/PU).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966960" y="3904488"/>
            <a:ext cx="1508760" cy="393192"/>
          </a:xfrm>
          <a:prstGeom prst="roundRect">
            <a:avLst>
              <a:gd name="adj" fmla="val 6000"/>
            </a:avLst>
          </a:prstGeom>
          <a:solidFill>
            <a:srgbClr val="2E6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966960" y="3904488"/>
            <a:ext cx="1508760" cy="3931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Linh hoạt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246120" y="414223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2C7A5A"/>
                </a:solidFill>
                <a:latin typeface="Calibri"/>
              </a:rPr>
              <a:t>Thời gian: </a:t>
            </a:r>
            <a:r>
              <a:rPr sz="1250" b="0" i="0">
                <a:solidFill>
                  <a:srgbClr val="5C6B64"/>
                </a:solidFill>
                <a:latin typeface="Calibri"/>
              </a:rPr>
              <a:t>Vài giờ tùy loại sơn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48640" y="4489704"/>
            <a:ext cx="11109960" cy="749808"/>
          </a:xfrm>
          <a:prstGeom prst="roundRect">
            <a:avLst>
              <a:gd name="adj" fmla="val 6000"/>
            </a:avLst>
          </a:prstGeom>
          <a:solidFill>
            <a:srgbClr val="EEF4F0"/>
          </a:solidFill>
          <a:ln w="12700">
            <a:solidFill>
              <a:srgbClr val="D5E1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713232" y="4663440"/>
            <a:ext cx="411480" cy="411480"/>
          </a:xfrm>
          <a:prstGeom prst="ellipse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13232" y="466344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mbria"/>
              </a:rPr>
              <a:t/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298448" y="4526280"/>
            <a:ext cx="1965960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F4E3D"/>
                </a:solidFill>
                <a:latin typeface="Calibri"/>
              </a:rPr>
              <a:t>Pha loãng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246120" y="4572000"/>
            <a:ext cx="60350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222B28"/>
                </a:solidFill>
                <a:latin typeface="Calibri"/>
              </a:rPr>
              <a:t>Chỉnh độ nhớt (KU) về thông số — quyết định độ phủ.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966960" y="4672584"/>
            <a:ext cx="1508760" cy="393192"/>
          </a:xfrm>
          <a:prstGeom prst="roundRect">
            <a:avLst>
              <a:gd name="adj" fmla="val 6000"/>
            </a:avLst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966960" y="4672584"/>
            <a:ext cx="1508760" cy="3931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Bắt buộc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246120" y="4910328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2C7A5A"/>
                </a:solidFill>
                <a:latin typeface="Calibri"/>
              </a:rPr>
              <a:t>Thời gian: </a:t>
            </a:r>
            <a:r>
              <a:rPr sz="1250" b="0" i="0">
                <a:solidFill>
                  <a:srgbClr val="5C6B64"/>
                </a:solidFill>
                <a:latin typeface="Calibri"/>
              </a:rPr>
              <a:t>Đến khi đạt độ nhớt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548640" y="5257800"/>
            <a:ext cx="11109960" cy="7498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E1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713232" y="5431536"/>
            <a:ext cx="411480" cy="411480"/>
          </a:xfrm>
          <a:prstGeom prst="ellipse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13232" y="5431536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mbria"/>
              </a:rPr>
              <a:t/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98448" y="5294376"/>
            <a:ext cx="1965960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F4E3D"/>
                </a:solidFill>
                <a:latin typeface="Calibri"/>
              </a:rPr>
              <a:t>Lọc &amp; đóng gói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246120" y="5340096"/>
            <a:ext cx="60350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222B28"/>
                </a:solidFill>
                <a:latin typeface="Calibri"/>
              </a:rPr>
              <a:t>Loại tạp chất/hạt vón trước khi xuất xưởng.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9966960" y="5440680"/>
            <a:ext cx="1508760" cy="393192"/>
          </a:xfrm>
          <a:prstGeom prst="roundRect">
            <a:avLst>
              <a:gd name="adj" fmla="val 6000"/>
            </a:avLst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966960" y="5440680"/>
            <a:ext cx="1508760" cy="3931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Bắt buộc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246120" y="5678424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2C7A5A"/>
                </a:solidFill>
                <a:latin typeface="Calibri"/>
              </a:rPr>
              <a:t>Thời gian: </a:t>
            </a:r>
            <a:r>
              <a:rPr sz="1250" b="0" i="0">
                <a:solidFill>
                  <a:srgbClr val="5C6B64"/>
                </a:solidFill>
                <a:latin typeface="Calibri"/>
              </a:rPr>
              <a:t>Bước cuối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48640" y="6144768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0" i="0">
                <a:solidFill>
                  <a:srgbClr val="5C6B64"/>
                </a:solidFill>
                <a:latin typeface="Calibri"/>
              </a:rPr>
              <a:t>(1) Bỏ qua nghiền mịn khi kiểm tra Hegman cho thấy mẻ đã đạt độ mịn chuẩn ngay sau bước đánh paste.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972800" y="6473952"/>
            <a:ext cx="7315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2C7A5A"/>
                </a:solidFill>
                <a:latin typeface="Calibri"/>
              </a:rPr>
              <a:t>14</a:t>
            </a:r>
          </a:p>
        </p:txBody>
      </p:sp>
      <p:pic>
        <p:nvPicPr>
          <p:cNvPr id="172" name="Picture 171" descr="dinh_luong_w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795528" y="1673352"/>
            <a:ext cx="246888" cy="246888"/>
          </a:xfrm>
          <a:prstGeom prst="rect">
            <a:avLst/>
          </a:prstGeom>
        </p:spPr>
      </p:pic>
      <p:pic>
        <p:nvPicPr>
          <p:cNvPr id="173" name="Picture 172" descr="danh_paste_w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ns1:svgBlip xmlns:ns1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795528" y="2441448"/>
            <a:ext cx="246888" cy="246888"/>
          </a:xfrm>
          <a:prstGeom prst="rect">
            <a:avLst/>
          </a:prstGeom>
        </p:spPr>
      </p:pic>
      <p:pic>
        <p:nvPicPr>
          <p:cNvPr id="174" name="Picture 173" descr="nghien_min_g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ns2:svgBlip xmlns:ns2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795528" y="3209544"/>
            <a:ext cx="246888" cy="246888"/>
          </a:xfrm>
          <a:prstGeom prst="rect">
            <a:avLst/>
          </a:prstGeom>
        </p:spPr>
      </p:pic>
      <p:pic>
        <p:nvPicPr>
          <p:cNvPr id="175" name="Picture 174" descr="ngam_u_w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ns3:svgBlip xmlns:ns3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795528" y="3977640"/>
            <a:ext cx="246888" cy="246888"/>
          </a:xfrm>
          <a:prstGeom prst="rect">
            <a:avLst/>
          </a:prstGeom>
        </p:spPr>
      </p:pic>
      <p:pic>
        <p:nvPicPr>
          <p:cNvPr id="176" name="Picture 175" descr="pha_loang_w.png"/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ns4:svgBlip xmlns:ns4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795528" y="4745736"/>
            <a:ext cx="246888" cy="246888"/>
          </a:xfrm>
          <a:prstGeom prst="rect">
            <a:avLst/>
          </a:prstGeom>
        </p:spPr>
      </p:pic>
      <p:pic>
        <p:nvPicPr>
          <p:cNvPr id="177" name="Picture 176" descr="loc_donggoi_w.png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ns5:svgBlip xmlns:ns5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795528" y="5513832"/>
            <a:ext cx="246888" cy="246888"/>
          </a:xfrm>
          <a:prstGeom prst="rect">
            <a:avLst/>
          </a:prstGeom>
        </p:spPr>
      </p:pic>
      <p:pic>
        <p:nvPicPr>
          <p:cNvPr id="178" name="Picture 177" descr="image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795528" y="1673352"/>
            <a:ext cx="246888" cy="246888"/>
          </a:xfrm>
          <a:prstGeom prst="rect">
            <a:avLst/>
          </a:prstGeom>
        </p:spPr>
      </p:pic>
      <p:pic>
        <p:nvPicPr>
          <p:cNvPr id="179" name="Picture 178" descr="imag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ns1:svgBlip xmlns:ns1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795528" y="2441448"/>
            <a:ext cx="246888" cy="246888"/>
          </a:xfrm>
          <a:prstGeom prst="rect">
            <a:avLst/>
          </a:prstGeom>
        </p:spPr>
      </p:pic>
      <p:pic>
        <p:nvPicPr>
          <p:cNvPr id="180" name="Picture 179" descr="image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ns2:svgBlip xmlns:ns2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795528" y="3209544"/>
            <a:ext cx="246888" cy="246888"/>
          </a:xfrm>
          <a:prstGeom prst="rect">
            <a:avLst/>
          </a:prstGeom>
        </p:spPr>
      </p:pic>
      <p:pic>
        <p:nvPicPr>
          <p:cNvPr id="181" name="Picture 180" descr="image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ns3:svgBlip xmlns:ns3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795528" y="3977640"/>
            <a:ext cx="246888" cy="246888"/>
          </a:xfrm>
          <a:prstGeom prst="rect">
            <a:avLst/>
          </a:prstGeom>
        </p:spPr>
      </p:pic>
      <p:pic>
        <p:nvPicPr>
          <p:cNvPr id="182" name="Picture 181" descr="image.png"/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ns4:svgBlip xmlns:ns4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795528" y="4745736"/>
            <a:ext cx="246888" cy="246888"/>
          </a:xfrm>
          <a:prstGeom prst="rect">
            <a:avLst/>
          </a:prstGeom>
        </p:spPr>
      </p:pic>
      <p:pic>
        <p:nvPicPr>
          <p:cNvPr id="183" name="Picture 182" descr="image.png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ns5:svgBlip xmlns:ns5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795528" y="5513832"/>
            <a:ext cx="246888" cy="246888"/>
          </a:xfrm>
          <a:prstGeom prst="rect">
            <a:avLst/>
          </a:prstGeom>
        </p:spPr>
      </p:pic>
      <p:pic>
        <p:nvPicPr>
          <p:cNvPr id="184" name="Picture 183" descr="image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21"/>
              </a:ext>
            </a:extLst>
          </a:blip>
          <a:stretch>
            <a:fillRect/>
          </a:stretch>
        </p:blipFill>
        <p:spPr>
          <a:xfrm>
            <a:off x="795528" y="1673352"/>
            <a:ext cx="246888" cy="246888"/>
          </a:xfrm>
          <a:prstGeom prst="rect">
            <a:avLst/>
          </a:prstGeom>
        </p:spPr>
      </p:pic>
      <p:pic>
        <p:nvPicPr>
          <p:cNvPr id="185" name="Picture 184" descr="imag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ns1:svgBlip xmlns:ns1="http://schemas.microsoft.com/office/drawing/2016/SVG/main" r:embed="rId20"/>
              </a:ext>
            </a:extLst>
          </a:blip>
          <a:stretch>
            <a:fillRect/>
          </a:stretch>
        </p:blipFill>
        <p:spPr>
          <a:xfrm>
            <a:off x="795528" y="2441448"/>
            <a:ext cx="246888" cy="246888"/>
          </a:xfrm>
          <a:prstGeom prst="rect">
            <a:avLst/>
          </a:prstGeom>
        </p:spPr>
      </p:pic>
      <p:pic>
        <p:nvPicPr>
          <p:cNvPr id="186" name="Picture 185" descr="image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ns2:svgBlip xmlns:ns2="http://schemas.microsoft.com/office/drawing/2016/SVG/main" r:embed="rId24"/>
              </a:ext>
            </a:extLst>
          </a:blip>
          <a:stretch>
            <a:fillRect/>
          </a:stretch>
        </p:blipFill>
        <p:spPr>
          <a:xfrm>
            <a:off x="795528" y="3209544"/>
            <a:ext cx="246888" cy="246888"/>
          </a:xfrm>
          <a:prstGeom prst="rect">
            <a:avLst/>
          </a:prstGeom>
        </p:spPr>
      </p:pic>
      <p:pic>
        <p:nvPicPr>
          <p:cNvPr id="187" name="Picture 186" descr="image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ns3:svgBlip xmlns:ns3="http://schemas.microsoft.com/office/drawing/2016/SVG/main" r:embed="rId23"/>
              </a:ext>
            </a:extLst>
          </a:blip>
          <a:stretch>
            <a:fillRect/>
          </a:stretch>
        </p:blipFill>
        <p:spPr>
          <a:xfrm>
            <a:off x="795528" y="3977640"/>
            <a:ext cx="246888" cy="246888"/>
          </a:xfrm>
          <a:prstGeom prst="rect">
            <a:avLst/>
          </a:prstGeom>
        </p:spPr>
      </p:pic>
      <p:pic>
        <p:nvPicPr>
          <p:cNvPr id="188" name="Picture 187" descr="image.png"/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ns4:svgBlip xmlns:ns4="http://schemas.microsoft.com/office/drawing/2016/SVG/main" r:embed="rId25"/>
              </a:ext>
            </a:extLst>
          </a:blip>
          <a:stretch>
            <a:fillRect/>
          </a:stretch>
        </p:blipFill>
        <p:spPr>
          <a:xfrm>
            <a:off x="795528" y="4745736"/>
            <a:ext cx="246888" cy="246888"/>
          </a:xfrm>
          <a:prstGeom prst="rect">
            <a:avLst/>
          </a:prstGeom>
        </p:spPr>
      </p:pic>
      <p:pic>
        <p:nvPicPr>
          <p:cNvPr id="189" name="Picture 188" descr="image.png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ns5:svgBlip xmlns:ns5="http://schemas.microsoft.com/office/drawing/2016/SVG/main" r:embed="rId22"/>
              </a:ext>
            </a:extLst>
          </a:blip>
          <a:stretch>
            <a:fillRect/>
          </a:stretch>
        </p:blipFill>
        <p:spPr>
          <a:xfrm>
            <a:off x="795528" y="5513832"/>
            <a:ext cx="246888" cy="246888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2" dur="indefinite" restart="never" nodeType="tmRoot">
          <p:childTnLst>
            <p:seq concurrent="1" nextAc="seek">
              <p:cTn id="3" dur="indefinite" nodeType="mainSeq">
                <p:childTnLst>
                  <p:par>
                    <p:cTn id="4" fill="hold">
                      <p:stCondLst>
                        <p:cond delay="0"/>
                      </p:stCondLst>
                      <p:childTnLst>
                        <p:par>
                          <p:cTn id="5" presetID="22" presetClass="entr" presetSubtype="1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7" dur="5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90"/>
                      </p:stCondLst>
                      <p:childTnLst>
                        <p:par>
                          <p:cTn id="9" presetID="22" presetClass="entr" presetSubtype="1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1" dur="5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180"/>
                      </p:stCondLst>
                      <p:childTnLst>
                        <p:par>
                          <p:cTn id="13" presetID="22" presetClass="entr" presetSubtype="1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5" dur="5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270"/>
                      </p:stCondLst>
                      <p:childTnLst>
                        <p:par>
                          <p:cTn id="17" presetID="22" presetClass="entr" presetSubtype="1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9" dur="5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360"/>
                      </p:stCondLst>
                      <p:childTnLst>
                        <p:par>
                          <p:cTn id="21" presetID="22" presetClass="entr" presetSubtype="1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3" dur="5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450"/>
                      </p:stCondLst>
                      <p:childTnLst>
                        <p:par>
                          <p:cTn id="25" presetID="22" presetClass="entr" presetSubtype="1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7" dur="5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540"/>
                      </p:stCondLst>
                      <p:childTnLst>
                        <p:par>
                          <p:cTn id="29" presetID="22" presetClass="entr" presetSubtype="1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31" dur="5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0"/>
                      </p:stCondLst>
                      <p:childTnLst>
                        <p:par>
                          <p:cTn id="33" presetID="22" presetClass="entr" presetSubtype="1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3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35" dur="5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90"/>
                      </p:stCondLst>
                      <p:childTnLst>
                        <p:par>
                          <p:cTn id="37" presetID="22" presetClass="entr" presetSubtype="1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3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39" dur="5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180"/>
                      </p:stCondLst>
                      <p:childTnLst>
                        <p:par>
                          <p:cTn id="41" presetID="22" presetClass="entr" presetSubtype="1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4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43" dur="55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270"/>
                      </p:stCondLst>
                      <p:childTnLst>
                        <p:par>
                          <p:cTn id="45" presetID="22" presetClass="entr" presetSubtype="1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4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47" dur="55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360"/>
                      </p:stCondLst>
                      <p:childTnLst>
                        <p:par>
                          <p:cTn id="49" presetID="22" presetClass="entr" presetSubtype="1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51" dur="55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450"/>
                      </p:stCondLst>
                      <p:childTnLst>
                        <p:par>
                          <p:cTn id="53" presetID="22" presetClass="entr" presetSubtype="1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55" dur="550"/>
                                  <p:tgtEl>
                                    <p:spTgt spid="2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540"/>
                      </p:stCondLst>
                      <p:childTnLst>
                        <p:par>
                          <p:cTn id="57" presetID="22" presetClass="entr" presetSubtype="1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59" dur="550"/>
                                  <p:tgtEl>
                                    <p:spTgt spid="21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0"/>
                      </p:stCondLst>
                      <p:childTnLst>
                        <p:par>
                          <p:cTn id="61" presetID="22" presetClass="entr" presetSubtype="1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63" dur="550"/>
                                  <p:tgtEl>
                                    <p:spTgt spid="22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64" fill="hold">
                      <p:stCondLst>
                        <p:cond delay="90"/>
                      </p:stCondLst>
                      <p:childTnLst>
                        <p:par>
                          <p:cTn id="65" presetID="22" presetClass="entr" presetSubtype="1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67" dur="550"/>
                                  <p:tgtEl>
                                    <p:spTgt spid="23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180"/>
                      </p:stCondLst>
                      <p:childTnLst>
                        <p:par>
                          <p:cTn id="69" presetID="22" presetClass="entr" presetSubtype="1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7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71" dur="550"/>
                                  <p:tgtEl>
                                    <p:spTgt spid="2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72" fill="hold">
                      <p:stCondLst>
                        <p:cond delay="270"/>
                      </p:stCondLst>
                      <p:childTnLst>
                        <p:par>
                          <p:cTn id="73" presetID="22" presetClass="entr" presetSubtype="1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7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75" dur="550"/>
                                  <p:tgtEl>
                                    <p:spTgt spid="2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76" fill="hold">
                      <p:stCondLst>
                        <p:cond delay="360"/>
                      </p:stCondLst>
                      <p:childTnLst>
                        <p:par>
                          <p:cTn id="77" presetID="22" presetClass="entr" presetSubtype="1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7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79" dur="550"/>
                                  <p:tgtEl>
                                    <p:spTgt spid="2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80" fill="hold">
                      <p:stCondLst>
                        <p:cond delay="450"/>
                      </p:stCondLst>
                      <p:childTnLst>
                        <p:par>
                          <p:cTn id="81" presetID="22" presetClass="entr" presetSubtype="1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8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83" dur="550"/>
                                  <p:tgtEl>
                                    <p:spTgt spid="2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84" fill="hold">
                      <p:stCondLst>
                        <p:cond delay="540"/>
                      </p:stCondLst>
                      <p:childTnLst>
                        <p:par>
                          <p:cTn id="85" presetID="22" presetClass="entr" presetSubtype="1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8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87" dur="550"/>
                                  <p:tgtEl>
                                    <p:spTgt spid="2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88" fill="hold">
                      <p:stCondLst>
                        <p:cond delay="0"/>
                      </p:stCondLst>
                      <p:childTnLst>
                        <p:par>
                          <p:cTn id="89" presetID="22" presetClass="entr" presetSubtype="1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9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91" dur="550"/>
                                  <p:tgtEl>
                                    <p:spTgt spid="3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92" fill="hold">
                      <p:stCondLst>
                        <p:cond delay="90"/>
                      </p:stCondLst>
                      <p:childTnLst>
                        <p:par>
                          <p:cTn id="93" presetID="22" presetClass="entr" presetSubtype="1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9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95" dur="550"/>
                                  <p:tgtEl>
                                    <p:spTgt spid="31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96" fill="hold">
                      <p:stCondLst>
                        <p:cond delay="180"/>
                      </p:stCondLst>
                      <p:childTnLst>
                        <p:par>
                          <p:cTn id="97" presetID="22" presetClass="entr" presetSubtype="1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9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99" dur="550"/>
                                  <p:tgtEl>
                                    <p:spTgt spid="33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100" fill="hold">
                      <p:stCondLst>
                        <p:cond delay="270"/>
                      </p:stCondLst>
                      <p:childTnLst>
                        <p:par>
                          <p:cTn id="101" presetID="22" presetClass="entr" presetSubtype="1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0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03" dur="550"/>
                                  <p:tgtEl>
                                    <p:spTgt spid="3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104" fill="hold">
                      <p:stCondLst>
                        <p:cond delay="360"/>
                      </p:stCondLst>
                      <p:childTnLst>
                        <p:par>
                          <p:cTn id="105" presetID="22" presetClass="entr" presetSubtype="1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0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07" dur="550"/>
                                  <p:tgtEl>
                                    <p:spTgt spid="3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108" fill="hold">
                      <p:stCondLst>
                        <p:cond delay="450"/>
                      </p:stCondLst>
                      <p:childTnLst>
                        <p:par>
                          <p:cTn id="109" presetID="22" presetClass="entr" presetSubtype="1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11" dur="550"/>
                                  <p:tgtEl>
                                    <p:spTgt spid="3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112" fill="hold">
                      <p:stCondLst>
                        <p:cond delay="540"/>
                      </p:stCondLst>
                      <p:childTnLst>
                        <p:par>
                          <p:cTn id="113" presetID="22" presetClass="entr" presetSubtype="1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15" dur="550"/>
                                  <p:tgtEl>
                                    <p:spTgt spid="3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116" fill="hold">
                      <p:stCondLst>
                        <p:cond delay="0"/>
                      </p:stCondLst>
                      <p:childTnLst>
                        <p:par>
                          <p:cTn id="117" presetID="22" presetClass="entr" presetSubtype="1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19" dur="550"/>
                                  <p:tgtEl>
                                    <p:spTgt spid="3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120" fill="hold">
                      <p:stCondLst>
                        <p:cond delay="90"/>
                      </p:stCondLst>
                      <p:childTnLst>
                        <p:par>
                          <p:cTn id="121" presetID="22" presetClass="entr" presetSubtype="1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23" dur="550"/>
                                  <p:tgtEl>
                                    <p:spTgt spid="3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124" fill="hold">
                      <p:stCondLst>
                        <p:cond delay="180"/>
                      </p:stCondLst>
                      <p:childTnLst>
                        <p:par>
                          <p:cTn id="125" presetID="22" presetClass="entr" presetSubtype="1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27" dur="550"/>
                                  <p:tgtEl>
                                    <p:spTgt spid="41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128" fill="hold">
                      <p:stCondLst>
                        <p:cond delay="270"/>
                      </p:stCondLst>
                      <p:childTnLst>
                        <p:par>
                          <p:cTn id="129" presetID="22" presetClass="entr" presetSubtype="1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31" dur="550"/>
                                  <p:tgtEl>
                                    <p:spTgt spid="42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132" fill="hold">
                      <p:stCondLst>
                        <p:cond delay="360"/>
                      </p:stCondLst>
                      <p:childTnLst>
                        <p:par>
                          <p:cTn id="133" presetID="22" presetClass="entr" presetSubtype="1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3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35" dur="550"/>
                                  <p:tgtEl>
                                    <p:spTgt spid="43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136" fill="hold">
                      <p:stCondLst>
                        <p:cond delay="450"/>
                      </p:stCondLst>
                      <p:childTnLst>
                        <p:par>
                          <p:cTn id="137" presetID="22" presetClass="entr" presetSubtype="1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3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39" dur="550"/>
                                  <p:tgtEl>
                                    <p:spTgt spid="4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140" fill="hold">
                      <p:stCondLst>
                        <p:cond delay="540"/>
                      </p:stCondLst>
                      <p:childTnLst>
                        <p:par>
                          <p:cTn id="141" presetID="22" presetClass="entr" presetSubtype="1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4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43" dur="550"/>
                                  <p:tgtEl>
                                    <p:spTgt spid="4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144" fill="hold">
                      <p:stCondLst>
                        <p:cond delay="0"/>
                      </p:stCondLst>
                      <p:childTnLst>
                        <p:par>
                          <p:cTn id="145" presetID="22" presetClass="entr" presetSubtype="1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4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47" dur="550"/>
                                  <p:tgtEl>
                                    <p:spTgt spid="4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148" fill="hold">
                      <p:stCondLst>
                        <p:cond delay="90"/>
                      </p:stCondLst>
                      <p:childTnLst>
                        <p:par>
                          <p:cTn id="149" presetID="22" presetClass="entr" presetSubtype="1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5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51" dur="550"/>
                                  <p:tgtEl>
                                    <p:spTgt spid="4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152" fill="hold">
                      <p:stCondLst>
                        <p:cond delay="180"/>
                      </p:stCondLst>
                      <p:childTnLst>
                        <p:par>
                          <p:cTn id="153" presetID="22" presetClass="entr" presetSubtype="1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5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55" dur="550"/>
                                  <p:tgtEl>
                                    <p:spTgt spid="4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156" fill="hold">
                      <p:stCondLst>
                        <p:cond delay="270"/>
                      </p:stCondLst>
                      <p:childTnLst>
                        <p:par>
                          <p:cTn id="157" presetID="22" presetClass="entr" presetSubtype="1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5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59" dur="550"/>
                                  <p:tgtEl>
                                    <p:spTgt spid="5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160" fill="hold">
                      <p:stCondLst>
                        <p:cond delay="360"/>
                      </p:stCondLst>
                      <p:childTnLst>
                        <p:par>
                          <p:cTn id="161" presetID="22" presetClass="entr" presetSubtype="1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6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63" dur="550"/>
                                  <p:tgtEl>
                                    <p:spTgt spid="51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164" fill="hold">
                      <p:stCondLst>
                        <p:cond delay="450"/>
                      </p:stCondLst>
                      <p:childTnLst>
                        <p:par>
                          <p:cTn id="165" presetID="22" presetClass="entr" presetSubtype="1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6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67" dur="550"/>
                                  <p:tgtEl>
                                    <p:spTgt spid="52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168" fill="hold">
                      <p:stCondLst>
                        <p:cond delay="540"/>
                      </p:stCondLst>
                      <p:childTnLst>
                        <p:par>
                          <p:cTn id="169" presetID="22" presetClass="entr" presetSubtype="1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7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71" dur="550"/>
                                  <p:tgtEl>
                                    <p:spTgt spid="53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097280" y="5120640"/>
            <a:ext cx="2743200" cy="2743200"/>
          </a:xfrm>
          <a:prstGeom prst="ellipse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22960" y="960120"/>
            <a:ext cx="1234440" cy="1234440"/>
          </a:xfrm>
          <a:prstGeom prst="ellipse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960120"/>
            <a:ext cx="1234440" cy="12344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Cambria"/>
              </a:rP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468880"/>
            <a:ext cx="5669280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6FA287"/>
                </a:solidFill>
                <a:latin typeface="Calibri"/>
              </a:rPr>
              <a:t>PHẦN 4</a:t>
            </a:r>
          </a:p>
          <a:p>
            <a:pPr algn="l">
              <a:lnSpc>
                <a:spcPct val="103000"/>
              </a:lnSpc>
              <a:spcAft>
                <a:spcPts val="800"/>
              </a:spcAft>
            </a:pPr>
            <a:r>
              <a:rPr sz="3400" b="1" i="0">
                <a:solidFill>
                  <a:srgbClr val="FFFFFF"/>
                </a:solidFill>
                <a:latin typeface="Cambria"/>
              </a:rPr>
              <a:t>Kiểm soát chất lượng (KCS)</a:t>
            </a:r>
          </a:p>
          <a:p>
            <a:pPr algn="l">
              <a:lnSpc>
                <a:spcPct val="110000"/>
              </a:lnSpc>
            </a:pPr>
            <a:r>
              <a:rPr sz="1400" b="0" i="0">
                <a:solidFill>
                  <a:srgbClr val="6FA287"/>
                </a:solidFill>
                <a:latin typeface="Calibri"/>
              </a:rPr>
              <a:t>Kiểm tra tại xưởng · phòng lab · sơn tàu biển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720840" y="960120"/>
            <a:ext cx="4937760" cy="4937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qc_uv.jpg"/>
          <p:cNvPicPr>
            <a:picLocks noChangeAspect="1"/>
          </p:cNvPicPr>
          <p:nvPr/>
        </p:nvPicPr>
        <p:blipFill>
          <a:blip r:embed="rId2"/>
          <a:srcRect t="71" b="71"/>
          <a:stretch>
            <a:fillRect/>
          </a:stretch>
        </p:blipFill>
        <p:spPr>
          <a:xfrm>
            <a:off x="6858000" y="1097280"/>
            <a:ext cx="4663440" cy="4663440"/>
          </a:xfrm>
          <a:prstGeom prst="rect">
            <a:avLst/>
          </a:prstGeom>
          <a:ln w="25400">
            <a:solidFill>
              <a:srgbClr val="FFFFFF"/>
            </a:solidFill>
          </a:ln>
          <a:effectLst/>
        </p:spPr>
      </p:pic>
      <p:sp>
        <p:nvSpPr>
          <p:cNvPr id="9" name="TextBox 8"/>
          <p:cNvSpPr txBox="1"/>
          <p:nvPr/>
        </p:nvSpPr>
        <p:spPr>
          <a:xfrm>
            <a:off x="6720840" y="6035040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6FA287"/>
                </a:solidFill>
                <a:latin typeface="Calibri"/>
              </a:rPr>
              <a:t>Ảnh chụp tại xưởng — buồng thử lão hóa UV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48640" y="502920"/>
            <a:ext cx="640080" cy="64008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502920"/>
            <a:ext cx="6400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mbri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457200"/>
            <a:ext cx="102412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 i="0">
                <a:solidFill>
                  <a:srgbClr val="2C7A5A"/>
                </a:solidFill>
                <a:latin typeface="Calibri"/>
              </a:rPr>
              <a:t>4. KIỂM SOÁT CHẤT LƯỢNG</a:t>
            </a:r>
          </a:p>
          <a:p>
            <a:pPr algn="l"/>
            <a:r>
              <a:rPr sz="2700" b="1" i="0">
                <a:solidFill>
                  <a:srgbClr val="1F4E3D"/>
                </a:solidFill>
                <a:latin typeface="Cambria"/>
              </a:rPr>
              <a:t>Hai cấp kiểm tra chất lượng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554480"/>
            <a:ext cx="5440680" cy="4480560"/>
          </a:xfrm>
          <a:prstGeom prst="roundRect">
            <a:avLst>
              <a:gd name="adj" fmla="val 6000"/>
            </a:avLst>
          </a:prstGeom>
          <a:solidFill>
            <a:srgbClr val="EEF4F0"/>
          </a:solidFill>
          <a:ln w="12700">
            <a:solidFill>
              <a:srgbClr val="D5E1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1554480"/>
            <a:ext cx="5440680" cy="822960"/>
          </a:xfrm>
          <a:prstGeom prst="roundRect">
            <a:avLst>
              <a:gd name="adj" fmla="val 6000"/>
            </a:avLst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2011680"/>
            <a:ext cx="5440680" cy="365760"/>
          </a:xfrm>
          <a:prstGeom prst="rect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382960" y="1554480"/>
            <a:ext cx="337776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Kiểm tra NHANH tại xưởng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606040"/>
            <a:ext cx="4937760" cy="3291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350" b="0" i="1">
                <a:solidFill>
                  <a:srgbClr val="5C6B64"/>
                </a:solidFill>
                <a:latin typeface="Calibri"/>
              </a:rPr>
              <a:t>Theo dõi từng mẻ, quyết định cho qua công đoạn — dùng dụng cụ đo nhanh cầm tay.</a:t>
            </a:r>
          </a:p>
          <a:p>
            <a:pPr algn="l">
              <a:spcAft>
                <a:spcPts val="700"/>
              </a:spcAft>
            </a:pPr>
            <a:r>
              <a:rPr sz="1450" b="1" i="0">
                <a:solidFill>
                  <a:srgbClr val="2C7A5A"/>
                </a:solidFill>
                <a:latin typeface="Calibri"/>
              </a:rPr>
              <a:t>✔  </a:t>
            </a:r>
            <a:r>
              <a:rPr sz="1500" b="0" i="0">
                <a:solidFill>
                  <a:srgbClr val="222B28"/>
                </a:solidFill>
                <a:latin typeface="Calibri"/>
              </a:rPr>
              <a:t>Tỷ trọng</a:t>
            </a:r>
          </a:p>
          <a:p>
            <a:pPr algn="l">
              <a:spcAft>
                <a:spcPts val="700"/>
              </a:spcAft>
            </a:pPr>
            <a:r>
              <a:rPr sz="1450" b="1" i="0">
                <a:solidFill>
                  <a:srgbClr val="2C7A5A"/>
                </a:solidFill>
                <a:latin typeface="Calibri"/>
              </a:rPr>
              <a:t>✔  </a:t>
            </a:r>
            <a:r>
              <a:rPr sz="1500" b="0" i="0">
                <a:solidFill>
                  <a:srgbClr val="222B28"/>
                </a:solidFill>
                <a:latin typeface="Calibri"/>
              </a:rPr>
              <a:t>Màu sắc</a:t>
            </a:r>
          </a:p>
          <a:p>
            <a:pPr algn="l">
              <a:spcAft>
                <a:spcPts val="700"/>
              </a:spcAft>
            </a:pPr>
            <a:r>
              <a:rPr sz="1450" b="1" i="0">
                <a:solidFill>
                  <a:srgbClr val="2C7A5A"/>
                </a:solidFill>
                <a:latin typeface="Calibri"/>
              </a:rPr>
              <a:t>✔  </a:t>
            </a:r>
            <a:r>
              <a:rPr sz="1500" b="0" i="0">
                <a:solidFill>
                  <a:srgbClr val="222B28"/>
                </a:solidFill>
                <a:latin typeface="Calibri"/>
              </a:rPr>
              <a:t>Độ phủ</a:t>
            </a:r>
          </a:p>
          <a:p>
            <a:pPr algn="l">
              <a:spcAft>
                <a:spcPts val="700"/>
              </a:spcAft>
            </a:pPr>
            <a:r>
              <a:rPr sz="1450" b="1" i="0">
                <a:solidFill>
                  <a:srgbClr val="2C7A5A"/>
                </a:solidFill>
                <a:latin typeface="Calibri"/>
              </a:rPr>
              <a:t>✔  </a:t>
            </a:r>
            <a:r>
              <a:rPr sz="1500" b="0" i="0">
                <a:solidFill>
                  <a:srgbClr val="222B28"/>
                </a:solidFill>
                <a:latin typeface="Calibri"/>
              </a:rPr>
              <a:t>Độ mịn (Hegman)</a:t>
            </a:r>
          </a:p>
          <a:p>
            <a:pPr algn="l">
              <a:spcAft>
                <a:spcPts val="700"/>
              </a:spcAft>
            </a:pPr>
            <a:r>
              <a:rPr sz="1450" b="1" i="0">
                <a:solidFill>
                  <a:srgbClr val="2C7A5A"/>
                </a:solidFill>
                <a:latin typeface="Calibri"/>
              </a:rPr>
              <a:t>✔  </a:t>
            </a:r>
            <a:r>
              <a:rPr sz="1500" b="0" i="0">
                <a:solidFill>
                  <a:srgbClr val="222B28"/>
                </a:solidFill>
                <a:latin typeface="Calibri"/>
              </a:rPr>
              <a:t>Thời gian khô</a:t>
            </a:r>
          </a:p>
          <a:p>
            <a:pPr algn="l">
              <a:spcAft>
                <a:spcPts val="700"/>
              </a:spcAft>
            </a:pPr>
            <a:r>
              <a:rPr sz="1450" b="1" i="0">
                <a:solidFill>
                  <a:srgbClr val="2C7A5A"/>
                </a:solidFill>
                <a:latin typeface="Calibri"/>
              </a:rPr>
              <a:t>✔  </a:t>
            </a:r>
            <a:r>
              <a:rPr sz="1500" b="0" i="0">
                <a:solidFill>
                  <a:srgbClr val="222B28"/>
                </a:solidFill>
                <a:latin typeface="Calibri"/>
              </a:rPr>
              <a:t>Độ nhớt (Stormer)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554480"/>
            <a:ext cx="5440680" cy="4480560"/>
          </a:xfrm>
          <a:prstGeom prst="roundRect">
            <a:avLst>
              <a:gd name="adj" fmla="val 6000"/>
            </a:avLst>
          </a:prstGeom>
          <a:solidFill>
            <a:srgbClr val="F6EEDF"/>
          </a:solidFill>
          <a:ln w="12700">
            <a:solidFill>
              <a:srgbClr val="E7D5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217920" y="1554480"/>
            <a:ext cx="5440680" cy="822960"/>
          </a:xfrm>
          <a:prstGeom prst="roundRect">
            <a:avLst>
              <a:gd name="adj" fmla="val 6000"/>
            </a:avLst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17920" y="2011680"/>
            <a:ext cx="5440680" cy="365760"/>
          </a:xfrm>
          <a:prstGeom prst="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52240" y="1554480"/>
            <a:ext cx="337776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Kiểm tra SÂU tại phòng LAB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240" y="2606040"/>
            <a:ext cx="4937760" cy="3291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350" b="0" i="1">
                <a:solidFill>
                  <a:srgbClr val="5C6B64"/>
                </a:solidFill>
                <a:latin typeface="Calibri"/>
              </a:rPr>
              <a:t>Đánh giá độ bền dài hạn của màng sơn — cơ sở nghiệm thu &amp; phát triển sản phẩm.</a:t>
            </a:r>
          </a:p>
          <a:p>
            <a:pPr algn="l">
              <a:spcAft>
                <a:spcPts val="900"/>
              </a:spcAft>
            </a:pPr>
            <a:r>
              <a:rPr sz="1450" b="1" i="0">
                <a:solidFill>
                  <a:srgbClr val="C88A2E"/>
                </a:solidFill>
                <a:latin typeface="Calibri"/>
              </a:rPr>
              <a:t>✔  </a:t>
            </a:r>
            <a:r>
              <a:rPr sz="1500" b="0" i="0">
                <a:solidFill>
                  <a:srgbClr val="222B28"/>
                </a:solidFill>
                <a:latin typeface="Calibri"/>
              </a:rPr>
              <a:t>Độ bám dính (Pull-off / Cross-cut)</a:t>
            </a:r>
          </a:p>
          <a:p>
            <a:pPr algn="l">
              <a:spcAft>
                <a:spcPts val="900"/>
              </a:spcAft>
            </a:pPr>
            <a:r>
              <a:rPr sz="1450" b="1" i="0">
                <a:solidFill>
                  <a:srgbClr val="C88A2E"/>
                </a:solidFill>
                <a:latin typeface="Calibri"/>
              </a:rPr>
              <a:t>✔  </a:t>
            </a:r>
            <a:r>
              <a:rPr sz="1500" b="0" i="0">
                <a:solidFill>
                  <a:srgbClr val="222B28"/>
                </a:solidFill>
                <a:latin typeface="Calibri"/>
              </a:rPr>
              <a:t>Bền uốn · bền va đập</a:t>
            </a:r>
          </a:p>
          <a:p>
            <a:pPr algn="l">
              <a:spcAft>
                <a:spcPts val="900"/>
              </a:spcAft>
            </a:pPr>
            <a:r>
              <a:rPr sz="1450" b="1" i="0">
                <a:solidFill>
                  <a:srgbClr val="C88A2E"/>
                </a:solidFill>
                <a:latin typeface="Calibri"/>
              </a:rPr>
              <a:t>✔  </a:t>
            </a:r>
            <a:r>
              <a:rPr sz="1500" b="0" i="0">
                <a:solidFill>
                  <a:srgbClr val="222B28"/>
                </a:solidFill>
                <a:latin typeface="Calibri"/>
              </a:rPr>
              <a:t>Độ bóng · hàm lượng rắn</a:t>
            </a:r>
          </a:p>
          <a:p>
            <a:pPr algn="l">
              <a:spcAft>
                <a:spcPts val="900"/>
              </a:spcAft>
            </a:pPr>
            <a:r>
              <a:rPr sz="1450" b="1" i="0">
                <a:solidFill>
                  <a:srgbClr val="C88A2E"/>
                </a:solidFill>
                <a:latin typeface="Calibri"/>
              </a:rPr>
              <a:t>✔  </a:t>
            </a:r>
            <a:r>
              <a:rPr sz="1500" b="0" i="0">
                <a:solidFill>
                  <a:srgbClr val="222B28"/>
                </a:solidFill>
                <a:latin typeface="Calibri"/>
              </a:rPr>
              <a:t>Phun sương muối (salt-spray)</a:t>
            </a:r>
          </a:p>
          <a:p>
            <a:pPr algn="l">
              <a:spcAft>
                <a:spcPts val="900"/>
              </a:spcAft>
            </a:pPr>
            <a:r>
              <a:rPr sz="1450" b="1" i="0">
                <a:solidFill>
                  <a:srgbClr val="C88A2E"/>
                </a:solidFill>
                <a:latin typeface="Calibri"/>
              </a:rPr>
              <a:t>✔  </a:t>
            </a:r>
            <a:r>
              <a:rPr sz="1500" b="0" i="0">
                <a:solidFill>
                  <a:srgbClr val="222B28"/>
                </a:solidFill>
                <a:latin typeface="Calibri"/>
              </a:rPr>
              <a:t>Lão hóa màng sơn — UV/QUV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6473952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C6B64"/>
                </a:solidFill>
                <a:latin typeface="Calibri"/>
              </a:rPr>
              <a:t>Báo cáo thực tập  ·  Công ty TNHH Sơn Hải Vân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0" y="6473952"/>
            <a:ext cx="7315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2C7A5A"/>
                </a:solidFill>
                <a:latin typeface="Calibri"/>
              </a:rPr>
              <a:t>20</a:t>
            </a:r>
          </a:p>
        </p:txBody>
      </p:sp>
      <p:pic>
        <p:nvPicPr>
          <p:cNvPr id="54" name="Picture 53" descr="stopwatch_w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98640" y="1750960"/>
            <a:ext cx="430000" cy="430000"/>
          </a:xfrm>
          <a:prstGeom prst="rect">
            <a:avLst/>
          </a:prstGeom>
        </p:spPr>
      </p:pic>
      <p:pic>
        <p:nvPicPr>
          <p:cNvPr id="55" name="Picture 54" descr="microscope_w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ns1:svgBlip xmlns:ns1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67920" y="1750960"/>
            <a:ext cx="430000" cy="430000"/>
          </a:xfrm>
          <a:prstGeom prst="rect">
            <a:avLst/>
          </a:prstGeom>
        </p:spPr>
      </p:pic>
      <p:pic>
        <p:nvPicPr>
          <p:cNvPr id="56" name="Picture 55" descr="image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98640" y="1750960"/>
            <a:ext cx="430000" cy="430000"/>
          </a:xfrm>
          <a:prstGeom prst="rect">
            <a:avLst/>
          </a:prstGeom>
        </p:spPr>
      </p:pic>
      <p:pic>
        <p:nvPicPr>
          <p:cNvPr id="57" name="Picture 56" descr="imag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ns1:svgBlip xmlns:ns1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367920" y="1750960"/>
            <a:ext cx="430000" cy="430000"/>
          </a:xfrm>
          <a:prstGeom prst="rect">
            <a:avLst/>
          </a:prstGeom>
        </p:spPr>
      </p:pic>
      <p:pic>
        <p:nvPicPr>
          <p:cNvPr id="58" name="Picture 57" descr="image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698640" y="1750960"/>
            <a:ext cx="430000" cy="430000"/>
          </a:xfrm>
          <a:prstGeom prst="rect">
            <a:avLst/>
          </a:prstGeom>
        </p:spPr>
      </p:pic>
      <p:pic>
        <p:nvPicPr>
          <p:cNvPr id="59" name="Picture 58" descr="imag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ns1:svgBlip xmlns:ns1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67920" y="1750960"/>
            <a:ext cx="430000" cy="4300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2" dur="indefinite" restart="never" nodeType="tmRoot">
          <p:childTnLst>
            <p:seq concurrent="1" nextAc="seek">
              <p:cTn id="3" dur="indefinite" nodeType="mainSeq">
                <p:childTnLst>
                  <p:par>
                    <p:cTn id="4" fill="hold">
                      <p:stCondLst>
                        <p:cond delay="0"/>
                      </p:stCondLst>
                      <p:childTnLst>
                        <p:par>
                          <p:cTn id="5" presetID="2" presetClass="entr" presetSubtype="4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7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ppt_x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x+-0.4"/>
                                    </p:val>
                                  </p:tav>
                                  <p:tav tm="100000">
                                    <p:val>
                                      <p:strVal val="#ppt_x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8" dur="50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90"/>
                      </p:stCondLst>
                      <p:childTnLst>
                        <p:par>
                          <p:cTn id="10" presetID="2" presetClass="entr" presetSubtype="4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12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ppt_x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x+-0.4"/>
                                    </p:val>
                                  </p:tav>
                                  <p:tav tm="100000">
                                    <p:val>
                                      <p:strVal val="#ppt_x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13" dur="50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180"/>
                      </p:stCondLst>
                      <p:childTnLst>
                        <p:par>
                          <p:cTn id="15" presetID="2" presetClass="entr" presetSubtype="4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17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ppt_x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x+-0.4"/>
                                    </p:val>
                                  </p:tav>
                                  <p:tav tm="100000">
                                    <p:val>
                                      <p:strVal val="#ppt_x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18" dur="50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270"/>
                      </p:stCondLst>
                      <p:childTnLst>
                        <p:par>
                          <p:cTn id="20" presetID="2" presetClass="entr" presetSubtype="4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22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ppt_x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x+-0.4"/>
                                    </p:val>
                                  </p:tav>
                                  <p:tav tm="100000">
                                    <p:val>
                                      <p:strVal val="#ppt_x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23" dur="50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360"/>
                      </p:stCondLst>
                      <p:childTnLst>
                        <p:par>
                          <p:cTn id="25" presetID="2" presetClass="entr" presetSubtype="4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27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ppt_x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x+-0.4"/>
                                    </p:val>
                                  </p:tav>
                                  <p:tav tm="100000">
                                    <p:val>
                                      <p:strVal val="#ppt_x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28" dur="50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0"/>
                      </p:stCondLst>
                      <p:childTnLst>
                        <p:par>
                          <p:cTn id="30" presetID="2" presetClass="entr" presetSubtype="8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32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ppt_x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x-0.4"/>
                                    </p:val>
                                  </p:tav>
                                  <p:tav tm="100000">
                                    <p:val>
                                      <p:strVal val="#ppt_x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33" dur="50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90"/>
                      </p:stCondLst>
                      <p:childTnLst>
                        <p:par>
                          <p:cTn id="35" presetID="2" presetClass="entr" presetSubtype="8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3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37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ppt_x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x-0.4"/>
                                    </p:val>
                                  </p:tav>
                                  <p:tav tm="100000">
                                    <p:val>
                                      <p:strVal val="#ppt_x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38" dur="50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180"/>
                      </p:stCondLst>
                      <p:childTnLst>
                        <p:par>
                          <p:cTn id="40" presetID="2" presetClass="entr" presetSubtype="8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4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42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ppt_x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x-0.4"/>
                                    </p:val>
                                  </p:tav>
                                  <p:tav tm="100000">
                                    <p:val>
                                      <p:strVal val="#ppt_x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43" dur="50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270"/>
                      </p:stCondLst>
                      <p:childTnLst>
                        <p:par>
                          <p:cTn id="45" presetID="2" presetClass="entr" presetSubtype="8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4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47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ppt_x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x-0.4"/>
                                    </p:val>
                                  </p:tav>
                                  <p:tav tm="100000">
                                    <p:val>
                                      <p:strVal val="#ppt_x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48" dur="50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360"/>
                      </p:stCondLst>
                      <p:childTnLst>
                        <p:par>
                          <p:cTn id="50" presetID="2" presetClass="entr" presetSubtype="8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52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ppt_x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x-0.4"/>
                                    </p:val>
                                  </p:tav>
                                  <p:tav tm="100000">
                                    <p:val>
                                      <p:strVal val="#ppt_x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53" dur="50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48640" y="502920"/>
            <a:ext cx="640080" cy="64008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502920"/>
            <a:ext cx="6400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mbri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457200"/>
            <a:ext cx="102412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 i="0">
                <a:solidFill>
                  <a:srgbClr val="2C7A5A"/>
                </a:solidFill>
                <a:latin typeface="Calibri"/>
              </a:rPr>
              <a:t>4. KCS — SƠN TÀU BIỂN</a:t>
            </a:r>
          </a:p>
          <a:p>
            <a:pPr algn="l"/>
            <a:r>
              <a:rPr sz="2700" b="1" i="0">
                <a:solidFill>
                  <a:srgbClr val="1F4E3D"/>
                </a:solidFill>
                <a:latin typeface="Cambria"/>
              </a:rPr>
              <a:t>Ba phép thử bắt buộc cho sơn tàu biển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481328"/>
            <a:ext cx="11109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450" b="1" i="0">
                <a:solidFill>
                  <a:srgbClr val="1F4E3D"/>
                </a:solidFill>
                <a:latin typeface="Calibri"/>
              </a:rPr>
              <a:t>Tàu biển ngâm liên tục trong nước muối + độ ẩm cao + va đập sóng</a:t>
            </a:r>
            <a:r>
              <a:rPr sz="1450" b="0" i="0">
                <a:solidFill>
                  <a:srgbClr val="222B28"/>
                </a:solidFill>
                <a:latin typeface="Calibri"/>
              </a:rPr>
              <a:t> → ba phép thử sau là bắt buộc, khác hẳn sơn trang trí thông thường: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148840"/>
            <a:ext cx="11109960" cy="1170432"/>
          </a:xfrm>
          <a:prstGeom prst="roundRect">
            <a:avLst>
              <a:gd name="adj" fmla="val 6000"/>
            </a:avLst>
          </a:prstGeom>
          <a:solidFill>
            <a:srgbClr val="EEF4F0"/>
          </a:solidFill>
          <a:ln w="12700">
            <a:solidFill>
              <a:srgbClr val="D5E1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8640" y="2148840"/>
            <a:ext cx="1371600" cy="1170432"/>
          </a:xfrm>
          <a:prstGeom prst="roundRect">
            <a:avLst>
              <a:gd name="adj" fmla="val 6000"/>
            </a:avLst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463040" y="2148840"/>
            <a:ext cx="457200" cy="1170432"/>
          </a:xfrm>
          <a:prstGeom prst="rect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2148840"/>
            <a:ext cx="1371600" cy="11704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000" b="1" i="0">
                <a:solidFill>
                  <a:srgbClr val="FFFFFF"/>
                </a:solidFill>
                <a:latin typeface="Cambria"/>
              </a:rPr>
              <a:t/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48840" y="2313432"/>
            <a:ext cx="3566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500"/>
              </a:spcAft>
            </a:pPr>
            <a:r>
              <a:rPr sz="1650" b="1" i="0">
                <a:solidFill>
                  <a:srgbClr val="1F4E3D"/>
                </a:solidFill>
                <a:latin typeface="Calibri"/>
              </a:rPr>
              <a:t>Độ bám dính (Pull-off)</a:t>
            </a:r>
          </a:p>
          <a:p>
            <a:pPr algn="l"/>
            <a:r>
              <a:rPr sz="1300" b="1" i="0">
                <a:solidFill>
                  <a:srgbClr val="2C7A5A"/>
                </a:solidFill>
                <a:latin typeface="Calibri"/>
              </a:rPr>
              <a:t>ISO 4624 / ASTM D4541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0" y="2313432"/>
            <a:ext cx="548640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 i="0">
                <a:solidFill>
                  <a:srgbClr val="222B28"/>
                </a:solidFill>
                <a:latin typeface="Calibri"/>
              </a:rPr>
              <a:t>Kéo đứt màng sơn bằng lực thủy lực, đo bằng MPa. Bám dính yếu thì nước biển len vào, ăn mòn lan ngầm dưới lớp sơn.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3447288"/>
            <a:ext cx="11109960" cy="1170432"/>
          </a:xfrm>
          <a:prstGeom prst="roundRect">
            <a:avLst>
              <a:gd name="adj" fmla="val 6000"/>
            </a:avLst>
          </a:prstGeom>
          <a:solidFill>
            <a:srgbClr val="EEF4F0"/>
          </a:solidFill>
          <a:ln w="12700">
            <a:solidFill>
              <a:srgbClr val="D5E1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48640" y="3447288"/>
            <a:ext cx="1371600" cy="1170432"/>
          </a:xfrm>
          <a:prstGeom prst="roundRect">
            <a:avLst>
              <a:gd name="adj" fmla="val 6000"/>
            </a:avLst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463040" y="3447288"/>
            <a:ext cx="457200" cy="1170432"/>
          </a:xfrm>
          <a:prstGeom prst="rect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3447288"/>
            <a:ext cx="1371600" cy="11704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000" b="1" i="0">
                <a:solidFill>
                  <a:srgbClr val="FFFFFF"/>
                </a:solidFill>
                <a:latin typeface="Cambria"/>
              </a:rPr>
              <a:t/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148840" y="3611880"/>
            <a:ext cx="3566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500"/>
              </a:spcAft>
            </a:pPr>
            <a:r>
              <a:rPr sz="1650" b="1" i="0">
                <a:solidFill>
                  <a:srgbClr val="1F4E3D"/>
                </a:solidFill>
                <a:latin typeface="Calibri"/>
              </a:rPr>
              <a:t>Phun sương muối 1000 giờ</a:t>
            </a:r>
          </a:p>
          <a:p>
            <a:pPr algn="l"/>
            <a:r>
              <a:rPr sz="1300" b="1" i="0">
                <a:solidFill>
                  <a:srgbClr val="1F4E3D"/>
                </a:solidFill>
                <a:latin typeface="Calibri"/>
              </a:rPr>
              <a:t>ISO 7253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0" y="3611880"/>
            <a:ext cx="548640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 i="0">
                <a:solidFill>
                  <a:srgbClr val="222B28"/>
                </a:solidFill>
                <a:latin typeface="Calibri"/>
              </a:rPr>
              <a:t>Phun sương NaCl 5% liên tục ở 35°C trong 1000 giờ, mô phỏng khí hậu biển tăng tốc để đánh giá độ gỉ và lan rỉ.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4745736"/>
            <a:ext cx="11109960" cy="1170432"/>
          </a:xfrm>
          <a:prstGeom prst="roundRect">
            <a:avLst>
              <a:gd name="adj" fmla="val 6000"/>
            </a:avLst>
          </a:prstGeom>
          <a:solidFill>
            <a:srgbClr val="EEF4F0"/>
          </a:solidFill>
          <a:ln w="12700">
            <a:solidFill>
              <a:srgbClr val="D5E1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548640" y="4745736"/>
            <a:ext cx="1371600" cy="1170432"/>
          </a:xfrm>
          <a:prstGeom prst="roundRect">
            <a:avLst>
              <a:gd name="adj" fmla="val 6000"/>
            </a:avLst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463040" y="4745736"/>
            <a:ext cx="457200" cy="1170432"/>
          </a:xfrm>
          <a:prstGeom prst="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4745736"/>
            <a:ext cx="1371600" cy="11704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000" b="1" i="0">
                <a:solidFill>
                  <a:srgbClr val="FFFFFF"/>
                </a:solidFill>
                <a:latin typeface="Cambria"/>
              </a:rPr>
              <a:t/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48840" y="4910327"/>
            <a:ext cx="3566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500"/>
              </a:spcAft>
            </a:pPr>
            <a:r>
              <a:rPr sz="1650" b="1" i="0">
                <a:solidFill>
                  <a:srgbClr val="1F4E3D"/>
                </a:solidFill>
                <a:latin typeface="Calibri"/>
              </a:rPr>
              <a:t>Lão hóa nhanh QUV</a:t>
            </a:r>
          </a:p>
          <a:p>
            <a:pPr algn="l"/>
            <a:r>
              <a:rPr sz="1300" b="1" i="0">
                <a:solidFill>
                  <a:srgbClr val="C88A2E"/>
                </a:solidFill>
                <a:latin typeface="Calibri"/>
              </a:rPr>
              <a:t>Chu trình UV-A / UV-B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0" y="4910327"/>
            <a:ext cx="548640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 i="0">
                <a:solidFill>
                  <a:srgbClr val="222B28"/>
                </a:solidFill>
                <a:latin typeface="Calibri"/>
              </a:rPr>
              <a:t>Mô phỏng nhiều tháng nắng – mưa chỉ trong vài tuần, kiểm tra hiện tượng phấn hóa, phai màu và nứt màng.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6473952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C6B64"/>
                </a:solidFill>
                <a:latin typeface="Calibri"/>
              </a:rPr>
              <a:t>Báo cáo thực tập  ·  Công ty TNHH Sơn Hải Vân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972800" y="6473952"/>
            <a:ext cx="7315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2C7A5A"/>
                </a:solidFill>
                <a:latin typeface="Calibri"/>
              </a:rPr>
              <a:t>21</a:t>
            </a:r>
          </a:p>
        </p:txBody>
      </p:sp>
      <p:pic>
        <p:nvPicPr>
          <p:cNvPr id="94" name="Picture 93" descr="adhesion_w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54440" y="2454056"/>
            <a:ext cx="560000" cy="560000"/>
          </a:xfrm>
          <a:prstGeom prst="rect">
            <a:avLst/>
          </a:prstGeom>
        </p:spPr>
      </p:pic>
      <p:pic>
        <p:nvPicPr>
          <p:cNvPr id="95" name="Picture 94" descr="salt_spray_w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ns1:svgBlip xmlns:ns1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54440" y="3752504"/>
            <a:ext cx="560000" cy="560000"/>
          </a:xfrm>
          <a:prstGeom prst="rect">
            <a:avLst/>
          </a:prstGeom>
        </p:spPr>
      </p:pic>
      <p:pic>
        <p:nvPicPr>
          <p:cNvPr id="96" name="Picture 95" descr="sun_uv_w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ns2:svgBlip xmlns:ns2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954440" y="5050952"/>
            <a:ext cx="560000" cy="560000"/>
          </a:xfrm>
          <a:prstGeom prst="rect">
            <a:avLst/>
          </a:prstGeom>
        </p:spPr>
      </p:pic>
      <p:pic>
        <p:nvPicPr>
          <p:cNvPr id="97" name="Picture 96" descr="image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954440" y="2454056"/>
            <a:ext cx="560000" cy="560000"/>
          </a:xfrm>
          <a:prstGeom prst="rect">
            <a:avLst/>
          </a:prstGeom>
        </p:spPr>
      </p:pic>
      <p:pic>
        <p:nvPicPr>
          <p:cNvPr id="98" name="Picture 97" descr="imag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ns1:svgBlip xmlns:ns1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954440" y="3752504"/>
            <a:ext cx="560000" cy="560000"/>
          </a:xfrm>
          <a:prstGeom prst="rect">
            <a:avLst/>
          </a:prstGeom>
        </p:spPr>
      </p:pic>
      <p:pic>
        <p:nvPicPr>
          <p:cNvPr id="99" name="Picture 98" descr="image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ns2:svgBlip xmlns:ns2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954440" y="5050952"/>
            <a:ext cx="560000" cy="560000"/>
          </a:xfrm>
          <a:prstGeom prst="rect">
            <a:avLst/>
          </a:prstGeom>
        </p:spPr>
      </p:pic>
      <p:pic>
        <p:nvPicPr>
          <p:cNvPr id="100" name="Picture 99" descr="image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954440" y="2454056"/>
            <a:ext cx="560000" cy="560000"/>
          </a:xfrm>
          <a:prstGeom prst="rect">
            <a:avLst/>
          </a:prstGeom>
        </p:spPr>
      </p:pic>
      <p:pic>
        <p:nvPicPr>
          <p:cNvPr id="101" name="Picture 100" descr="imag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ns1:svgBlip xmlns:ns1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954440" y="3752504"/>
            <a:ext cx="560000" cy="560000"/>
          </a:xfrm>
          <a:prstGeom prst="rect">
            <a:avLst/>
          </a:prstGeom>
        </p:spPr>
      </p:pic>
      <p:pic>
        <p:nvPicPr>
          <p:cNvPr id="102" name="Picture 101" descr="image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ns2:svgBlip xmlns:ns2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954440" y="5050952"/>
            <a:ext cx="560000" cy="5600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2" dur="indefinite" restart="never" nodeType="tmRoot">
          <p:childTnLst>
            <p:seq concurrent="1" nextAc="seek">
              <p:cTn id="3" dur="indefinite" nodeType="mainSeq">
                <p:childTnLst>
                  <p:par>
                    <p:cTn id="4" fill="hold">
                      <p:stCondLst>
                        <p:cond delay="0"/>
                      </p:stCondLst>
                      <p:childTnLst>
                        <p:par>
                          <p:cTn id="5" presetID="2" presetClass="entr" presetSubtype="4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7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ppt_x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x+-0.4"/>
                                    </p:val>
                                  </p:tav>
                                  <p:tav tm="100000">
                                    <p:val>
                                      <p:strVal val="#ppt_x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8" dur="50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90"/>
                      </p:stCondLst>
                      <p:childTnLst>
                        <p:par>
                          <p:cTn id="10" presetID="2" presetClass="entr" presetSubtype="4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12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ppt_x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x+-0.4"/>
                                    </p:val>
                                  </p:tav>
                                  <p:tav tm="100000">
                                    <p:val>
                                      <p:strVal val="#ppt_x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13" dur="50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180"/>
                      </p:stCondLst>
                      <p:childTnLst>
                        <p:par>
                          <p:cTn id="15" presetID="2" presetClass="entr" presetSubtype="4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17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ppt_x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x+-0.4"/>
                                    </p:val>
                                  </p:tav>
                                  <p:tav tm="100000">
                                    <p:val>
                                      <p:strVal val="#ppt_x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18" dur="50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270"/>
                      </p:stCondLst>
                      <p:childTnLst>
                        <p:par>
                          <p:cTn id="20" presetID="2" presetClass="entr" presetSubtype="4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22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ppt_x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x+-0.4"/>
                                    </p:val>
                                  </p:tav>
                                  <p:tav tm="100000">
                                    <p:val>
                                      <p:strVal val="#ppt_x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23" dur="50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360"/>
                      </p:stCondLst>
                      <p:childTnLst>
                        <p:par>
                          <p:cTn id="25" presetID="2" presetClass="entr" presetSubtype="4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27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ppt_x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x+-0.4"/>
                                    </p:val>
                                  </p:tav>
                                  <p:tav tm="100000">
                                    <p:val>
                                      <p:strVal val="#ppt_x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28" dur="50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450"/>
                      </p:stCondLst>
                      <p:childTnLst>
                        <p:par>
                          <p:cTn id="30" presetID="2" presetClass="entr" presetSubtype="4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32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ppt_x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x+-0.4"/>
                                    </p:val>
                                  </p:tav>
                                  <p:tav tm="100000">
                                    <p:val>
                                      <p:strVal val="#ppt_x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33" dur="50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0"/>
                      </p:stCondLst>
                      <p:childTnLst>
                        <p:par>
                          <p:cTn id="35" presetID="2" presetClass="entr" presetSubtype="4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3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37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ppt_x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x+-0.4"/>
                                    </p:val>
                                  </p:tav>
                                  <p:tav tm="100000">
                                    <p:val>
                                      <p:strVal val="#ppt_x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38" dur="50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90"/>
                      </p:stCondLst>
                      <p:childTnLst>
                        <p:par>
                          <p:cTn id="40" presetID="2" presetClass="entr" presetSubtype="4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4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42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ppt_x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x+-0.4"/>
                                    </p:val>
                                  </p:tav>
                                  <p:tav tm="100000">
                                    <p:val>
                                      <p:strVal val="#ppt_x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43" dur="50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180"/>
                      </p:stCondLst>
                      <p:childTnLst>
                        <p:par>
                          <p:cTn id="45" presetID="2" presetClass="entr" presetSubtype="4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4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47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ppt_x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x+-0.4"/>
                                    </p:val>
                                  </p:tav>
                                  <p:tav tm="100000">
                                    <p:val>
                                      <p:strVal val="#ppt_x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48" dur="50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270"/>
                      </p:stCondLst>
                      <p:childTnLst>
                        <p:par>
                          <p:cTn id="50" presetID="2" presetClass="entr" presetSubtype="4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52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ppt_x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x+-0.4"/>
                                    </p:val>
                                  </p:tav>
                                  <p:tav tm="100000">
                                    <p:val>
                                      <p:strVal val="#ppt_x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53" dur="50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360"/>
                      </p:stCondLst>
                      <p:childTnLst>
                        <p:par>
                          <p:cTn id="55" presetID="2" presetClass="entr" presetSubtype="4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57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ppt_x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x+-0.4"/>
                                    </p:val>
                                  </p:tav>
                                  <p:tav tm="100000">
                                    <p:val>
                                      <p:strVal val="#ppt_x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58" dur="50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450"/>
                      </p:stCondLst>
                      <p:childTnLst>
                        <p:par>
                          <p:cTn id="60" presetID="2" presetClass="entr" presetSubtype="4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62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ppt_x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x+-0.4"/>
                                    </p:val>
                                  </p:tav>
                                  <p:tav tm="100000">
                                    <p:val>
                                      <p:strVal val="#ppt_x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63" dur="50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64" fill="hold">
                      <p:stCondLst>
                        <p:cond delay="0"/>
                      </p:stCondLst>
                      <p:childTnLst>
                        <p:par>
                          <p:cTn id="65" presetID="2" presetClass="entr" presetSubtype="4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67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ppt_x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x+-0.4"/>
                                    </p:val>
                                  </p:tav>
                                  <p:tav tm="100000">
                                    <p:val>
                                      <p:strVal val="#ppt_x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68" dur="50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90"/>
                      </p:stCondLst>
                      <p:childTnLst>
                        <p:par>
                          <p:cTn id="70" presetID="2" presetClass="entr" presetSubtype="4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7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72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0"/>
                                  </p:tgtEl>
                                  <p:attrNameLst>
                                    <p:attrName>ppt_x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x+-0.4"/>
                                    </p:val>
                                  </p:tav>
                                  <p:tav tm="100000">
                                    <p:val>
                                      <p:strVal val="#ppt_x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73" dur="500"/>
                                  <p:tgtEl>
                                    <p:spTgt spid="2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74" fill="hold">
                      <p:stCondLst>
                        <p:cond delay="180"/>
                      </p:stCondLst>
                      <p:childTnLst>
                        <p:par>
                          <p:cTn id="75" presetID="2" presetClass="entr" presetSubtype="4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7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77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ppt_x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x+-0.4"/>
                                    </p:val>
                                  </p:tav>
                                  <p:tav tm="100000">
                                    <p:val>
                                      <p:strVal val="#ppt_x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78" dur="500"/>
                                  <p:tgtEl>
                                    <p:spTgt spid="21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79" fill="hold">
                      <p:stCondLst>
                        <p:cond delay="270"/>
                      </p:stCondLst>
                      <p:childTnLst>
                        <p:par>
                          <p:cTn id="80" presetID="2" presetClass="entr" presetSubtype="4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8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82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ppt_x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x+-0.4"/>
                                    </p:val>
                                  </p:tav>
                                  <p:tav tm="100000">
                                    <p:val>
                                      <p:strVal val="#ppt_x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83" dur="500"/>
                                  <p:tgtEl>
                                    <p:spTgt spid="22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84" fill="hold">
                      <p:stCondLst>
                        <p:cond delay="360"/>
                      </p:stCondLst>
                      <p:childTnLst>
                        <p:par>
                          <p:cTn id="85" presetID="2" presetClass="entr" presetSubtype="4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8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87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3"/>
                                  </p:tgtEl>
                                  <p:attrNameLst>
                                    <p:attrName>ppt_x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x+-0.4"/>
                                    </p:val>
                                  </p:tav>
                                  <p:tav tm="100000">
                                    <p:val>
                                      <p:strVal val="#ppt_x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88" dur="500"/>
                                  <p:tgtEl>
                                    <p:spTgt spid="23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89" fill="hold">
                      <p:stCondLst>
                        <p:cond delay="450"/>
                      </p:stCondLst>
                      <p:childTnLst>
                        <p:par>
                          <p:cTn id="90" presetID="2" presetClass="entr" presetSubtype="4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9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92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4"/>
                                  </p:tgtEl>
                                  <p:attrNameLst>
                                    <p:attrName>ppt_x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x+-0.4"/>
                                    </p:val>
                                  </p:tav>
                                  <p:tav tm="100000">
                                    <p:val>
                                      <p:strVal val="#ppt_x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93" dur="500"/>
                                  <p:tgtEl>
                                    <p:spTgt spid="2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48640" y="502920"/>
            <a:ext cx="640080" cy="64008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502920"/>
            <a:ext cx="6400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mbri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457200"/>
            <a:ext cx="102412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 i="0">
                <a:solidFill>
                  <a:srgbClr val="2C7A5A"/>
                </a:solidFill>
                <a:latin typeface="Calibri"/>
              </a:rPr>
              <a:t>4. KCS — HÌNH ẢNH THỰC TẾ</a:t>
            </a:r>
          </a:p>
          <a:p>
            <a:pPr algn="l"/>
            <a:r>
              <a:rPr sz="2700" b="1" i="0">
                <a:solidFill>
                  <a:srgbClr val="1F4E3D"/>
                </a:solidFill>
                <a:latin typeface="Cambria"/>
              </a:rPr>
              <a:t>Dụng cụ &amp; thiết bị kiểm tra tại xưởng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00200"/>
            <a:ext cx="2670048" cy="3794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E1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qc_pulloff.jpg"/>
          <p:cNvPicPr>
            <a:picLocks noChangeAspect="1"/>
          </p:cNvPicPr>
          <p:nvPr/>
        </p:nvPicPr>
        <p:blipFill>
          <a:blip r:embed="rId2"/>
          <a:srcRect l="32200" r="32200"/>
          <a:stretch>
            <a:fillRect/>
          </a:stretch>
        </p:blipFill>
        <p:spPr>
          <a:xfrm>
            <a:off x="621792" y="1673352"/>
            <a:ext cx="2523744" cy="3337560"/>
          </a:xfrm>
          <a:prstGeom prst="rect">
            <a:avLst/>
          </a:prstGeom>
          <a:ln w="25400">
            <a:solidFill>
              <a:srgbClr val="FFFFFF"/>
            </a:solidFill>
          </a:ln>
          <a:effectLst/>
        </p:spPr>
      </p:pic>
      <p:sp>
        <p:nvSpPr>
          <p:cNvPr id="8" name="Rounded Rectangle 7"/>
          <p:cNvSpPr/>
          <p:nvPr/>
        </p:nvSpPr>
        <p:spPr>
          <a:xfrm>
            <a:off x="548640" y="4919472"/>
            <a:ext cx="2670048" cy="475488"/>
          </a:xfrm>
          <a:prstGeom prst="roundRect">
            <a:avLst>
              <a:gd name="adj" fmla="val 6000"/>
            </a:avLst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4754880"/>
            <a:ext cx="2670048" cy="274320"/>
          </a:xfrm>
          <a:prstGeom prst="rect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4901184"/>
            <a:ext cx="2450591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95000"/>
              </a:lnSpc>
            </a:pPr>
            <a:r>
              <a:rPr sz="1200" b="1" i="0">
                <a:solidFill>
                  <a:srgbClr val="FFFFFF"/>
                </a:solidFill>
                <a:latin typeface="Calibri"/>
              </a:rPr>
              <a:t>Bộ đo độ bám dính Pull-off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83280" y="1600200"/>
            <a:ext cx="2670048" cy="3794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E1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qc_hegman.jpg"/>
          <p:cNvPicPr>
            <a:picLocks noChangeAspect="1"/>
          </p:cNvPicPr>
          <p:nvPr/>
        </p:nvPicPr>
        <p:blipFill>
          <a:blip r:embed="rId3"/>
          <a:srcRect l="12595" r="12595"/>
          <a:stretch>
            <a:fillRect/>
          </a:stretch>
        </p:blipFill>
        <p:spPr>
          <a:xfrm>
            <a:off x="3456432" y="1673352"/>
            <a:ext cx="2523744" cy="3337560"/>
          </a:xfrm>
          <a:prstGeom prst="rect">
            <a:avLst/>
          </a:prstGeom>
          <a:ln w="25400">
            <a:solidFill>
              <a:srgbClr val="FFFFFF"/>
            </a:solidFill>
          </a:ln>
          <a:effectLst/>
        </p:spPr>
      </p:pic>
      <p:sp>
        <p:nvSpPr>
          <p:cNvPr id="13" name="Rounded Rectangle 12"/>
          <p:cNvSpPr/>
          <p:nvPr/>
        </p:nvSpPr>
        <p:spPr>
          <a:xfrm>
            <a:off x="3383280" y="4919472"/>
            <a:ext cx="2670048" cy="475488"/>
          </a:xfrm>
          <a:prstGeom prst="roundRect">
            <a:avLst>
              <a:gd name="adj" fmla="val 6000"/>
            </a:avLst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383280" y="4754880"/>
            <a:ext cx="2670048" cy="274320"/>
          </a:xfrm>
          <a:prstGeom prst="rect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93008" y="4901184"/>
            <a:ext cx="2450591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95000"/>
              </a:lnSpc>
            </a:pPr>
            <a:r>
              <a:rPr sz="1200" b="1" i="0">
                <a:solidFill>
                  <a:srgbClr val="FFFFFF"/>
                </a:solidFill>
                <a:latin typeface="Calibri"/>
              </a:rPr>
              <a:t>Thước đo độ mịn Hegman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1600200"/>
            <a:ext cx="2670048" cy="3794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E1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qc_lab.jpg"/>
          <p:cNvPicPr>
            <a:picLocks noChangeAspect="1"/>
          </p:cNvPicPr>
          <p:nvPr/>
        </p:nvPicPr>
        <p:blipFill>
          <a:blip r:embed="rId4"/>
          <a:srcRect l="32627" r="32627"/>
          <a:stretch>
            <a:fillRect/>
          </a:stretch>
        </p:blipFill>
        <p:spPr>
          <a:xfrm>
            <a:off x="6291072" y="1673352"/>
            <a:ext cx="2523744" cy="3337560"/>
          </a:xfrm>
          <a:prstGeom prst="rect">
            <a:avLst/>
          </a:prstGeom>
          <a:ln w="25400">
            <a:solidFill>
              <a:srgbClr val="FFFFFF"/>
            </a:solidFill>
          </a:ln>
          <a:effectLst/>
        </p:spPr>
      </p:pic>
      <p:sp>
        <p:nvSpPr>
          <p:cNvPr id="18" name="Rounded Rectangle 17"/>
          <p:cNvSpPr/>
          <p:nvPr/>
        </p:nvSpPr>
        <p:spPr>
          <a:xfrm>
            <a:off x="6217920" y="4919472"/>
            <a:ext cx="2670048" cy="475488"/>
          </a:xfrm>
          <a:prstGeom prst="roundRect">
            <a:avLst>
              <a:gd name="adj" fmla="val 6000"/>
            </a:avLst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17920" y="4754880"/>
            <a:ext cx="2670048" cy="274320"/>
          </a:xfrm>
          <a:prstGeom prst="rect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27648" y="4901184"/>
            <a:ext cx="2450591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95000"/>
              </a:lnSpc>
            </a:pPr>
            <a:r>
              <a:rPr sz="1200" b="1" i="0">
                <a:solidFill>
                  <a:srgbClr val="FFFFFF"/>
                </a:solidFill>
                <a:latin typeface="Calibri"/>
              </a:rPr>
              <a:t>Thiết bị phòng thí nghiệm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52560" y="1600200"/>
            <a:ext cx="2670048" cy="3794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E1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qc_cup.jpg"/>
          <p:cNvPicPr>
            <a:picLocks noChangeAspect="1"/>
          </p:cNvPicPr>
          <p:nvPr/>
        </p:nvPicPr>
        <p:blipFill>
          <a:blip r:embed="rId5"/>
          <a:srcRect l="25390" r="25390"/>
          <a:stretch>
            <a:fillRect/>
          </a:stretch>
        </p:blipFill>
        <p:spPr>
          <a:xfrm>
            <a:off x="9125712" y="1673352"/>
            <a:ext cx="2523744" cy="3337560"/>
          </a:xfrm>
          <a:prstGeom prst="rect">
            <a:avLst/>
          </a:prstGeom>
          <a:ln w="25400">
            <a:solidFill>
              <a:srgbClr val="FFFFFF"/>
            </a:solidFill>
          </a:ln>
          <a:effectLst/>
        </p:spPr>
      </p:pic>
      <p:sp>
        <p:nvSpPr>
          <p:cNvPr id="23" name="Rounded Rectangle 22"/>
          <p:cNvSpPr/>
          <p:nvPr/>
        </p:nvSpPr>
        <p:spPr>
          <a:xfrm>
            <a:off x="9052560" y="4919472"/>
            <a:ext cx="2670048" cy="475488"/>
          </a:xfrm>
          <a:prstGeom prst="roundRect">
            <a:avLst>
              <a:gd name="adj" fmla="val 6000"/>
            </a:avLst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052560" y="4754880"/>
            <a:ext cx="2670048" cy="274320"/>
          </a:xfrm>
          <a:prstGeom prst="rect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62288" y="4901184"/>
            <a:ext cx="2450591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95000"/>
              </a:lnSpc>
            </a:pPr>
            <a:r>
              <a:rPr sz="1200" b="1" i="0">
                <a:solidFill>
                  <a:srgbClr val="FFFFFF"/>
                </a:solidFill>
                <a:latin typeface="Calibri"/>
              </a:rPr>
              <a:t>Cốc/thùng chứa mẫu sơn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5623560"/>
            <a:ext cx="11064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5C6B64"/>
                </a:solidFill>
                <a:latin typeface="Calibri"/>
              </a:rPr>
              <a:t>Các dụng cụ đo nhanh (Pull-off, Hegman, Stormer, Pfund) cho phép đánh giá tại chỗ theo khung TCVN / ASTM mà không cần thiết bị phân tích chuyên sâu.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972800" y="6473952"/>
            <a:ext cx="7315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2C7A5A"/>
                </a:solidFill>
                <a:latin typeface="Calibri"/>
              </a:rPr>
              <a:t>23</a:t>
            </a:r>
          </a:p>
        </p:txBody>
      </p:sp>
    </p:spTree>
  </p:cSld>
  <p:clrMapOvr>
    <a:masterClrMapping/>
  </p:clrMapOvr>
  <p:timing>
    <p:tnLst>
      <p:par>
        <p:cTn id="2" dur="indefinite" restart="never" nodeType="tmRoot">
          <p:childTnLst>
            <p:seq concurrent="1" nextAc="seek">
              <p:cTn id="3" dur="indefinite" nodeType="mainSeq">
                <p:childTnLst>
                  <p:par>
                    <p:cTn id="4" fill="hold">
                      <p:stCondLst>
                        <p:cond delay="0"/>
                      </p:stCondLst>
                      <p:childTnLst>
                        <p:par>
                          <p:cTn id="5" presetID="47" presetClass="entr" presetSubtype="8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7" dur="7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y+0.14"/>
                                    </p:val>
                                  </p:tav>
                                  <p:tav tm="100000">
                                    <p:val>
                                      <p:strVal val="#ppt_y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8" dur="70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90"/>
                      </p:stCondLst>
                      <p:childTnLst>
                        <p:par>
                          <p:cTn id="10" presetID="47" presetClass="entr" presetSubtype="8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12" dur="7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y+0.14"/>
                                    </p:val>
                                  </p:tav>
                                  <p:tav tm="100000">
                                    <p:val>
                                      <p:strVal val="#ppt_y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13" dur="70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180"/>
                      </p:stCondLst>
                      <p:childTnLst>
                        <p:par>
                          <p:cTn id="15" presetID="47" presetClass="entr" presetSubtype="8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17" dur="7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y+0.14"/>
                                    </p:val>
                                  </p:tav>
                                  <p:tav tm="100000">
                                    <p:val>
                                      <p:strVal val="#ppt_y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18" dur="70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270"/>
                      </p:stCondLst>
                      <p:childTnLst>
                        <p:par>
                          <p:cTn id="20" presetID="47" presetClass="entr" presetSubtype="8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22" dur="7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y+0.14"/>
                                    </p:val>
                                  </p:tav>
                                  <p:tav tm="100000">
                                    <p:val>
                                      <p:strVal val="#ppt_y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23" dur="70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360"/>
                      </p:stCondLst>
                      <p:childTnLst>
                        <p:par>
                          <p:cTn id="25" presetID="47" presetClass="entr" presetSubtype="8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27" dur="7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y+0.14"/>
                                    </p:val>
                                  </p:tav>
                                  <p:tav tm="100000">
                                    <p:val>
                                      <p:strVal val="#ppt_y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28" dur="70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0"/>
                      </p:stCondLst>
                      <p:childTnLst>
                        <p:par>
                          <p:cTn id="30" presetID="47" presetClass="entr" presetSubtype="8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32" dur="7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y+0.14"/>
                                    </p:val>
                                  </p:tav>
                                  <p:tav tm="100000">
                                    <p:val>
                                      <p:strVal val="#ppt_y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33" dur="70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90"/>
                      </p:stCondLst>
                      <p:childTnLst>
                        <p:par>
                          <p:cTn id="35" presetID="47" presetClass="entr" presetSubtype="8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3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37" dur="7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y+0.14"/>
                                    </p:val>
                                  </p:tav>
                                  <p:tav tm="100000">
                                    <p:val>
                                      <p:strVal val="#ppt_y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38" dur="70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180"/>
                      </p:stCondLst>
                      <p:childTnLst>
                        <p:par>
                          <p:cTn id="40" presetID="47" presetClass="entr" presetSubtype="8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4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42" dur="7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y+0.14"/>
                                    </p:val>
                                  </p:tav>
                                  <p:tav tm="100000">
                                    <p:val>
                                      <p:strVal val="#ppt_y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43" dur="70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270"/>
                      </p:stCondLst>
                      <p:childTnLst>
                        <p:par>
                          <p:cTn id="45" presetID="47" presetClass="entr" presetSubtype="8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4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47" dur="7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y+0.14"/>
                                    </p:val>
                                  </p:tav>
                                  <p:tav tm="100000">
                                    <p:val>
                                      <p:strVal val="#ppt_y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48" dur="70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360"/>
                      </p:stCondLst>
                      <p:childTnLst>
                        <p:par>
                          <p:cTn id="50" presetID="47" presetClass="entr" presetSubtype="8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52" dur="7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y+0.14"/>
                                    </p:val>
                                  </p:tav>
                                  <p:tav tm="100000">
                                    <p:val>
                                      <p:strVal val="#ppt_y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53" dur="70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0"/>
                      </p:stCondLst>
                      <p:childTnLst>
                        <p:par>
                          <p:cTn id="55" presetID="47" presetClass="entr" presetSubtype="8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57" dur="7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y+0.14"/>
                                    </p:val>
                                  </p:tav>
                                  <p:tav tm="100000">
                                    <p:val>
                                      <p:strVal val="#ppt_y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58" dur="70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90"/>
                      </p:stCondLst>
                      <p:childTnLst>
                        <p:par>
                          <p:cTn id="60" presetID="47" presetClass="entr" presetSubtype="8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62" dur="7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y+0.14"/>
                                    </p:val>
                                  </p:tav>
                                  <p:tav tm="100000">
                                    <p:val>
                                      <p:strVal val="#ppt_y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63" dur="70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64" fill="hold">
                      <p:stCondLst>
                        <p:cond delay="180"/>
                      </p:stCondLst>
                      <p:childTnLst>
                        <p:par>
                          <p:cTn id="65" presetID="47" presetClass="entr" presetSubtype="8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67" dur="7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y+0.14"/>
                                    </p:val>
                                  </p:tav>
                                  <p:tav tm="100000">
                                    <p:val>
                                      <p:strVal val="#ppt_y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68" dur="70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270"/>
                      </p:stCondLst>
                      <p:childTnLst>
                        <p:par>
                          <p:cTn id="70" presetID="47" presetClass="entr" presetSubtype="8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7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72" dur="7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y+0.14"/>
                                    </p:val>
                                  </p:tav>
                                  <p:tav tm="100000">
                                    <p:val>
                                      <p:strVal val="#ppt_y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73" dur="70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74" fill="hold">
                      <p:stCondLst>
                        <p:cond delay="360"/>
                      </p:stCondLst>
                      <p:childTnLst>
                        <p:par>
                          <p:cTn id="75" presetID="47" presetClass="entr" presetSubtype="8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7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77" dur="7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0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y+0.14"/>
                                    </p:val>
                                  </p:tav>
                                  <p:tav tm="100000">
                                    <p:val>
                                      <p:strVal val="#ppt_y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78" dur="700"/>
                                  <p:tgtEl>
                                    <p:spTgt spid="2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79" fill="hold">
                      <p:stCondLst>
                        <p:cond delay="0"/>
                      </p:stCondLst>
                      <p:childTnLst>
                        <p:par>
                          <p:cTn id="80" presetID="47" presetClass="entr" presetSubtype="8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8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82" dur="7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y+0.14"/>
                                    </p:val>
                                  </p:tav>
                                  <p:tav tm="100000">
                                    <p:val>
                                      <p:strVal val="#ppt_y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83" dur="700"/>
                                  <p:tgtEl>
                                    <p:spTgt spid="21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84" fill="hold">
                      <p:stCondLst>
                        <p:cond delay="90"/>
                      </p:stCondLst>
                      <p:childTnLst>
                        <p:par>
                          <p:cTn id="85" presetID="47" presetClass="entr" presetSubtype="8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8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87" dur="7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y+0.14"/>
                                    </p:val>
                                  </p:tav>
                                  <p:tav tm="100000">
                                    <p:val>
                                      <p:strVal val="#ppt_y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88" dur="700"/>
                                  <p:tgtEl>
                                    <p:spTgt spid="22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89" fill="hold">
                      <p:stCondLst>
                        <p:cond delay="180"/>
                      </p:stCondLst>
                      <p:childTnLst>
                        <p:par>
                          <p:cTn id="90" presetID="47" presetClass="entr" presetSubtype="8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9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92" dur="7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3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y+0.14"/>
                                    </p:val>
                                  </p:tav>
                                  <p:tav tm="100000">
                                    <p:val>
                                      <p:strVal val="#ppt_y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93" dur="700"/>
                                  <p:tgtEl>
                                    <p:spTgt spid="23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94" fill="hold">
                      <p:stCondLst>
                        <p:cond delay="270"/>
                      </p:stCondLst>
                      <p:childTnLst>
                        <p:par>
                          <p:cTn id="95" presetID="47" presetClass="entr" presetSubtype="8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9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97" dur="7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4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y+0.14"/>
                                    </p:val>
                                  </p:tav>
                                  <p:tav tm="100000">
                                    <p:val>
                                      <p:strVal val="#ppt_y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98" dur="700"/>
                                  <p:tgtEl>
                                    <p:spTgt spid="2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99" fill="hold">
                      <p:stCondLst>
                        <p:cond delay="360"/>
                      </p:stCondLst>
                      <p:childTnLst>
                        <p:par>
                          <p:cTn id="100" presetID="47" presetClass="entr" presetSubtype="8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0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102" dur="7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5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y+0.14"/>
                                    </p:val>
                                  </p:tav>
                                  <p:tav tm="100000">
                                    <p:val>
                                      <p:strVal val="#ppt_y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103" dur="700"/>
                                  <p:tgtEl>
                                    <p:spTgt spid="2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097280" y="4937760"/>
            <a:ext cx="3108960" cy="3108960"/>
          </a:xfrm>
          <a:prstGeom prst="ellipse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607040" y="-1005840"/>
            <a:ext cx="2743200" cy="2743200"/>
          </a:xfrm>
          <a:prstGeom prst="ellipse">
            <a:avLst/>
          </a:prstGeom>
          <a:solidFill>
            <a:srgbClr val="1840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68680" y="2011680"/>
            <a:ext cx="1371600" cy="1371600"/>
          </a:xfrm>
          <a:prstGeom prst="ellipse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2011680"/>
            <a:ext cx="137160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Cambria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06040" y="2011680"/>
            <a:ext cx="8778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6FA287"/>
                </a:solidFill>
                <a:latin typeface="Calibri"/>
              </a:rPr>
              <a:t>PHẦN 5</a:t>
            </a:r>
          </a:p>
          <a:p>
            <a:pPr algn="l">
              <a:lnSpc>
                <a:spcPct val="102000"/>
              </a:lnSpc>
              <a:spcAft>
                <a:spcPts val="800"/>
              </a:spcAft>
            </a:pPr>
            <a:r>
              <a:rPr sz="3800" b="1" i="0">
                <a:solidFill>
                  <a:srgbClr val="FFFFFF"/>
                </a:solidFill>
                <a:latin typeface="Cambria"/>
              </a:rPr>
              <a:t>Những sự cố thường gặp</a:t>
            </a:r>
          </a:p>
          <a:p>
            <a:pPr algn="l"/>
            <a:r>
              <a:rPr sz="1500" b="0" i="0">
                <a:solidFill>
                  <a:srgbClr val="6FA287"/>
                </a:solidFill>
                <a:latin typeface="Calibri"/>
              </a:rPr>
              <a:t>Nhận diện · nguyên nhân · biện pháp xử lý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818120" y="4160520"/>
            <a:ext cx="548640" cy="1417320"/>
          </a:xfrm>
          <a:prstGeom prst="roundRect">
            <a:avLst>
              <a:gd name="adj" fmla="val 12000"/>
            </a:avLst>
          </a:prstGeom>
          <a:solidFill>
            <a:srgbClr val="1F4E3D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366760" y="4306824"/>
            <a:ext cx="548640" cy="1417320"/>
          </a:xfrm>
          <a:prstGeom prst="roundRect">
            <a:avLst>
              <a:gd name="adj" fmla="val 12000"/>
            </a:avLst>
          </a:prstGeom>
          <a:solidFill>
            <a:srgbClr val="3E8C6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915400" y="4160520"/>
            <a:ext cx="548640" cy="1417320"/>
          </a:xfrm>
          <a:prstGeom prst="roundRect">
            <a:avLst>
              <a:gd name="adj" fmla="val 12000"/>
            </a:avLst>
          </a:prstGeom>
          <a:solidFill>
            <a:srgbClr val="2C7A5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9464040" y="4306824"/>
            <a:ext cx="548640" cy="1417320"/>
          </a:xfrm>
          <a:prstGeom prst="roundRect">
            <a:avLst>
              <a:gd name="adj" fmla="val 12000"/>
            </a:avLst>
          </a:prstGeom>
          <a:solidFill>
            <a:srgbClr val="1F4E3D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0012680" y="4160520"/>
            <a:ext cx="548640" cy="1417320"/>
          </a:xfrm>
          <a:prstGeom prst="roundRect">
            <a:avLst>
              <a:gd name="adj" fmla="val 12000"/>
            </a:avLst>
          </a:prstGeom>
          <a:solidFill>
            <a:srgbClr val="14332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561320" y="4306824"/>
            <a:ext cx="548640" cy="1417320"/>
          </a:xfrm>
          <a:prstGeom prst="roundRect">
            <a:avLst>
              <a:gd name="adj" fmla="val 12000"/>
            </a:avLst>
          </a:prstGeom>
          <a:solidFill>
            <a:srgbClr val="2E6E6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iming>
    <p:tnLst>
      <p:par>
        <p:cTn id="2" dur="indefinite" restart="never" nodeType="tmRoot">
          <p:childTnLst>
            <p:seq concurrent="1" nextAc="seek">
              <p:cTn id="3" dur="indefinite" nodeType="mainSeq">
                <p:childTnLst>
                  <p:par>
                    <p:cTn id="4" fill="hold">
                      <p:stCondLst>
                        <p:cond delay="0"/>
                      </p:stCondLst>
                      <p:childTnLst>
                        <p:par>
                          <p:cTn id="5" presetID="22" presetClass="entr" presetSubtype="4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7" dur="50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90"/>
                      </p:stCondLst>
                      <p:childTnLst>
                        <p:par>
                          <p:cTn id="9" presetID="22" presetClass="entr" presetSubtype="4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1" dur="50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180"/>
                      </p:stCondLst>
                      <p:childTnLst>
                        <p:par>
                          <p:cTn id="13" presetID="22" presetClass="entr" presetSubtype="4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5" dur="50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270"/>
                      </p:stCondLst>
                      <p:childTnLst>
                        <p:par>
                          <p:cTn id="17" presetID="22" presetClass="entr" presetSubtype="4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9" dur="50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360"/>
                      </p:stCondLst>
                      <p:childTnLst>
                        <p:par>
                          <p:cTn id="21" presetID="22" presetClass="entr" presetSubtype="4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3" dur="50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450"/>
                      </p:stCondLst>
                      <p:childTnLst>
                        <p:par>
                          <p:cTn id="25" presetID="22" presetClass="entr" presetSubtype="4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7" dur="50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48640" y="502920"/>
            <a:ext cx="640080" cy="64008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502920"/>
            <a:ext cx="6400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mbri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457200"/>
            <a:ext cx="102412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 i="0">
                <a:solidFill>
                  <a:srgbClr val="2C7A5A"/>
                </a:solidFill>
                <a:latin typeface="Calibri"/>
              </a:rPr>
              <a:t>5. SỰ CỐ THƯỜNG GẶP</a:t>
            </a:r>
          </a:p>
          <a:p>
            <a:pPr algn="l"/>
            <a:r>
              <a:rPr sz="2700" b="1" i="0">
                <a:solidFill>
                  <a:srgbClr val="1F4E3D"/>
                </a:solidFill>
                <a:latin typeface="Cambria"/>
              </a:rPr>
              <a:t>Bốn sự cố điển hình trong sản xuất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508760"/>
            <a:ext cx="11109960" cy="475488"/>
          </a:xfrm>
          <a:prstGeom prst="roundRect">
            <a:avLst>
              <a:gd name="adj" fmla="val 6000"/>
            </a:avLst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737360"/>
            <a:ext cx="11109960" cy="246888"/>
          </a:xfrm>
          <a:prstGeom prst="rect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508760"/>
            <a:ext cx="265176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FFFFFF"/>
                </a:solidFill>
                <a:latin typeface="Calibri"/>
              </a:rPr>
              <a:t>Sự cố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20440" y="1508760"/>
            <a:ext cx="320040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FFFFFF"/>
                </a:solidFill>
                <a:latin typeface="Calibri"/>
              </a:rPr>
              <a:t>Nguyên nhân chính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0" y="1508760"/>
            <a:ext cx="466344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FFFFFF"/>
                </a:solidFill>
                <a:latin typeface="Calibri"/>
              </a:rPr>
              <a:t>Biện pháp xử lý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103120"/>
            <a:ext cx="11109960" cy="932688"/>
          </a:xfrm>
          <a:prstGeom prst="roundRect">
            <a:avLst>
              <a:gd name="adj" fmla="val 6000"/>
            </a:avLst>
          </a:prstGeom>
          <a:solidFill>
            <a:srgbClr val="EEF4F0"/>
          </a:solidFill>
          <a:ln w="12700">
            <a:solidFill>
              <a:srgbClr val="D5E1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48640" y="2231136"/>
            <a:ext cx="118872" cy="676656"/>
          </a:xfrm>
          <a:prstGeom prst="roundRect">
            <a:avLst>
              <a:gd name="adj" fmla="val 6000"/>
            </a:avLst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2157984"/>
            <a:ext cx="269748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450" b="1" i="0">
                <a:solidFill>
                  <a:srgbClr val="1F4E3D"/>
                </a:solidFill>
                <a:latin typeface="Calibri"/>
              </a:rPr>
              <a:t>Sốc nhựa</a:t>
            </a:r>
          </a:p>
          <a:p>
            <a:pPr algn="l">
              <a:lnSpc>
                <a:spcPct val="100000"/>
              </a:lnSpc>
            </a:pPr>
            <a:r>
              <a:rPr sz="1300" b="0" i="1">
                <a:solidFill>
                  <a:srgbClr val="5C6B64"/>
                </a:solidFill>
                <a:latin typeface="Calibri"/>
              </a:rPr>
              <a:t>Sơn vón cục, kết tủa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20440" y="2157984"/>
            <a:ext cx="315468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350" b="0" i="0">
                <a:solidFill>
                  <a:srgbClr val="222B28"/>
                </a:solidFill>
                <a:latin typeface="Calibri"/>
              </a:rPr>
              <a:t>Dung môi thay thế có chỉ số hòa tan (Kauri-Butanol) thấp, mất cân bằng phân cực.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0" y="2157984"/>
            <a:ext cx="466344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350" b="0" i="0">
                <a:solidFill>
                  <a:srgbClr val="222B28"/>
                </a:solidFill>
                <a:latin typeface="Calibri"/>
              </a:rPr>
              <a:t>Châm dung môi phân cực mạnh (Butyl Acetate / Xylene) + khuấy nghiền rổ 1200–1500 v/p phá keo tụ.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3118104"/>
            <a:ext cx="11109960" cy="93268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E1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48640" y="3246120"/>
            <a:ext cx="118872" cy="676656"/>
          </a:xfrm>
          <a:prstGeom prst="roundRect">
            <a:avLst>
              <a:gd name="adj" fmla="val 6000"/>
            </a:avLst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3172968"/>
            <a:ext cx="269748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450" b="1" i="0">
                <a:solidFill>
                  <a:srgbClr val="1F4E3D"/>
                </a:solidFill>
                <a:latin typeface="Calibri"/>
              </a:rPr>
              <a:t>Chảy xệ màng</a:t>
            </a:r>
          </a:p>
          <a:p>
            <a:pPr algn="l">
              <a:lnSpc>
                <a:spcPct val="100000"/>
              </a:lnSpc>
            </a:pPr>
            <a:r>
              <a:rPr sz="1300" b="0" i="1">
                <a:solidFill>
                  <a:srgbClr val="5C6B64"/>
                </a:solidFill>
                <a:latin typeface="Calibri"/>
              </a:rPr>
              <a:t>Sơn chảy khi thi công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20440" y="3172968"/>
            <a:ext cx="315468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350" b="0" i="0">
                <a:solidFill>
                  <a:srgbClr val="222B28"/>
                </a:solidFill>
                <a:latin typeface="Calibri"/>
              </a:rPr>
              <a:t>Tốc độ bay hơi dung môi chậm; độ nhớt/cân bằng KB không đạt.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0" y="3172968"/>
            <a:ext cx="466344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350" b="0" i="0">
                <a:solidFill>
                  <a:srgbClr val="222B28"/>
                </a:solidFill>
                <a:latin typeface="Calibri"/>
              </a:rPr>
              <a:t>Hiệu chỉnh hệ dung môi, cân bằng chỉ số Kauri–Butanol, kiểm soát độ nhớt trước khi phun.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4133088"/>
            <a:ext cx="11109960" cy="932688"/>
          </a:xfrm>
          <a:prstGeom prst="roundRect">
            <a:avLst>
              <a:gd name="adj" fmla="val 6000"/>
            </a:avLst>
          </a:prstGeom>
          <a:solidFill>
            <a:srgbClr val="EEF4F0"/>
          </a:solidFill>
          <a:ln w="12700">
            <a:solidFill>
              <a:srgbClr val="D5E1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48640" y="4261104"/>
            <a:ext cx="118872" cy="676656"/>
          </a:xfrm>
          <a:prstGeom prst="roundRect">
            <a:avLst>
              <a:gd name="adj" fmla="val 6000"/>
            </a:avLst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4187952"/>
            <a:ext cx="269748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450" b="1" i="0">
                <a:solidFill>
                  <a:srgbClr val="1F4E3D"/>
                </a:solidFill>
                <a:latin typeface="Calibri"/>
              </a:rPr>
              <a:t>Lắng cứng đáy bồn</a:t>
            </a:r>
          </a:p>
          <a:p>
            <a:pPr algn="l">
              <a:lnSpc>
                <a:spcPct val="100000"/>
              </a:lnSpc>
            </a:pPr>
            <a:r>
              <a:rPr sz="1300" b="0" i="1">
                <a:solidFill>
                  <a:srgbClr val="5C6B64"/>
                </a:solidFill>
                <a:latin typeface="Calibri"/>
              </a:rPr>
              <a:t>Bột lắng, khó khuấy lại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520440" y="4187952"/>
            <a:ext cx="315468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350" b="0" i="0">
                <a:solidFill>
                  <a:srgbClr val="222B28"/>
                </a:solidFill>
                <a:latin typeface="Calibri"/>
              </a:rPr>
              <a:t>Chênh lệch “độ hút dầu” của bột mới vượt giới hạn PVC.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0" y="4187952"/>
            <a:ext cx="466344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350" b="0" i="0">
                <a:solidFill>
                  <a:srgbClr val="222B28"/>
                </a:solidFill>
                <a:latin typeface="Calibri"/>
              </a:rPr>
              <a:t>Tính lại tỷ lệ nhựa–dung môi theo độ hút dầu; bổ sung chất độn cấu trúc vảy/kim chống lắng.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5148072"/>
            <a:ext cx="11109960" cy="93268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E1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548640" y="5276088"/>
            <a:ext cx="118872" cy="676656"/>
          </a:xfrm>
          <a:prstGeom prst="roundRect">
            <a:avLst>
              <a:gd name="adj" fmla="val 6000"/>
            </a:avLst>
          </a:prstGeom>
          <a:solidFill>
            <a:srgbClr val="6FA2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77240" y="5202936"/>
            <a:ext cx="269748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450" b="1" i="0">
                <a:solidFill>
                  <a:srgbClr val="1F4E3D"/>
                </a:solidFill>
                <a:latin typeface="Calibri"/>
              </a:rPr>
              <a:t>Mất bóng / nứt giòn</a:t>
            </a:r>
          </a:p>
          <a:p>
            <a:pPr algn="l">
              <a:lnSpc>
                <a:spcPct val="100000"/>
              </a:lnSpc>
            </a:pPr>
            <a:r>
              <a:rPr sz="1300" b="0" i="1">
                <a:solidFill>
                  <a:srgbClr val="5C6B64"/>
                </a:solidFill>
                <a:latin typeface="Calibri"/>
              </a:rPr>
              <a:t>Màng bong tróc, nứt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20440" y="5202936"/>
            <a:ext cx="315468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350" b="0" i="0">
                <a:solidFill>
                  <a:srgbClr val="222B28"/>
                </a:solidFill>
                <a:latin typeface="Calibri"/>
              </a:rPr>
              <a:t>Vượt nồng độ thể tích bột màu (PVC), thiếu nhựa liên kết.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58000" y="5202936"/>
            <a:ext cx="466344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350" b="0" i="0">
                <a:solidFill>
                  <a:srgbClr val="222B28"/>
                </a:solidFill>
                <a:latin typeface="Calibri"/>
              </a:rPr>
              <a:t>Cân đối lại PVC, tăng chất tạo màng dẻo dai; kiểm tra Hegman &amp; độ phủ trước khi đóng gói.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8640" y="6473952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C6B64"/>
                </a:solidFill>
                <a:latin typeface="Calibri"/>
              </a:rPr>
              <a:t>Báo cáo thực tập  ·  Công ty TNHH Sơn Hải Vân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972800" y="6473952"/>
            <a:ext cx="7315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2C7A5A"/>
                </a:solidFill>
                <a:latin typeface="Calibri"/>
              </a:rPr>
              <a:t>25</a:t>
            </a:r>
          </a:p>
        </p:txBody>
      </p:sp>
    </p:spTree>
  </p:cSld>
  <p:clrMapOvr>
    <a:masterClrMapping/>
  </p:clrMapOvr>
  <p:timing>
    <p:tnLst>
      <p:par>
        <p:cTn id="2" dur="indefinite" restart="never" nodeType="tmRoot">
          <p:childTnLst>
            <p:seq concurrent="1" nextAc="seek">
              <p:cTn id="3" dur="indefinite" nodeType="mainSeq">
                <p:childTnLst>
                  <p:par>
                    <p:cTn id="4" fill="hold">
                      <p:stCondLst>
                        <p:cond delay="0"/>
                      </p:stCondLst>
                      <p:childTnLst>
                        <p:par>
                          <p:cTn id="5" presetID="22" presetClass="entr" presetSubtype="1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7" dur="5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90"/>
                      </p:stCondLst>
                      <p:childTnLst>
                        <p:par>
                          <p:cTn id="9" presetID="22" presetClass="entr" presetSubtype="1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1" dur="5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180"/>
                      </p:stCondLst>
                      <p:childTnLst>
                        <p:par>
                          <p:cTn id="13" presetID="22" presetClass="entr" presetSubtype="1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5" dur="5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270"/>
                      </p:stCondLst>
                      <p:childTnLst>
                        <p:par>
                          <p:cTn id="17" presetID="22" presetClass="entr" presetSubtype="1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9" dur="5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360"/>
                      </p:stCondLst>
                      <p:childTnLst>
                        <p:par>
                          <p:cTn id="21" presetID="22" presetClass="entr" presetSubtype="1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3" dur="5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0"/>
                      </p:stCondLst>
                      <p:childTnLst>
                        <p:par>
                          <p:cTn id="25" presetID="22" presetClass="entr" presetSubtype="1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7" dur="5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90"/>
                      </p:stCondLst>
                      <p:childTnLst>
                        <p:par>
                          <p:cTn id="29" presetID="22" presetClass="entr" presetSubtype="1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31" dur="55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180"/>
                      </p:stCondLst>
                      <p:childTnLst>
                        <p:par>
                          <p:cTn id="33" presetID="22" presetClass="entr" presetSubtype="1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3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35" dur="55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270"/>
                      </p:stCondLst>
                      <p:childTnLst>
                        <p:par>
                          <p:cTn id="37" presetID="22" presetClass="entr" presetSubtype="1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3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39" dur="55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360"/>
                      </p:stCondLst>
                      <p:childTnLst>
                        <p:par>
                          <p:cTn id="41" presetID="22" presetClass="entr" presetSubtype="1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4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43" dur="550"/>
                                  <p:tgtEl>
                                    <p:spTgt spid="2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0"/>
                      </p:stCondLst>
                      <p:childTnLst>
                        <p:par>
                          <p:cTn id="45" presetID="22" presetClass="entr" presetSubtype="1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4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47" dur="550"/>
                                  <p:tgtEl>
                                    <p:spTgt spid="21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90"/>
                      </p:stCondLst>
                      <p:childTnLst>
                        <p:par>
                          <p:cTn id="49" presetID="22" presetClass="entr" presetSubtype="1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51" dur="550"/>
                                  <p:tgtEl>
                                    <p:spTgt spid="22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180"/>
                      </p:stCondLst>
                      <p:childTnLst>
                        <p:par>
                          <p:cTn id="53" presetID="22" presetClass="entr" presetSubtype="1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55" dur="550"/>
                                  <p:tgtEl>
                                    <p:spTgt spid="23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270"/>
                      </p:stCondLst>
                      <p:childTnLst>
                        <p:par>
                          <p:cTn id="57" presetID="22" presetClass="entr" presetSubtype="1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59" dur="550"/>
                                  <p:tgtEl>
                                    <p:spTgt spid="2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360"/>
                      </p:stCondLst>
                      <p:childTnLst>
                        <p:par>
                          <p:cTn id="61" presetID="22" presetClass="entr" presetSubtype="1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63" dur="550"/>
                                  <p:tgtEl>
                                    <p:spTgt spid="2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64" fill="hold">
                      <p:stCondLst>
                        <p:cond delay="0"/>
                      </p:stCondLst>
                      <p:childTnLst>
                        <p:par>
                          <p:cTn id="65" presetID="22" presetClass="entr" presetSubtype="1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67" dur="550"/>
                                  <p:tgtEl>
                                    <p:spTgt spid="2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90"/>
                      </p:stCondLst>
                      <p:childTnLst>
                        <p:par>
                          <p:cTn id="69" presetID="22" presetClass="entr" presetSubtype="1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7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71" dur="550"/>
                                  <p:tgtEl>
                                    <p:spTgt spid="2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72" fill="hold">
                      <p:stCondLst>
                        <p:cond delay="180"/>
                      </p:stCondLst>
                      <p:childTnLst>
                        <p:par>
                          <p:cTn id="73" presetID="22" presetClass="entr" presetSubtype="1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7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75" dur="550"/>
                                  <p:tgtEl>
                                    <p:spTgt spid="2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76" fill="hold">
                      <p:stCondLst>
                        <p:cond delay="270"/>
                      </p:stCondLst>
                      <p:childTnLst>
                        <p:par>
                          <p:cTn id="77" presetID="22" presetClass="entr" presetSubtype="1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7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79" dur="550"/>
                                  <p:tgtEl>
                                    <p:spTgt spid="2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80" fill="hold">
                      <p:stCondLst>
                        <p:cond delay="360"/>
                      </p:stCondLst>
                      <p:childTnLst>
                        <p:par>
                          <p:cTn id="81" presetID="22" presetClass="entr" presetSubtype="1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8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83" dur="550"/>
                                  <p:tgtEl>
                                    <p:spTgt spid="3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48640" y="502920"/>
            <a:ext cx="640080" cy="64008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502920"/>
            <a:ext cx="6400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mbri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457200"/>
            <a:ext cx="102412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 i="0">
                <a:solidFill>
                  <a:srgbClr val="2C7A5A"/>
                </a:solidFill>
                <a:latin typeface="Calibri"/>
              </a:rPr>
              <a:t>5. SỰ CỐ TIÊU ĐIỂM</a:t>
            </a:r>
          </a:p>
          <a:p>
            <a:pPr algn="l"/>
            <a:r>
              <a:rPr sz="2700" b="1" i="0">
                <a:solidFill>
                  <a:srgbClr val="1F4E3D"/>
                </a:solidFill>
                <a:latin typeface="Cambria"/>
              </a:rPr>
              <a:t>“Sốc nhựa” khi thay thế dung môi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554480"/>
            <a:ext cx="11109960" cy="1024128"/>
          </a:xfrm>
          <a:prstGeom prst="roundRect">
            <a:avLst>
              <a:gd name="adj" fmla="val 6000"/>
            </a:avLst>
          </a:prstGeom>
          <a:solidFill>
            <a:srgbClr val="EEF4F0"/>
          </a:solidFill>
          <a:ln w="12700">
            <a:solidFill>
              <a:srgbClr val="D5E1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1554480"/>
            <a:ext cx="2331720" cy="1024128"/>
          </a:xfrm>
          <a:prstGeom prst="roundRect">
            <a:avLst>
              <a:gd name="adj" fmla="val 6000"/>
            </a:avLst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0" y="1554480"/>
            <a:ext cx="137160" cy="1024128"/>
          </a:xfrm>
          <a:prstGeom prst="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554480"/>
            <a:ext cx="2103120" cy="10241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Calibri"/>
              </a:rPr>
              <a:t>Hiện tượng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1554480"/>
            <a:ext cx="8321040" cy="10241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50" b="0" i="0">
                <a:solidFill>
                  <a:srgbClr val="222B28"/>
                </a:solidFill>
                <a:latin typeface="Calibri"/>
              </a:rPr>
              <a:t>Sơn vón cục, kết tủa; màng sơn chảy xệ khi thi công.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688336"/>
            <a:ext cx="11109960" cy="1024128"/>
          </a:xfrm>
          <a:prstGeom prst="roundRect">
            <a:avLst>
              <a:gd name="adj" fmla="val 6000"/>
            </a:avLst>
          </a:prstGeom>
          <a:solidFill>
            <a:srgbClr val="EEF4F0"/>
          </a:solidFill>
          <a:ln w="12700">
            <a:solidFill>
              <a:srgbClr val="D5E1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48640" y="2688336"/>
            <a:ext cx="2331720" cy="1024128"/>
          </a:xfrm>
          <a:prstGeom prst="roundRect">
            <a:avLst>
              <a:gd name="adj" fmla="val 6000"/>
            </a:avLst>
          </a:prstGeom>
          <a:solidFill>
            <a:srgbClr val="9A6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743200" y="2688336"/>
            <a:ext cx="137160" cy="1024128"/>
          </a:xfrm>
          <a:prstGeom prst="rect">
            <a:avLst/>
          </a:prstGeom>
          <a:solidFill>
            <a:srgbClr val="9A6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2688336"/>
            <a:ext cx="2103120" cy="10241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Calibri"/>
              </a:rPr>
              <a:t>Nguyên nhân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08960" y="2688336"/>
            <a:ext cx="8321040" cy="10241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50" b="0" i="0">
                <a:solidFill>
                  <a:srgbClr val="222B28"/>
                </a:solidFill>
                <a:latin typeface="Calibri"/>
              </a:rPr>
              <a:t>Dung môi mới có chỉ số hòa tan (Kauri-Butanol) thấp → mất cân bằng phân cực; tốc độ bay hơi chậm khiến hệ nhựa keo tụ.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3822191"/>
            <a:ext cx="11109960" cy="1024128"/>
          </a:xfrm>
          <a:prstGeom prst="roundRect">
            <a:avLst>
              <a:gd name="adj" fmla="val 6000"/>
            </a:avLst>
          </a:prstGeom>
          <a:solidFill>
            <a:srgbClr val="EEF4F0"/>
          </a:solidFill>
          <a:ln w="12700">
            <a:solidFill>
              <a:srgbClr val="D5E1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48640" y="3822191"/>
            <a:ext cx="2331720" cy="1024128"/>
          </a:xfrm>
          <a:prstGeom prst="roundRect">
            <a:avLst>
              <a:gd name="adj" fmla="val 6000"/>
            </a:avLst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743200" y="3822191"/>
            <a:ext cx="137160" cy="1024128"/>
          </a:xfrm>
          <a:prstGeom prst="rect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822191"/>
            <a:ext cx="2103120" cy="10241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Calibri"/>
              </a:rPr>
              <a:t>Xử lý tại xưởng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108960" y="3822191"/>
            <a:ext cx="8321040" cy="10241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50" b="0" i="0">
                <a:solidFill>
                  <a:srgbClr val="222B28"/>
                </a:solidFill>
                <a:latin typeface="Calibri"/>
              </a:rPr>
              <a:t>Châm bổ sung dung môi phân cực mạnh — Butyl Acetate hoặc Xylene — rồi khuấy nghiền rổ ở 1200–1500 v/p để phá vỡ keo tụ.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4956048"/>
            <a:ext cx="11109960" cy="1024128"/>
          </a:xfrm>
          <a:prstGeom prst="roundRect">
            <a:avLst>
              <a:gd name="adj" fmla="val 6000"/>
            </a:avLst>
          </a:prstGeom>
          <a:solidFill>
            <a:srgbClr val="EEF4F0"/>
          </a:solidFill>
          <a:ln w="12700">
            <a:solidFill>
              <a:srgbClr val="D5E1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48640" y="4956048"/>
            <a:ext cx="2331720" cy="1024128"/>
          </a:xfrm>
          <a:prstGeom prst="roundRect">
            <a:avLst>
              <a:gd name="adj" fmla="val 6000"/>
            </a:avLst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743200" y="4956048"/>
            <a:ext cx="137160" cy="1024128"/>
          </a:xfrm>
          <a:prstGeom prst="rect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85800" y="4956048"/>
            <a:ext cx="2103120" cy="10241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Calibri"/>
              </a:rPr>
              <a:t>Phòng ngừa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108960" y="4956048"/>
            <a:ext cx="8321040" cy="10241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50" b="0" i="0">
                <a:solidFill>
                  <a:srgbClr val="222B28"/>
                </a:solidFill>
                <a:latin typeface="Calibri"/>
              </a:rPr>
              <a:t>Kiểm tra chỉ số KB của dung môi đầu vào; thử mẻ nhỏ trước khi thay thế đại trà; hiệu chỉnh công thức theo độ hút dầu bột mới.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6199632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5C6B64"/>
                </a:solidFill>
                <a:latin typeface="Calibri"/>
              </a:rPr>
              <a:t>Ảnh thực tế mẻ sơn bị sốc nhựa sẽ được bổ sung khi chụp được tại xưởng.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972800" y="6473952"/>
            <a:ext cx="7315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2C7A5A"/>
                </a:solidFill>
                <a:latin typeface="Calibri"/>
              </a:rPr>
              <a:t>26</a:t>
            </a:r>
          </a:p>
        </p:txBody>
      </p:sp>
    </p:spTree>
  </p:cSld>
  <p:clrMapOvr>
    <a:masterClrMapping/>
  </p:clrMapOvr>
  <p:timing>
    <p:tnLst>
      <p:par>
        <p:cTn id="2" dur="indefinite" restart="never" nodeType="tmRoot">
          <p:childTnLst>
            <p:seq concurrent="1" nextAc="seek">
              <p:cTn id="3" dur="indefinite" nodeType="mainSeq">
                <p:childTnLst>
                  <p:par>
                    <p:cTn id="4" fill="hold">
                      <p:stCondLst>
                        <p:cond delay="0"/>
                      </p:stCondLst>
                      <p:childTnLst>
                        <p:par>
                          <p:cTn id="5" presetID="2" presetClass="entr" presetSubtype="4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7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ppt_x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x+-0.4"/>
                                    </p:val>
                                  </p:tav>
                                  <p:tav tm="100000">
                                    <p:val>
                                      <p:strVal val="#ppt_x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8" dur="50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90"/>
                      </p:stCondLst>
                      <p:childTnLst>
                        <p:par>
                          <p:cTn id="10" presetID="2" presetClass="entr" presetSubtype="4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12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ppt_x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x+-0.4"/>
                                    </p:val>
                                  </p:tav>
                                  <p:tav tm="100000">
                                    <p:val>
                                      <p:strVal val="#ppt_x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13" dur="50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180"/>
                      </p:stCondLst>
                      <p:childTnLst>
                        <p:par>
                          <p:cTn id="15" presetID="2" presetClass="entr" presetSubtype="4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17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ppt_x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x+-0.4"/>
                                    </p:val>
                                  </p:tav>
                                  <p:tav tm="100000">
                                    <p:val>
                                      <p:strVal val="#ppt_x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18" dur="50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270"/>
                      </p:stCondLst>
                      <p:childTnLst>
                        <p:par>
                          <p:cTn id="20" presetID="2" presetClass="entr" presetSubtype="4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22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ppt_x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x+-0.4"/>
                                    </p:val>
                                  </p:tav>
                                  <p:tav tm="100000">
                                    <p:val>
                                      <p:strVal val="#ppt_x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23" dur="50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360"/>
                      </p:stCondLst>
                      <p:childTnLst>
                        <p:par>
                          <p:cTn id="25" presetID="2" presetClass="entr" presetSubtype="4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27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ppt_x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x+-0.4"/>
                                    </p:val>
                                  </p:tav>
                                  <p:tav tm="100000">
                                    <p:val>
                                      <p:strVal val="#ppt_x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28" dur="50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0"/>
                      </p:stCondLst>
                      <p:childTnLst>
                        <p:par>
                          <p:cTn id="30" presetID="2" presetClass="entr" presetSubtype="4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32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ppt_x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x+-0.4"/>
                                    </p:val>
                                  </p:tav>
                                  <p:tav tm="100000">
                                    <p:val>
                                      <p:strVal val="#ppt_x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33" dur="50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90"/>
                      </p:stCondLst>
                      <p:childTnLst>
                        <p:par>
                          <p:cTn id="35" presetID="2" presetClass="entr" presetSubtype="4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3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37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ppt_x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x+-0.4"/>
                                    </p:val>
                                  </p:tav>
                                  <p:tav tm="100000">
                                    <p:val>
                                      <p:strVal val="#ppt_x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38" dur="50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180"/>
                      </p:stCondLst>
                      <p:childTnLst>
                        <p:par>
                          <p:cTn id="40" presetID="2" presetClass="entr" presetSubtype="4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4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42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ppt_x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x+-0.4"/>
                                    </p:val>
                                  </p:tav>
                                  <p:tav tm="100000">
                                    <p:val>
                                      <p:strVal val="#ppt_x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43" dur="50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270"/>
                      </p:stCondLst>
                      <p:childTnLst>
                        <p:par>
                          <p:cTn id="45" presetID="2" presetClass="entr" presetSubtype="4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4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47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ppt_x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x+-0.4"/>
                                    </p:val>
                                  </p:tav>
                                  <p:tav tm="100000">
                                    <p:val>
                                      <p:strVal val="#ppt_x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48" dur="50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360"/>
                      </p:stCondLst>
                      <p:childTnLst>
                        <p:par>
                          <p:cTn id="50" presetID="2" presetClass="entr" presetSubtype="4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52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ppt_x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x+-0.4"/>
                                    </p:val>
                                  </p:tav>
                                  <p:tav tm="100000">
                                    <p:val>
                                      <p:strVal val="#ppt_x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53" dur="50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0"/>
                      </p:stCondLst>
                      <p:childTnLst>
                        <p:par>
                          <p:cTn id="55" presetID="2" presetClass="entr" presetSubtype="4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57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ppt_x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x+-0.4"/>
                                    </p:val>
                                  </p:tav>
                                  <p:tav tm="100000">
                                    <p:val>
                                      <p:strVal val="#ppt_x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58" dur="50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90"/>
                      </p:stCondLst>
                      <p:childTnLst>
                        <p:par>
                          <p:cTn id="60" presetID="2" presetClass="entr" presetSubtype="4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62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ppt_x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x+-0.4"/>
                                    </p:val>
                                  </p:tav>
                                  <p:tav tm="100000">
                                    <p:val>
                                      <p:strVal val="#ppt_x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63" dur="50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64" fill="hold">
                      <p:stCondLst>
                        <p:cond delay="180"/>
                      </p:stCondLst>
                      <p:childTnLst>
                        <p:par>
                          <p:cTn id="65" presetID="2" presetClass="entr" presetSubtype="4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67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ppt_x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x+-0.4"/>
                                    </p:val>
                                  </p:tav>
                                  <p:tav tm="100000">
                                    <p:val>
                                      <p:strVal val="#ppt_x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68" dur="50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270"/>
                      </p:stCondLst>
                      <p:childTnLst>
                        <p:par>
                          <p:cTn id="70" presetID="2" presetClass="entr" presetSubtype="4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7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72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ppt_x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x+-0.4"/>
                                    </p:val>
                                  </p:tav>
                                  <p:tav tm="100000">
                                    <p:val>
                                      <p:strVal val="#ppt_x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73" dur="50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74" fill="hold">
                      <p:stCondLst>
                        <p:cond delay="360"/>
                      </p:stCondLst>
                      <p:childTnLst>
                        <p:par>
                          <p:cTn id="75" presetID="2" presetClass="entr" presetSubtype="4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7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77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0"/>
                                  </p:tgtEl>
                                  <p:attrNameLst>
                                    <p:attrName>ppt_x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x+-0.4"/>
                                    </p:val>
                                  </p:tav>
                                  <p:tav tm="100000">
                                    <p:val>
                                      <p:strVal val="#ppt_x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78" dur="500"/>
                                  <p:tgtEl>
                                    <p:spTgt spid="2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79" fill="hold">
                      <p:stCondLst>
                        <p:cond delay="0"/>
                      </p:stCondLst>
                      <p:childTnLst>
                        <p:par>
                          <p:cTn id="80" presetID="2" presetClass="entr" presetSubtype="4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8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82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ppt_x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x+-0.4"/>
                                    </p:val>
                                  </p:tav>
                                  <p:tav tm="100000">
                                    <p:val>
                                      <p:strVal val="#ppt_x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83" dur="500"/>
                                  <p:tgtEl>
                                    <p:spTgt spid="21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84" fill="hold">
                      <p:stCondLst>
                        <p:cond delay="90"/>
                      </p:stCondLst>
                      <p:childTnLst>
                        <p:par>
                          <p:cTn id="85" presetID="2" presetClass="entr" presetSubtype="4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8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87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ppt_x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x+-0.4"/>
                                    </p:val>
                                  </p:tav>
                                  <p:tav tm="100000">
                                    <p:val>
                                      <p:strVal val="#ppt_x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88" dur="500"/>
                                  <p:tgtEl>
                                    <p:spTgt spid="22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89" fill="hold">
                      <p:stCondLst>
                        <p:cond delay="180"/>
                      </p:stCondLst>
                      <p:childTnLst>
                        <p:par>
                          <p:cTn id="90" presetID="2" presetClass="entr" presetSubtype="4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9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92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3"/>
                                  </p:tgtEl>
                                  <p:attrNameLst>
                                    <p:attrName>ppt_x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x+-0.4"/>
                                    </p:val>
                                  </p:tav>
                                  <p:tav tm="100000">
                                    <p:val>
                                      <p:strVal val="#ppt_x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93" dur="500"/>
                                  <p:tgtEl>
                                    <p:spTgt spid="23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94" fill="hold">
                      <p:stCondLst>
                        <p:cond delay="270"/>
                      </p:stCondLst>
                      <p:childTnLst>
                        <p:par>
                          <p:cTn id="95" presetID="2" presetClass="entr" presetSubtype="4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9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97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4"/>
                                  </p:tgtEl>
                                  <p:attrNameLst>
                                    <p:attrName>ppt_x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x+-0.4"/>
                                    </p:val>
                                  </p:tav>
                                  <p:tav tm="100000">
                                    <p:val>
                                      <p:strVal val="#ppt_x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98" dur="500"/>
                                  <p:tgtEl>
                                    <p:spTgt spid="2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99" fill="hold">
                      <p:stCondLst>
                        <p:cond delay="360"/>
                      </p:stCondLst>
                      <p:childTnLst>
                        <p:par>
                          <p:cTn id="100" presetID="2" presetClass="entr" presetSubtype="4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0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102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5"/>
                                  </p:tgtEl>
                                  <p:attrNameLst>
                                    <p:attrName>ppt_x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x+-0.4"/>
                                    </p:val>
                                  </p:tav>
                                  <p:tav tm="100000">
                                    <p:val>
                                      <p:strVal val="#ppt_x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103" dur="500"/>
                                  <p:tgtEl>
                                    <p:spTgt spid="2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097280" y="4937760"/>
            <a:ext cx="3108960" cy="3108960"/>
          </a:xfrm>
          <a:prstGeom prst="ellipse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607040" y="-1005840"/>
            <a:ext cx="2743200" cy="2743200"/>
          </a:xfrm>
          <a:prstGeom prst="ellipse">
            <a:avLst/>
          </a:prstGeom>
          <a:solidFill>
            <a:srgbClr val="1840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68680" y="2011680"/>
            <a:ext cx="1371600" cy="1371600"/>
          </a:xfrm>
          <a:prstGeom prst="ellipse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2011680"/>
            <a:ext cx="137160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Cambria"/>
              </a:rPr>
              <a:t>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06040" y="2011680"/>
            <a:ext cx="8778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6FA287"/>
                </a:solidFill>
                <a:latin typeface="Calibri"/>
              </a:rPr>
              <a:t>PHẦN 6</a:t>
            </a:r>
          </a:p>
          <a:p>
            <a:pPr algn="l">
              <a:lnSpc>
                <a:spcPct val="102000"/>
              </a:lnSpc>
              <a:spcAft>
                <a:spcPts val="800"/>
              </a:spcAft>
            </a:pPr>
            <a:r>
              <a:rPr sz="3800" b="1" i="0">
                <a:solidFill>
                  <a:srgbClr val="FFFFFF"/>
                </a:solidFill>
                <a:latin typeface="Cambria"/>
              </a:rPr>
              <a:t>An toàn lao động &amp; môi trường</a:t>
            </a:r>
          </a:p>
          <a:p>
            <a:pPr algn="l"/>
            <a:r>
              <a:rPr sz="1500" b="0" i="0">
                <a:solidFill>
                  <a:srgbClr val="6FA287"/>
                </a:solidFill>
                <a:latin typeface="Calibri"/>
              </a:rPr>
              <a:t>PCCC · dung môi/VOC · xử lý khí thải – nước thải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818120" y="4160520"/>
            <a:ext cx="548640" cy="1417320"/>
          </a:xfrm>
          <a:prstGeom prst="roundRect">
            <a:avLst>
              <a:gd name="adj" fmla="val 12000"/>
            </a:avLst>
          </a:prstGeom>
          <a:solidFill>
            <a:srgbClr val="1F4E3D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366760" y="4306824"/>
            <a:ext cx="548640" cy="1417320"/>
          </a:xfrm>
          <a:prstGeom prst="roundRect">
            <a:avLst>
              <a:gd name="adj" fmla="val 12000"/>
            </a:avLst>
          </a:prstGeom>
          <a:solidFill>
            <a:srgbClr val="3E8C6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915400" y="4160520"/>
            <a:ext cx="548640" cy="1417320"/>
          </a:xfrm>
          <a:prstGeom prst="roundRect">
            <a:avLst>
              <a:gd name="adj" fmla="val 12000"/>
            </a:avLst>
          </a:prstGeom>
          <a:solidFill>
            <a:srgbClr val="2C7A5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9464040" y="4306824"/>
            <a:ext cx="548640" cy="1417320"/>
          </a:xfrm>
          <a:prstGeom prst="roundRect">
            <a:avLst>
              <a:gd name="adj" fmla="val 12000"/>
            </a:avLst>
          </a:prstGeom>
          <a:solidFill>
            <a:srgbClr val="1F4E3D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0012680" y="4160520"/>
            <a:ext cx="548640" cy="1417320"/>
          </a:xfrm>
          <a:prstGeom prst="roundRect">
            <a:avLst>
              <a:gd name="adj" fmla="val 12000"/>
            </a:avLst>
          </a:prstGeom>
          <a:solidFill>
            <a:srgbClr val="14332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561320" y="4306824"/>
            <a:ext cx="548640" cy="1417320"/>
          </a:xfrm>
          <a:prstGeom prst="roundRect">
            <a:avLst>
              <a:gd name="adj" fmla="val 12000"/>
            </a:avLst>
          </a:prstGeom>
          <a:solidFill>
            <a:srgbClr val="2E6E6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iming>
    <p:tnLst>
      <p:par>
        <p:cTn id="2" dur="indefinite" restart="never" nodeType="tmRoot">
          <p:childTnLst>
            <p:seq concurrent="1" nextAc="seek">
              <p:cTn id="3" dur="indefinite" nodeType="mainSeq">
                <p:childTnLst>
                  <p:par>
                    <p:cTn id="4" fill="hold">
                      <p:stCondLst>
                        <p:cond delay="0"/>
                      </p:stCondLst>
                      <p:childTnLst>
                        <p:par>
                          <p:cTn id="5" presetID="22" presetClass="entr" presetSubtype="4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7" dur="50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90"/>
                      </p:stCondLst>
                      <p:childTnLst>
                        <p:par>
                          <p:cTn id="9" presetID="22" presetClass="entr" presetSubtype="4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1" dur="50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180"/>
                      </p:stCondLst>
                      <p:childTnLst>
                        <p:par>
                          <p:cTn id="13" presetID="22" presetClass="entr" presetSubtype="4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5" dur="50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270"/>
                      </p:stCondLst>
                      <p:childTnLst>
                        <p:par>
                          <p:cTn id="17" presetID="22" presetClass="entr" presetSubtype="4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9" dur="50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360"/>
                      </p:stCondLst>
                      <p:childTnLst>
                        <p:par>
                          <p:cTn id="21" presetID="22" presetClass="entr" presetSubtype="4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3" dur="50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450"/>
                      </p:stCondLst>
                      <p:childTnLst>
                        <p:par>
                          <p:cTn id="25" presetID="22" presetClass="entr" presetSubtype="4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7" dur="50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48640" y="502920"/>
            <a:ext cx="640080" cy="64008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502920"/>
            <a:ext cx="6400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mbri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457200"/>
            <a:ext cx="102412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 i="0">
                <a:solidFill>
                  <a:srgbClr val="2C7A5A"/>
                </a:solidFill>
                <a:latin typeface="Calibri"/>
              </a:rPr>
              <a:t>6. AN TOÀN LAO ĐỘNG</a:t>
            </a:r>
          </a:p>
          <a:p>
            <a:pPr algn="l"/>
            <a:r>
              <a:rPr sz="2700" b="1" i="0">
                <a:solidFill>
                  <a:srgbClr val="1F4E3D"/>
                </a:solidFill>
                <a:latin typeface="Cambria"/>
              </a:rPr>
              <a:t>Nhận diện nguy cơ &amp; biện pháp phòng ngừa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554480"/>
            <a:ext cx="5486400" cy="2057400"/>
          </a:xfrm>
          <a:prstGeom prst="roundRect">
            <a:avLst>
              <a:gd name="adj" fmla="val 6000"/>
            </a:avLst>
          </a:prstGeom>
          <a:solidFill>
            <a:srgbClr val="EEF4F0"/>
          </a:solidFill>
          <a:ln w="12700">
            <a:solidFill>
              <a:srgbClr val="D5E1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04672" y="1810512"/>
            <a:ext cx="548640" cy="548640"/>
          </a:xfrm>
          <a:prstGeom prst="ellipse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1810512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mbria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08760" y="1810512"/>
            <a:ext cx="42976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1F4E3D"/>
                </a:solidFill>
                <a:latin typeface="Calibri"/>
              </a:rPr>
              <a:t>Cháy nổ dung môi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2468880"/>
            <a:ext cx="49377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 i="0">
                <a:solidFill>
                  <a:srgbClr val="9A661E"/>
                </a:solidFill>
                <a:latin typeface="Calibri"/>
              </a:rPr>
              <a:t>Nguy cơ: </a:t>
            </a:r>
            <a:r>
              <a:rPr sz="1300" b="0" i="0">
                <a:solidFill>
                  <a:srgbClr val="222B28"/>
                </a:solidFill>
                <a:latin typeface="Calibri"/>
              </a:rPr>
              <a:t>Dung môi hữu cơ (Xylene, Butyl Acetate) dễ bay hơi, bắt lửa.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59" y="2971800"/>
            <a:ext cx="493776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 i="0">
                <a:solidFill>
                  <a:srgbClr val="2C7A5A"/>
                </a:solidFill>
                <a:latin typeface="Calibri"/>
              </a:rPr>
              <a:t>Biện pháp: </a:t>
            </a:r>
            <a:r>
              <a:rPr sz="1300" b="0" i="0">
                <a:solidFill>
                  <a:srgbClr val="222B28"/>
                </a:solidFill>
                <a:latin typeface="Calibri"/>
              </a:rPr>
              <a:t>Khu vực chống tĩnh điện, thiết bị phòng nổ, PCCC tại chỗ, cấm nguồn nhiệt/lửa hở.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1554480"/>
            <a:ext cx="5486400" cy="2057400"/>
          </a:xfrm>
          <a:prstGeom prst="roundRect">
            <a:avLst>
              <a:gd name="adj" fmla="val 6000"/>
            </a:avLst>
          </a:prstGeom>
          <a:solidFill>
            <a:srgbClr val="EEF4F0"/>
          </a:solidFill>
          <a:ln w="12700">
            <a:solidFill>
              <a:srgbClr val="D5E1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28232" y="1810512"/>
            <a:ext cx="548640" cy="548640"/>
          </a:xfrm>
          <a:prstGeom prst="ellipse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28232" y="1810512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mbria"/>
              </a:rPr>
              <a:t/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32320" y="1810512"/>
            <a:ext cx="42976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1F4E3D"/>
                </a:solidFill>
                <a:latin typeface="Calibri"/>
              </a:rPr>
              <a:t>Hơi dung môi độc hại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46520" y="2468880"/>
            <a:ext cx="49377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 i="0">
                <a:solidFill>
                  <a:srgbClr val="9A661E"/>
                </a:solidFill>
                <a:latin typeface="Calibri"/>
              </a:rPr>
              <a:t>Nguy cơ: </a:t>
            </a:r>
            <a:r>
              <a:rPr sz="1300" b="0" i="0">
                <a:solidFill>
                  <a:srgbClr val="222B28"/>
                </a:solidFill>
                <a:latin typeface="Calibri"/>
              </a:rPr>
              <a:t>Hít hơi VOC gây hại hô hấp, thần kinh khi tiếp xúc lâu.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46520" y="2971800"/>
            <a:ext cx="493776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 i="0">
                <a:solidFill>
                  <a:srgbClr val="2C7A5A"/>
                </a:solidFill>
                <a:latin typeface="Calibri"/>
              </a:rPr>
              <a:t>Biện pháp: </a:t>
            </a:r>
            <a:r>
              <a:rPr sz="1300" b="0" i="0">
                <a:solidFill>
                  <a:srgbClr val="222B28"/>
                </a:solidFill>
                <a:latin typeface="Calibri"/>
              </a:rPr>
              <a:t>Thông gió cưỡng bức, mặt nạ phòng độc, giới hạn thời gian phơi nhiễm, quan trắc không khí.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794760"/>
            <a:ext cx="5486400" cy="2057400"/>
          </a:xfrm>
          <a:prstGeom prst="roundRect">
            <a:avLst>
              <a:gd name="adj" fmla="val 6000"/>
            </a:avLst>
          </a:prstGeom>
          <a:solidFill>
            <a:srgbClr val="EEF4F0"/>
          </a:solidFill>
          <a:ln w="12700">
            <a:solidFill>
              <a:srgbClr val="D5E1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04672" y="4050792"/>
            <a:ext cx="548640" cy="548640"/>
          </a:xfrm>
          <a:prstGeom prst="ellipse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4672" y="4050792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mbria"/>
              </a:rPr>
              <a:t/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08760" y="4050792"/>
            <a:ext cx="42976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1F4E3D"/>
                </a:solidFill>
                <a:latin typeface="Calibri"/>
              </a:rPr>
              <a:t>Hóa chất &amp; bột màu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59" y="4709160"/>
            <a:ext cx="49377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 i="0">
                <a:solidFill>
                  <a:srgbClr val="9A661E"/>
                </a:solidFill>
                <a:latin typeface="Calibri"/>
              </a:rPr>
              <a:t>Nguy cơ: </a:t>
            </a:r>
            <a:r>
              <a:rPr sz="1300" b="0" i="0">
                <a:solidFill>
                  <a:srgbClr val="222B28"/>
                </a:solidFill>
                <a:latin typeface="Calibri"/>
              </a:rPr>
              <a:t>Tiếp xúc da/mắt với hóa chất, bụi bột màu vô cơ.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59" y="5212080"/>
            <a:ext cx="493776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 i="0">
                <a:solidFill>
                  <a:srgbClr val="2C7A5A"/>
                </a:solidFill>
                <a:latin typeface="Calibri"/>
              </a:rPr>
              <a:t>Biện pháp: </a:t>
            </a:r>
            <a:r>
              <a:rPr sz="1300" b="0" i="0">
                <a:solidFill>
                  <a:srgbClr val="222B28"/>
                </a:solidFill>
                <a:latin typeface="Calibri"/>
              </a:rPr>
              <a:t>PPE đầy đủ (găng, kính, khẩu trang), rửa mắt khẩn cấp, ghi nhãn &amp; MSDS đầy đủ.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2200" y="3794760"/>
            <a:ext cx="5486400" cy="2057400"/>
          </a:xfrm>
          <a:prstGeom prst="roundRect">
            <a:avLst>
              <a:gd name="adj" fmla="val 6000"/>
            </a:avLst>
          </a:prstGeom>
          <a:solidFill>
            <a:srgbClr val="EEF4F0"/>
          </a:solidFill>
          <a:ln w="12700">
            <a:solidFill>
              <a:srgbClr val="D5E1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428232" y="4050792"/>
            <a:ext cx="548640" cy="548640"/>
          </a:xfrm>
          <a:prstGeom prst="ellipse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28232" y="4050792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mbria"/>
              </a:rPr>
              <a:t/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132320" y="4050792"/>
            <a:ext cx="42976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1F4E3D"/>
                </a:solidFill>
                <a:latin typeface="Calibri"/>
              </a:rPr>
              <a:t>Cơ khí — máy khuấy/nghiền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46520" y="4709160"/>
            <a:ext cx="49377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 i="0">
                <a:solidFill>
                  <a:srgbClr val="9A661E"/>
                </a:solidFill>
                <a:latin typeface="Calibri"/>
              </a:rPr>
              <a:t>Nguy cơ: </a:t>
            </a:r>
            <a:r>
              <a:rPr sz="1300" b="0" i="0">
                <a:solidFill>
                  <a:srgbClr val="222B28"/>
                </a:solidFill>
                <a:latin typeface="Calibri"/>
              </a:rPr>
              <a:t>Cuốn kẹt, văng bắn ở máy tốc độ cao.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46520" y="5212080"/>
            <a:ext cx="493776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 i="0">
                <a:solidFill>
                  <a:srgbClr val="2C7A5A"/>
                </a:solidFill>
                <a:latin typeface="Calibri"/>
              </a:rPr>
              <a:t>Biện pháp: </a:t>
            </a:r>
            <a:r>
              <a:rPr sz="1300" b="0" i="0">
                <a:solidFill>
                  <a:srgbClr val="222B28"/>
                </a:solidFill>
                <a:latin typeface="Calibri"/>
              </a:rPr>
              <a:t>Che chắn bộ truyền động, nút dừng khẩn, quy trình khóa–treo (LOTO) khi bảo trì.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" y="6473952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C6B64"/>
                </a:solidFill>
                <a:latin typeface="Calibri"/>
              </a:rPr>
              <a:t>Báo cáo thực tập  ·  Công ty TNHH Sơn Hải Vân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972800" y="6473952"/>
            <a:ext cx="7315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2C7A5A"/>
                </a:solidFill>
                <a:latin typeface="Calibri"/>
              </a:rPr>
              <a:t>28</a:t>
            </a:r>
          </a:p>
        </p:txBody>
      </p:sp>
      <p:pic>
        <p:nvPicPr>
          <p:cNvPr id="104" name="Picture 103" descr="flame_g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925373" y="1931213"/>
            <a:ext cx="307238" cy="307238"/>
          </a:xfrm>
          <a:prstGeom prst="rect">
            <a:avLst/>
          </a:prstGeom>
        </p:spPr>
      </p:pic>
      <p:pic>
        <p:nvPicPr>
          <p:cNvPr id="105" name="Picture 104" descr="gasmask_g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ns1:svgBlip xmlns:ns1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548933" y="1931213"/>
            <a:ext cx="307238" cy="307238"/>
          </a:xfrm>
          <a:prstGeom prst="rect">
            <a:avLst/>
          </a:prstGeom>
        </p:spPr>
      </p:pic>
      <p:pic>
        <p:nvPicPr>
          <p:cNvPr id="106" name="Picture 105" descr="chemical_glove_g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ns2:svgBlip xmlns:ns2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25373" y="4171493"/>
            <a:ext cx="307238" cy="307238"/>
          </a:xfrm>
          <a:prstGeom prst="rect">
            <a:avLst/>
          </a:prstGeom>
        </p:spPr>
      </p:pic>
      <p:pic>
        <p:nvPicPr>
          <p:cNvPr id="107" name="Picture 106" descr="gear_proc_g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ns3:svgBlip xmlns:ns3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6548933" y="4171493"/>
            <a:ext cx="307238" cy="307238"/>
          </a:xfrm>
          <a:prstGeom prst="rect">
            <a:avLst/>
          </a:prstGeom>
        </p:spPr>
      </p:pic>
      <p:pic>
        <p:nvPicPr>
          <p:cNvPr id="108" name="Picture 107" descr="image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925373" y="1931213"/>
            <a:ext cx="307238" cy="307238"/>
          </a:xfrm>
          <a:prstGeom prst="rect">
            <a:avLst/>
          </a:prstGeom>
        </p:spPr>
      </p:pic>
      <p:pic>
        <p:nvPicPr>
          <p:cNvPr id="109" name="Picture 108" descr="imag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ns1:svgBlip xmlns:ns1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548933" y="1931213"/>
            <a:ext cx="307238" cy="307238"/>
          </a:xfrm>
          <a:prstGeom prst="rect">
            <a:avLst/>
          </a:prstGeom>
        </p:spPr>
      </p:pic>
      <p:pic>
        <p:nvPicPr>
          <p:cNvPr id="110" name="Picture 109" descr="image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ns2:svgBlip xmlns:ns2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925373" y="4171493"/>
            <a:ext cx="307238" cy="307238"/>
          </a:xfrm>
          <a:prstGeom prst="rect">
            <a:avLst/>
          </a:prstGeom>
        </p:spPr>
      </p:pic>
      <p:pic>
        <p:nvPicPr>
          <p:cNvPr id="111" name="Picture 110" descr="image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ns3:svgBlip xmlns:ns3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6548933" y="4171493"/>
            <a:ext cx="307238" cy="307238"/>
          </a:xfrm>
          <a:prstGeom prst="rect">
            <a:avLst/>
          </a:prstGeom>
        </p:spPr>
      </p:pic>
      <p:pic>
        <p:nvPicPr>
          <p:cNvPr id="112" name="Picture 111" descr="image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925373" y="1931213"/>
            <a:ext cx="307238" cy="307238"/>
          </a:xfrm>
          <a:prstGeom prst="rect">
            <a:avLst/>
          </a:prstGeom>
        </p:spPr>
      </p:pic>
      <p:pic>
        <p:nvPicPr>
          <p:cNvPr id="113" name="Picture 112" descr="imag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ns1:svgBlip xmlns:ns1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548933" y="1931213"/>
            <a:ext cx="307238" cy="307238"/>
          </a:xfrm>
          <a:prstGeom prst="rect">
            <a:avLst/>
          </a:prstGeom>
        </p:spPr>
      </p:pic>
      <p:pic>
        <p:nvPicPr>
          <p:cNvPr id="114" name="Picture 113" descr="image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ns2:svgBlip xmlns:ns2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925373" y="4171493"/>
            <a:ext cx="307238" cy="307238"/>
          </a:xfrm>
          <a:prstGeom prst="rect">
            <a:avLst/>
          </a:prstGeom>
        </p:spPr>
      </p:pic>
      <p:pic>
        <p:nvPicPr>
          <p:cNvPr id="115" name="Picture 114" descr="image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ns3:svgBlip xmlns:ns3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6548933" y="4171493"/>
            <a:ext cx="307238" cy="307238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2" dur="indefinite" restart="never" nodeType="tmRoot">
          <p:childTnLst>
            <p:seq concurrent="1" nextAc="seek">
              <p:cTn id="3" dur="indefinite" nodeType="mainSeq">
                <p:childTnLst>
                  <p:par>
                    <p:cTn id="4" fill="hold">
                      <p:stCondLst>
                        <p:cond delay="0"/>
                      </p:stCondLst>
                      <p:childTnLst>
                        <p:par>
                          <p:cTn id="5" presetID="47" presetClass="entr" presetSubtype="8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7" dur="55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y+0.12"/>
                                    </p:val>
                                  </p:tav>
                                  <p:tav tm="100000">
                                    <p:val>
                                      <p:strVal val="#ppt_y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8" dur="5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90"/>
                      </p:stCondLst>
                      <p:childTnLst>
                        <p:par>
                          <p:cTn id="10" presetID="47" presetClass="entr" presetSubtype="8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12" dur="55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y+0.12"/>
                                    </p:val>
                                  </p:tav>
                                  <p:tav tm="100000">
                                    <p:val>
                                      <p:strVal val="#ppt_y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13" dur="5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180"/>
                      </p:stCondLst>
                      <p:childTnLst>
                        <p:par>
                          <p:cTn id="15" presetID="47" presetClass="entr" presetSubtype="8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17" dur="55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y+0.12"/>
                                    </p:val>
                                  </p:tav>
                                  <p:tav tm="100000">
                                    <p:val>
                                      <p:strVal val="#ppt_y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18" dur="5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270"/>
                      </p:stCondLst>
                      <p:childTnLst>
                        <p:par>
                          <p:cTn id="20" presetID="47" presetClass="entr" presetSubtype="8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22" dur="55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y+0.12"/>
                                    </p:val>
                                  </p:tav>
                                  <p:tav tm="100000">
                                    <p:val>
                                      <p:strVal val="#ppt_y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23" dur="5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360"/>
                      </p:stCondLst>
                      <p:childTnLst>
                        <p:par>
                          <p:cTn id="25" presetID="47" presetClass="entr" presetSubtype="8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27" dur="55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y+0.12"/>
                                    </p:val>
                                  </p:tav>
                                  <p:tav tm="100000">
                                    <p:val>
                                      <p:strVal val="#ppt_y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28" dur="5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0"/>
                      </p:stCondLst>
                      <p:childTnLst>
                        <p:par>
                          <p:cTn id="30" presetID="47" presetClass="entr" presetSubtype="8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32" dur="55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y+0.12"/>
                                    </p:val>
                                  </p:tav>
                                  <p:tav tm="100000">
                                    <p:val>
                                      <p:strVal val="#ppt_y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33" dur="5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90"/>
                      </p:stCondLst>
                      <p:childTnLst>
                        <p:par>
                          <p:cTn id="35" presetID="47" presetClass="entr" presetSubtype="8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3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37" dur="55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y+0.12"/>
                                    </p:val>
                                  </p:tav>
                                  <p:tav tm="100000">
                                    <p:val>
                                      <p:strVal val="#ppt_y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38" dur="5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180"/>
                      </p:stCondLst>
                      <p:childTnLst>
                        <p:par>
                          <p:cTn id="40" presetID="47" presetClass="entr" presetSubtype="8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4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42" dur="55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y+0.12"/>
                                    </p:val>
                                  </p:tav>
                                  <p:tav tm="100000">
                                    <p:val>
                                      <p:strVal val="#ppt_y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43" dur="5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270"/>
                      </p:stCondLst>
                      <p:childTnLst>
                        <p:par>
                          <p:cTn id="45" presetID="47" presetClass="entr" presetSubtype="8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4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47" dur="55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y+0.12"/>
                                    </p:val>
                                  </p:tav>
                                  <p:tav tm="100000">
                                    <p:val>
                                      <p:strVal val="#ppt_y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48" dur="5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360"/>
                      </p:stCondLst>
                      <p:childTnLst>
                        <p:par>
                          <p:cTn id="50" presetID="47" presetClass="entr" presetSubtype="8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52" dur="55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y+0.12"/>
                                    </p:val>
                                  </p:tav>
                                  <p:tav tm="100000">
                                    <p:val>
                                      <p:strVal val="#ppt_y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53" dur="55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0"/>
                      </p:stCondLst>
                      <p:childTnLst>
                        <p:par>
                          <p:cTn id="55" presetID="47" presetClass="entr" presetSubtype="8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57" dur="55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y+0.12"/>
                                    </p:val>
                                  </p:tav>
                                  <p:tav tm="100000">
                                    <p:val>
                                      <p:strVal val="#ppt_y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58" dur="55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90"/>
                      </p:stCondLst>
                      <p:childTnLst>
                        <p:par>
                          <p:cTn id="60" presetID="47" presetClass="entr" presetSubtype="8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62" dur="55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y+0.12"/>
                                    </p:val>
                                  </p:tav>
                                  <p:tav tm="100000">
                                    <p:val>
                                      <p:strVal val="#ppt_y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63" dur="55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64" fill="hold">
                      <p:stCondLst>
                        <p:cond delay="180"/>
                      </p:stCondLst>
                      <p:childTnLst>
                        <p:par>
                          <p:cTn id="65" presetID="47" presetClass="entr" presetSubtype="8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67" dur="55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y+0.12"/>
                                    </p:val>
                                  </p:tav>
                                  <p:tav tm="100000">
                                    <p:val>
                                      <p:strVal val="#ppt_y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68" dur="550"/>
                                  <p:tgtEl>
                                    <p:spTgt spid="21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270"/>
                      </p:stCondLst>
                      <p:childTnLst>
                        <p:par>
                          <p:cTn id="70" presetID="47" presetClass="entr" presetSubtype="8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7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72" dur="55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y+0.12"/>
                                    </p:val>
                                  </p:tav>
                                  <p:tav tm="100000">
                                    <p:val>
                                      <p:strVal val="#ppt_y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73" dur="550"/>
                                  <p:tgtEl>
                                    <p:spTgt spid="22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74" fill="hold">
                      <p:stCondLst>
                        <p:cond delay="360"/>
                      </p:stCondLst>
                      <p:childTnLst>
                        <p:par>
                          <p:cTn id="75" presetID="47" presetClass="entr" presetSubtype="8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7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77" dur="55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3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y+0.12"/>
                                    </p:val>
                                  </p:tav>
                                  <p:tav tm="100000">
                                    <p:val>
                                      <p:strVal val="#ppt_y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78" dur="550"/>
                                  <p:tgtEl>
                                    <p:spTgt spid="23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79" fill="hold">
                      <p:stCondLst>
                        <p:cond delay="0"/>
                      </p:stCondLst>
                      <p:childTnLst>
                        <p:par>
                          <p:cTn id="80" presetID="47" presetClass="entr" presetSubtype="8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8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82" dur="55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4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y+0.12"/>
                                    </p:val>
                                  </p:tav>
                                  <p:tav tm="100000">
                                    <p:val>
                                      <p:strVal val="#ppt_y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83" dur="550"/>
                                  <p:tgtEl>
                                    <p:spTgt spid="2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84" fill="hold">
                      <p:stCondLst>
                        <p:cond delay="90"/>
                      </p:stCondLst>
                      <p:childTnLst>
                        <p:par>
                          <p:cTn id="85" presetID="47" presetClass="entr" presetSubtype="8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8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87" dur="55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5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y+0.12"/>
                                    </p:val>
                                  </p:tav>
                                  <p:tav tm="100000">
                                    <p:val>
                                      <p:strVal val="#ppt_y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88" dur="550"/>
                                  <p:tgtEl>
                                    <p:spTgt spid="2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89" fill="hold">
                      <p:stCondLst>
                        <p:cond delay="180"/>
                      </p:stCondLst>
                      <p:childTnLst>
                        <p:par>
                          <p:cTn id="90" presetID="47" presetClass="entr" presetSubtype="8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9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92" dur="55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7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y+0.12"/>
                                    </p:val>
                                  </p:tav>
                                  <p:tav tm="100000">
                                    <p:val>
                                      <p:strVal val="#ppt_y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93" dur="550"/>
                                  <p:tgtEl>
                                    <p:spTgt spid="2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94" fill="hold">
                      <p:stCondLst>
                        <p:cond delay="270"/>
                      </p:stCondLst>
                      <p:childTnLst>
                        <p:par>
                          <p:cTn id="95" presetID="47" presetClass="entr" presetSubtype="8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9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97" dur="55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8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y+0.12"/>
                                    </p:val>
                                  </p:tav>
                                  <p:tav tm="100000">
                                    <p:val>
                                      <p:strVal val="#ppt_y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98" dur="550"/>
                                  <p:tgtEl>
                                    <p:spTgt spid="2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99" fill="hold">
                      <p:stCondLst>
                        <p:cond delay="360"/>
                      </p:stCondLst>
                      <p:childTnLst>
                        <p:par>
                          <p:cTn id="100" presetID="47" presetClass="entr" presetSubtype="8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0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102" dur="55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9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y+0.12"/>
                                    </p:val>
                                  </p:tav>
                                  <p:tav tm="100000">
                                    <p:val>
                                      <p:strVal val="#ppt_y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103" dur="550"/>
                                  <p:tgtEl>
                                    <p:spTgt spid="2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48640" y="502920"/>
            <a:ext cx="640080" cy="64008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502920"/>
            <a:ext cx="6400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mbri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457200"/>
            <a:ext cx="102412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 i="0">
                <a:solidFill>
                  <a:srgbClr val="2C7A5A"/>
                </a:solidFill>
                <a:latin typeface="Calibri"/>
              </a:rPr>
              <a:t>6. VẤN ĐỀ MÔI TRƯỜNG</a:t>
            </a:r>
          </a:p>
          <a:p>
            <a:pPr algn="l"/>
            <a:r>
              <a:rPr sz="2700" b="1" i="0">
                <a:solidFill>
                  <a:srgbClr val="1F4E3D"/>
                </a:solidFill>
                <a:latin typeface="Cambria"/>
              </a:rPr>
              <a:t>Kiểm soát chất thải trong sản xuất sơn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554480"/>
            <a:ext cx="11109960" cy="1371600"/>
          </a:xfrm>
          <a:prstGeom prst="roundRect">
            <a:avLst>
              <a:gd name="adj" fmla="val 6000"/>
            </a:avLst>
          </a:prstGeom>
          <a:solidFill>
            <a:srgbClr val="EEF4F0"/>
          </a:solidFill>
          <a:ln w="12700">
            <a:solidFill>
              <a:srgbClr val="D5E1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1554480"/>
            <a:ext cx="2880360" cy="1371600"/>
          </a:xfrm>
          <a:prstGeom prst="roundRect">
            <a:avLst>
              <a:gd name="adj" fmla="val 6000"/>
            </a:avLst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91840" y="1554480"/>
            <a:ext cx="137160" cy="1371600"/>
          </a:xfrm>
          <a:prstGeom prst="rect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591520" y="1664207"/>
            <a:ext cx="746040" cy="1152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450" b="1" i="0">
                <a:solidFill>
                  <a:srgbClr val="FFFFFF"/>
                </a:solidFill>
                <a:latin typeface="Calibri"/>
              </a:rPr>
              <a:t>Khí thải — hơi VOC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11880" y="1682495"/>
            <a:ext cx="7863840" cy="1152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350" b="1" i="0">
                <a:solidFill>
                  <a:srgbClr val="2C7A5A"/>
                </a:solidFill>
                <a:latin typeface="Calibri"/>
              </a:rPr>
              <a:t>Nguồn phát sinh: </a:t>
            </a:r>
            <a:r>
              <a:rPr sz="1350" b="0" i="0">
                <a:solidFill>
                  <a:srgbClr val="222B28"/>
                </a:solidFill>
                <a:latin typeface="Calibri"/>
              </a:rPr>
              <a:t>Hơi dung môi hữu cơ phát sinh khi đánh paste, pha loãng, vệ sinh thiết bị.</a:t>
            </a:r>
          </a:p>
          <a:p>
            <a:pPr algn="l">
              <a:lnSpc>
                <a:spcPct val="105000"/>
              </a:lnSpc>
            </a:pPr>
            <a:r>
              <a:rPr sz="1350" b="1" i="0">
                <a:solidFill>
                  <a:srgbClr val="2C7A5A"/>
                </a:solidFill>
                <a:latin typeface="Calibri"/>
              </a:rPr>
              <a:t>Giải pháp: </a:t>
            </a:r>
            <a:r>
              <a:rPr sz="1350" b="0" i="0">
                <a:solidFill>
                  <a:srgbClr val="222B28"/>
                </a:solidFill>
                <a:latin typeface="Calibri"/>
              </a:rPr>
              <a:t>Thu gom qua chụp hút → xử lý bằng than hoạt tính / buồng đốt; hướng dùng sơn hệ nước &amp; rắn cao (high-solid) để giảm VOC.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035808"/>
            <a:ext cx="11109960" cy="1371600"/>
          </a:xfrm>
          <a:prstGeom prst="roundRect">
            <a:avLst>
              <a:gd name="adj" fmla="val 6000"/>
            </a:avLst>
          </a:prstGeom>
          <a:solidFill>
            <a:srgbClr val="EEF4F0"/>
          </a:solidFill>
          <a:ln w="12700">
            <a:solidFill>
              <a:srgbClr val="D5E1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48640" y="3035808"/>
            <a:ext cx="2880360" cy="1371600"/>
          </a:xfrm>
          <a:prstGeom prst="roundRect">
            <a:avLst>
              <a:gd name="adj" fmla="val 6000"/>
            </a:avLst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291840" y="3035808"/>
            <a:ext cx="137160" cy="1371600"/>
          </a:xfrm>
          <a:prstGeom prst="rect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591520" y="3145536"/>
            <a:ext cx="746040" cy="1152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450" b="1" i="0">
                <a:solidFill>
                  <a:srgbClr val="FFFFFF"/>
                </a:solidFill>
                <a:latin typeface="Calibri"/>
              </a:rPr>
              <a:t>Nước thải &amp; dung môi thải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11880" y="3163824"/>
            <a:ext cx="7863840" cy="1152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350" b="1" i="0">
                <a:solidFill>
                  <a:srgbClr val="1F4E3D"/>
                </a:solidFill>
                <a:latin typeface="Calibri"/>
              </a:rPr>
              <a:t>Nguồn phát sinh: </a:t>
            </a:r>
            <a:r>
              <a:rPr sz="1350" b="0" i="0">
                <a:solidFill>
                  <a:srgbClr val="222B28"/>
                </a:solidFill>
                <a:latin typeface="Calibri"/>
              </a:rPr>
              <a:t>Nước rửa thiết bị, cặn sơn, dung môi bẩn sau vệ sinh.</a:t>
            </a:r>
          </a:p>
          <a:p>
            <a:pPr algn="l">
              <a:lnSpc>
                <a:spcPct val="105000"/>
              </a:lnSpc>
            </a:pPr>
            <a:r>
              <a:rPr sz="1350" b="1" i="0">
                <a:solidFill>
                  <a:srgbClr val="2C7A5A"/>
                </a:solidFill>
                <a:latin typeface="Calibri"/>
              </a:rPr>
              <a:t>Giải pháp: </a:t>
            </a:r>
            <a:r>
              <a:rPr sz="1350" b="0" i="0">
                <a:solidFill>
                  <a:srgbClr val="222B28"/>
                </a:solidFill>
                <a:latin typeface="Calibri"/>
              </a:rPr>
              <a:t>Lắng – tách cặn, thu hồi dung môi tái chưng cất; cặn sơn xử lý như chất thải nguy hại theo quy định.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517136"/>
            <a:ext cx="11109960" cy="1371600"/>
          </a:xfrm>
          <a:prstGeom prst="roundRect">
            <a:avLst>
              <a:gd name="adj" fmla="val 6000"/>
            </a:avLst>
          </a:prstGeom>
          <a:solidFill>
            <a:srgbClr val="EEF4F0"/>
          </a:solidFill>
          <a:ln w="12700">
            <a:solidFill>
              <a:srgbClr val="D5E1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48640" y="4517136"/>
            <a:ext cx="2880360" cy="1371600"/>
          </a:xfrm>
          <a:prstGeom prst="roundRect">
            <a:avLst>
              <a:gd name="adj" fmla="val 6000"/>
            </a:avLst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291840" y="4517136"/>
            <a:ext cx="137160" cy="1371600"/>
          </a:xfrm>
          <a:prstGeom prst="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591520" y="4626864"/>
            <a:ext cx="746040" cy="1152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450" b="1" i="0">
                <a:solidFill>
                  <a:srgbClr val="FFFFFF"/>
                </a:solidFill>
                <a:latin typeface="Calibri"/>
              </a:rPr>
              <a:t>Chất thải rắn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11880" y="4645152"/>
            <a:ext cx="7863840" cy="1152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350" b="1" i="0">
                <a:solidFill>
                  <a:srgbClr val="C88A2E"/>
                </a:solidFill>
                <a:latin typeface="Calibri"/>
              </a:rPr>
              <a:t>Nguồn phát sinh: </a:t>
            </a:r>
            <a:r>
              <a:rPr sz="1350" b="0" i="0">
                <a:solidFill>
                  <a:srgbClr val="222B28"/>
                </a:solidFill>
                <a:latin typeface="Calibri"/>
              </a:rPr>
              <a:t>Bao bì hóa chất, cặn bột màu, giẻ lau dính sơn/dung môi.</a:t>
            </a:r>
          </a:p>
          <a:p>
            <a:pPr algn="l">
              <a:lnSpc>
                <a:spcPct val="105000"/>
              </a:lnSpc>
            </a:pPr>
            <a:r>
              <a:rPr sz="1350" b="1" i="0">
                <a:solidFill>
                  <a:srgbClr val="2C7A5A"/>
                </a:solidFill>
                <a:latin typeface="Calibri"/>
              </a:rPr>
              <a:t>Giải pháp: </a:t>
            </a:r>
            <a:r>
              <a:rPr sz="1350" b="0" i="0">
                <a:solidFill>
                  <a:srgbClr val="222B28"/>
                </a:solidFill>
                <a:latin typeface="Calibri"/>
              </a:rPr>
              <a:t>Phân loại tại nguồn, lưu kho chất thải nguy hại, hợp đồng đơn vị có chức năng thu gom – xử lý.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6144768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5C6B64"/>
                </a:solidFill>
                <a:latin typeface="Calibri"/>
              </a:rPr>
              <a:t>Tuân thủ QCVN về khí thải / nước thải công nghiệp và Luật Bảo vệ môi trường; hướng bền vững là giảm dung môi, tăng sơn hệ nước.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72800" y="6473952"/>
            <a:ext cx="7315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2C7A5A"/>
                </a:solidFill>
                <a:latin typeface="Calibri"/>
              </a:rPr>
              <a:t>29</a:t>
            </a:r>
          </a:p>
        </p:txBody>
      </p:sp>
      <p:pic>
        <p:nvPicPr>
          <p:cNvPr id="64" name="Picture 63" descr="smoke_air_w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98640" y="2000280"/>
            <a:ext cx="480000" cy="480000"/>
          </a:xfrm>
          <a:prstGeom prst="rect">
            <a:avLst/>
          </a:prstGeom>
        </p:spPr>
      </p:pic>
      <p:pic>
        <p:nvPicPr>
          <p:cNvPr id="65" name="Picture 64" descr="water_waste_w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ns1:svgBlip xmlns:ns1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98640" y="3481608"/>
            <a:ext cx="480000" cy="480000"/>
          </a:xfrm>
          <a:prstGeom prst="rect">
            <a:avLst/>
          </a:prstGeom>
        </p:spPr>
      </p:pic>
      <p:pic>
        <p:nvPicPr>
          <p:cNvPr id="66" name="Picture 65" descr="solid_waste_w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ns2:svgBlip xmlns:ns2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98640" y="4962936"/>
            <a:ext cx="480000" cy="480000"/>
          </a:xfrm>
          <a:prstGeom prst="rect">
            <a:avLst/>
          </a:prstGeom>
        </p:spPr>
      </p:pic>
      <p:pic>
        <p:nvPicPr>
          <p:cNvPr id="67" name="Picture 66" descr="image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98640" y="2000280"/>
            <a:ext cx="480000" cy="480000"/>
          </a:xfrm>
          <a:prstGeom prst="rect">
            <a:avLst/>
          </a:prstGeom>
        </p:spPr>
      </p:pic>
      <p:pic>
        <p:nvPicPr>
          <p:cNvPr id="68" name="Picture 67" descr="imag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ns1:svgBlip xmlns:ns1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698640" y="3481608"/>
            <a:ext cx="480000" cy="480000"/>
          </a:xfrm>
          <a:prstGeom prst="rect">
            <a:avLst/>
          </a:prstGeom>
        </p:spPr>
      </p:pic>
      <p:pic>
        <p:nvPicPr>
          <p:cNvPr id="69" name="Picture 68" descr="image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ns2:svgBlip xmlns:ns2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698640" y="4962936"/>
            <a:ext cx="480000" cy="480000"/>
          </a:xfrm>
          <a:prstGeom prst="rect">
            <a:avLst/>
          </a:prstGeom>
        </p:spPr>
      </p:pic>
      <p:pic>
        <p:nvPicPr>
          <p:cNvPr id="70" name="Picture 69" descr="image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698640" y="2000280"/>
            <a:ext cx="480000" cy="480000"/>
          </a:xfrm>
          <a:prstGeom prst="rect">
            <a:avLst/>
          </a:prstGeom>
        </p:spPr>
      </p:pic>
      <p:pic>
        <p:nvPicPr>
          <p:cNvPr id="71" name="Picture 70" descr="imag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ns1:svgBlip xmlns:ns1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698640" y="3481608"/>
            <a:ext cx="480000" cy="480000"/>
          </a:xfrm>
          <a:prstGeom prst="rect">
            <a:avLst/>
          </a:prstGeom>
        </p:spPr>
      </p:pic>
      <p:pic>
        <p:nvPicPr>
          <p:cNvPr id="72" name="Picture 71" descr="image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ns2:svgBlip xmlns:ns2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98640" y="4962936"/>
            <a:ext cx="480000" cy="4800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2" dur="indefinite" restart="never" nodeType="tmRoot">
          <p:childTnLst>
            <p:seq concurrent="1" nextAc="seek">
              <p:cTn id="3" dur="indefinite" nodeType="mainSeq">
                <p:childTnLst>
                  <p:par>
                    <p:cTn id="4" fill="hold">
                      <p:stCondLst>
                        <p:cond delay="0"/>
                      </p:stCondLst>
                      <p:childTnLst>
                        <p:par>
                          <p:cTn id="5" presetID="22" presetClass="entr" presetSubtype="1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7" dur="5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90"/>
                      </p:stCondLst>
                      <p:childTnLst>
                        <p:par>
                          <p:cTn id="9" presetID="22" presetClass="entr" presetSubtype="1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1" dur="5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180"/>
                      </p:stCondLst>
                      <p:childTnLst>
                        <p:par>
                          <p:cTn id="13" presetID="22" presetClass="entr" presetSubtype="1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5" dur="5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270"/>
                      </p:stCondLst>
                      <p:childTnLst>
                        <p:par>
                          <p:cTn id="17" presetID="22" presetClass="entr" presetSubtype="1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9" dur="5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360"/>
                      </p:stCondLst>
                      <p:childTnLst>
                        <p:par>
                          <p:cTn id="21" presetID="22" presetClass="entr" presetSubtype="1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3" dur="5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0"/>
                      </p:stCondLst>
                      <p:childTnLst>
                        <p:par>
                          <p:cTn id="25" presetID="22" presetClass="entr" presetSubtype="1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7" dur="5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90"/>
                      </p:stCondLst>
                      <p:childTnLst>
                        <p:par>
                          <p:cTn id="29" presetID="22" presetClass="entr" presetSubtype="1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31" dur="5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180"/>
                      </p:stCondLst>
                      <p:childTnLst>
                        <p:par>
                          <p:cTn id="33" presetID="22" presetClass="entr" presetSubtype="1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3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35" dur="5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270"/>
                      </p:stCondLst>
                      <p:childTnLst>
                        <p:par>
                          <p:cTn id="37" presetID="22" presetClass="entr" presetSubtype="1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3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39" dur="5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360"/>
                      </p:stCondLst>
                      <p:childTnLst>
                        <p:par>
                          <p:cTn id="41" presetID="22" presetClass="entr" presetSubtype="1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4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43" dur="5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0"/>
                      </p:stCondLst>
                      <p:childTnLst>
                        <p:par>
                          <p:cTn id="45" presetID="22" presetClass="entr" presetSubtype="1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4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47" dur="5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90"/>
                      </p:stCondLst>
                      <p:childTnLst>
                        <p:par>
                          <p:cTn id="49" presetID="22" presetClass="entr" presetSubtype="1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51" dur="55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180"/>
                      </p:stCondLst>
                      <p:childTnLst>
                        <p:par>
                          <p:cTn id="53" presetID="22" presetClass="entr" presetSubtype="1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55" dur="55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270"/>
                      </p:stCondLst>
                      <p:childTnLst>
                        <p:par>
                          <p:cTn id="57" presetID="22" presetClass="entr" presetSubtype="1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59" dur="55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360"/>
                      </p:stCondLst>
                      <p:childTnLst>
                        <p:par>
                          <p:cTn id="61" presetID="22" presetClass="entr" presetSubtype="1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63" dur="550"/>
                                  <p:tgtEl>
                                    <p:spTgt spid="2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424160" y="5120640"/>
            <a:ext cx="2743200" cy="2743200"/>
          </a:xfrm>
          <a:prstGeom prst="ellipse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914400" y="-914400"/>
            <a:ext cx="2377440" cy="2377440"/>
          </a:xfrm>
          <a:prstGeom prst="ellipse">
            <a:avLst/>
          </a:prstGeom>
          <a:solidFill>
            <a:srgbClr val="1840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77724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C88A2E"/>
                </a:solidFill>
                <a:latin typeface="Calibri"/>
              </a:rPr>
              <a:t>KẾT LUẬN &amp; KIẾN NGHỊ</a:t>
            </a:r>
          </a:p>
          <a:p>
            <a:pPr algn="l"/>
            <a:r>
              <a:rPr sz="3400" b="1" i="0">
                <a:solidFill>
                  <a:srgbClr val="FFFFFF"/>
                </a:solidFill>
                <a:latin typeface="Cambria"/>
              </a:rPr>
              <a:t>Tổng kết đợt thực tập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011680"/>
            <a:ext cx="10515600" cy="1234440"/>
          </a:xfrm>
          <a:prstGeom prst="roundRect">
            <a:avLst>
              <a:gd name="adj" fmla="val 6000"/>
            </a:avLst>
          </a:prstGeom>
          <a:solidFill>
            <a:srgbClr val="1840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51560" y="2331720"/>
            <a:ext cx="594360" cy="594360"/>
          </a:xfrm>
          <a:prstGeom prst="ellipse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331720"/>
            <a:ext cx="594360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mbria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2176272"/>
            <a:ext cx="923544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 i="0">
                <a:solidFill>
                  <a:srgbClr val="F2C96B"/>
                </a:solidFill>
                <a:latin typeface="Calibri"/>
              </a:rPr>
              <a:t>Kết quả đạt được</a:t>
            </a:r>
          </a:p>
          <a:p>
            <a:pPr algn="l">
              <a:lnSpc>
                <a:spcPct val="108000"/>
              </a:lnSpc>
            </a:pPr>
            <a:r>
              <a:rPr sz="1400" b="0" i="0">
                <a:solidFill>
                  <a:srgbClr val="ECF3EE"/>
                </a:solidFill>
                <a:latin typeface="Calibri"/>
              </a:rPr>
              <a:t>Nắm vững quy trình công nghệ sản xuất sơn, hệ tiêu chuẩn kiểm soát chất lượng (QC) và cách vận hành thiết bị chính tại nhà máy.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3383280"/>
            <a:ext cx="10515600" cy="1234440"/>
          </a:xfrm>
          <a:prstGeom prst="roundRect">
            <a:avLst>
              <a:gd name="adj" fmla="val 6000"/>
            </a:avLst>
          </a:prstGeom>
          <a:solidFill>
            <a:srgbClr val="1840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51560" y="3703320"/>
            <a:ext cx="594360" cy="594360"/>
          </a:xfrm>
          <a:prstGeom prst="ellipse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1560" y="3703320"/>
            <a:ext cx="594360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mbria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3547872"/>
            <a:ext cx="923544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 i="0">
                <a:solidFill>
                  <a:srgbClr val="F2C96B"/>
                </a:solidFill>
                <a:latin typeface="Calibri"/>
              </a:rPr>
              <a:t>Kiến nghị 1 — Số hóa màu sắc</a:t>
            </a:r>
          </a:p>
          <a:p>
            <a:pPr algn="l">
              <a:lnSpc>
                <a:spcPct val="108000"/>
              </a:lnSpc>
            </a:pPr>
            <a:r>
              <a:rPr sz="1400" b="0" i="0">
                <a:solidFill>
                  <a:srgbClr val="ECF3EE"/>
                </a:solidFill>
                <a:latin typeface="Calibri"/>
              </a:rPr>
              <a:t>Xây dựng thư viện màu chuẩn điện tử thay cho việc chỉ lưu mẫu chuẩn vật lý, giảm sai lệch giữa các mẻ.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4754880"/>
            <a:ext cx="10515600" cy="1234440"/>
          </a:xfrm>
          <a:prstGeom prst="roundRect">
            <a:avLst>
              <a:gd name="adj" fmla="val 6000"/>
            </a:avLst>
          </a:prstGeom>
          <a:solidFill>
            <a:srgbClr val="1840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051560" y="5074920"/>
            <a:ext cx="594360" cy="594360"/>
          </a:xfrm>
          <a:prstGeom prst="ellipse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51560" y="5074920"/>
            <a:ext cx="594360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mbria"/>
              </a:rPr>
              <a:t/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74519" y="4919472"/>
            <a:ext cx="923544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 i="0">
                <a:solidFill>
                  <a:srgbClr val="F2C96B"/>
                </a:solidFill>
                <a:latin typeface="Calibri"/>
              </a:rPr>
              <a:t>Kiến nghị 2 — Truy xuất nguồn gốc</a:t>
            </a:r>
          </a:p>
          <a:p>
            <a:pPr algn="l">
              <a:lnSpc>
                <a:spcPct val="108000"/>
              </a:lnSpc>
            </a:pPr>
            <a:r>
              <a:rPr sz="1400" b="0" i="0">
                <a:solidFill>
                  <a:srgbClr val="ECF3EE"/>
                </a:solidFill>
                <a:latin typeface="Calibri"/>
              </a:rPr>
              <a:t>Gắn QR Code / Barcode cho từng mẻ sơn, liên kết dữ liệu máy đo màu, độ mịn và nguyên liệu đầu vào.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626364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50" b="1" i="1">
                <a:solidFill>
                  <a:srgbClr val="FFFFFF"/>
                </a:solidFill>
                <a:latin typeface="Calibri"/>
              </a:rPr>
              <a:t>Xin chân thành cảm ơn quý thầy cô và Công ty TNHH Sơn Hải Vân đã hướng dẫn!</a:t>
            </a:r>
          </a:p>
        </p:txBody>
      </p:sp>
      <p:pic>
        <p:nvPicPr>
          <p:cNvPr id="49" name="Picture 48" descr="grad_check_g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182320" y="2462480"/>
            <a:ext cx="332841" cy="332841"/>
          </a:xfrm>
          <a:prstGeom prst="rect">
            <a:avLst/>
          </a:prstGeom>
        </p:spPr>
      </p:pic>
      <p:pic>
        <p:nvPicPr>
          <p:cNvPr id="50" name="Picture 49" descr="palette_g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ns1:svgBlip xmlns:ns1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182320" y="3834080"/>
            <a:ext cx="332841" cy="332841"/>
          </a:xfrm>
          <a:prstGeom prst="rect">
            <a:avLst/>
          </a:prstGeom>
        </p:spPr>
      </p:pic>
      <p:pic>
        <p:nvPicPr>
          <p:cNvPr id="51" name="Picture 50" descr="qr_code_g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ns2:svgBlip xmlns:ns2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182320" y="5205680"/>
            <a:ext cx="332841" cy="332841"/>
          </a:xfrm>
          <a:prstGeom prst="rect">
            <a:avLst/>
          </a:prstGeom>
        </p:spPr>
      </p:pic>
      <p:pic>
        <p:nvPicPr>
          <p:cNvPr id="52" name="Picture 51" descr="image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82320" y="2462480"/>
            <a:ext cx="332841" cy="332841"/>
          </a:xfrm>
          <a:prstGeom prst="rect">
            <a:avLst/>
          </a:prstGeom>
        </p:spPr>
      </p:pic>
      <p:pic>
        <p:nvPicPr>
          <p:cNvPr id="53" name="Picture 52" descr="imag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ns1:svgBlip xmlns:ns1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1182320" y="3834080"/>
            <a:ext cx="332841" cy="332841"/>
          </a:xfrm>
          <a:prstGeom prst="rect">
            <a:avLst/>
          </a:prstGeom>
        </p:spPr>
      </p:pic>
      <p:pic>
        <p:nvPicPr>
          <p:cNvPr id="54" name="Picture 53" descr="image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ns2:svgBlip xmlns:ns2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82320" y="5205680"/>
            <a:ext cx="332841" cy="332841"/>
          </a:xfrm>
          <a:prstGeom prst="rect">
            <a:avLst/>
          </a:prstGeom>
        </p:spPr>
      </p:pic>
      <p:pic>
        <p:nvPicPr>
          <p:cNvPr id="55" name="Picture 54" descr="image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1182320" y="2462480"/>
            <a:ext cx="332841" cy="332841"/>
          </a:xfrm>
          <a:prstGeom prst="rect">
            <a:avLst/>
          </a:prstGeom>
        </p:spPr>
      </p:pic>
      <p:pic>
        <p:nvPicPr>
          <p:cNvPr id="56" name="Picture 55" descr="imag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ns1:svgBlip xmlns:ns1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82320" y="3834080"/>
            <a:ext cx="332841" cy="332841"/>
          </a:xfrm>
          <a:prstGeom prst="rect">
            <a:avLst/>
          </a:prstGeom>
        </p:spPr>
      </p:pic>
      <p:pic>
        <p:nvPicPr>
          <p:cNvPr id="57" name="Picture 56" descr="image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ns2:svgBlip xmlns:ns2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1182320" y="5205680"/>
            <a:ext cx="332841" cy="332841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2" dur="indefinite" restart="never" nodeType="tmRoot">
          <p:childTnLst>
            <p:seq concurrent="1" nextAc="seek">
              <p:cTn id="3" dur="indefinite" nodeType="mainSeq">
                <p:childTnLst>
                  <p:par>
                    <p:cTn id="4" fill="hold">
                      <p:stCondLst>
                        <p:cond delay="0"/>
                      </p:stCondLst>
                      <p:childTnLst>
                        <p:par>
                          <p:cTn id="5" presetID="47" presetClass="entr" presetSubtype="8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7" dur="55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y+0.12"/>
                                    </p:val>
                                  </p:tav>
                                  <p:tav tm="100000">
                                    <p:val>
                                      <p:strVal val="#ppt_y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8" dur="5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90"/>
                      </p:stCondLst>
                      <p:childTnLst>
                        <p:par>
                          <p:cTn id="10" presetID="47" presetClass="entr" presetSubtype="8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12" dur="55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y+0.12"/>
                                    </p:val>
                                  </p:tav>
                                  <p:tav tm="100000">
                                    <p:val>
                                      <p:strVal val="#ppt_y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13" dur="5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180"/>
                      </p:stCondLst>
                      <p:childTnLst>
                        <p:par>
                          <p:cTn id="15" presetID="47" presetClass="entr" presetSubtype="8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17" dur="55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y+0.12"/>
                                    </p:val>
                                  </p:tav>
                                  <p:tav tm="100000">
                                    <p:val>
                                      <p:strVal val="#ppt_y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18" dur="5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0"/>
                      </p:stCondLst>
                      <p:childTnLst>
                        <p:par>
                          <p:cTn id="20" presetID="47" presetClass="entr" presetSubtype="8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22" dur="55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y+0.12"/>
                                    </p:val>
                                  </p:tav>
                                  <p:tav tm="100000">
                                    <p:val>
                                      <p:strVal val="#ppt_y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23" dur="5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90"/>
                      </p:stCondLst>
                      <p:childTnLst>
                        <p:par>
                          <p:cTn id="25" presetID="47" presetClass="entr" presetSubtype="8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27" dur="55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y+0.12"/>
                                    </p:val>
                                  </p:tav>
                                  <p:tav tm="100000">
                                    <p:val>
                                      <p:strVal val="#ppt_y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28" dur="5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180"/>
                      </p:stCondLst>
                      <p:childTnLst>
                        <p:par>
                          <p:cTn id="30" presetID="47" presetClass="entr" presetSubtype="8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32" dur="55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y+0.12"/>
                                    </p:val>
                                  </p:tav>
                                  <p:tav tm="100000">
                                    <p:val>
                                      <p:strVal val="#ppt_y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33" dur="5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0"/>
                      </p:stCondLst>
                      <p:childTnLst>
                        <p:par>
                          <p:cTn id="35" presetID="47" presetClass="entr" presetSubtype="8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3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37" dur="55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y+0.12"/>
                                    </p:val>
                                  </p:tav>
                                  <p:tav tm="100000">
                                    <p:val>
                                      <p:strVal val="#ppt_y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38" dur="5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90"/>
                      </p:stCondLst>
                      <p:childTnLst>
                        <p:par>
                          <p:cTn id="40" presetID="47" presetClass="entr" presetSubtype="8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4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42" dur="55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y+0.12"/>
                                    </p:val>
                                  </p:tav>
                                  <p:tav tm="100000">
                                    <p:val>
                                      <p:strVal val="#ppt_y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43" dur="5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180"/>
                      </p:stCondLst>
                      <p:childTnLst>
                        <p:par>
                          <p:cTn id="45" presetID="47" presetClass="entr" presetSubtype="8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4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47" dur="55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y+0.12"/>
                                    </p:val>
                                  </p:tav>
                                  <p:tav tm="100000">
                                    <p:val>
                                      <p:strVal val="#ppt_y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48" dur="55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48640" y="502920"/>
            <a:ext cx="640080" cy="64008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4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440000"/>
            <a:ext cx="9500000" cy="36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50" b="1" i="0">
                <a:solidFill>
                  <a:srgbClr val="C88A2E"/>
                </a:solidFill>
              </a:rPr>
              <a:t>1. TỔNG QUAN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760000"/>
            <a:ext cx="103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4E3D"/>
                </a:solidFill>
              </a:rPr>
              <a:t>Chặng đường phát triển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80000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 i="0">
                <a:solidFill>
                  <a:srgbClr val="6E7F77"/>
                </a:solidFill>
              </a:rPr>
              <a:t>Báo cáo thực tập  ·  Công ty TNHH Sơn Hải Vân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00000" y="6473952"/>
            <a:ext cx="6500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 i="0">
                <a:solidFill>
                  <a:srgbClr val="6E7F77"/>
                </a:solidFill>
              </a:rPr>
              <a:t>5</a:t>
            </a:r>
          </a:p>
        </p:txBody>
      </p:sp>
      <p:pic>
        <p:nvPicPr>
          <p:cNvPr id="8" name="Picture 7" descr="big_timeline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95847" y="1780000"/>
            <a:ext cx="10200000" cy="412340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00000" y="5450000"/>
            <a:ext cx="10800000" cy="36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0" i="1">
                <a:solidFill>
                  <a:srgbClr val="6E7F77"/>
                </a:solidFill>
              </a:rPr>
              <a:t>Từ khởi đầu 2008 đến doanh nghiệp sản xuất sơn bảo vệ chuyên dụng hiện nay.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48640" y="502920"/>
            <a:ext cx="640080" cy="64008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4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440000"/>
            <a:ext cx="9500000" cy="36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50" b="1" i="0">
                <a:solidFill>
                  <a:srgbClr val="C88A2E"/>
                </a:solidFill>
              </a:rPr>
              <a:t>2. NGUYÊN VẬT LIỆU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760000"/>
            <a:ext cx="103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4E3D"/>
                </a:solidFill>
              </a:rPr>
              <a:t>Tỉ lệ thành phần một công thức sơn điển hình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80000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 i="0">
                <a:solidFill>
                  <a:srgbClr val="6E7F77"/>
                </a:solidFill>
              </a:rPr>
              <a:t>Báo cáo thực tập  ·  Công ty TNHH Sơn Hải Vân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00000" y="6473952"/>
            <a:ext cx="6500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 i="0">
                <a:solidFill>
                  <a:srgbClr val="6E7F77"/>
                </a:solidFill>
              </a:rPr>
              <a:t>9</a:t>
            </a:r>
          </a:p>
        </p:txBody>
      </p:sp>
      <p:pic>
        <p:nvPicPr>
          <p:cNvPr id="8" name="Picture 7" descr="big_doughnut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270847" y="1780000"/>
            <a:ext cx="7650000" cy="4250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00000" y="6080000"/>
            <a:ext cx="10800000" cy="36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0" i="1">
                <a:solidFill>
                  <a:srgbClr val="6E7F77"/>
                </a:solidFill>
              </a:rPr>
              <a:t>Tỉ lệ minh họa — thay đổi theo loại sơn; sơn tàu biển giàu nhựa &amp; bột độn chống ăn mòn hơn.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48640" y="502920"/>
            <a:ext cx="640080" cy="64008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4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440000"/>
            <a:ext cx="9500000" cy="36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50" b="1" i="0">
                <a:solidFill>
                  <a:srgbClr val="C88A2E"/>
                </a:solidFill>
              </a:rPr>
              <a:t>3. QUY TRÌNH CÔNG NGHỆ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760000"/>
            <a:ext cx="103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4E3D"/>
                </a:solidFill>
              </a:rPr>
              <a:t>Thời gian tương đối giữa các công đoạn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80000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 i="0">
                <a:solidFill>
                  <a:srgbClr val="6E7F77"/>
                </a:solidFill>
              </a:rPr>
              <a:t>Báo cáo thực tập  ·  Công ty TNHH Sơn Hải Vân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00000" y="6473952"/>
            <a:ext cx="6500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 i="0">
                <a:solidFill>
                  <a:srgbClr val="6E7F77"/>
                </a:solidFill>
              </a:rPr>
              <a:t>15</a:t>
            </a:r>
          </a:p>
        </p:txBody>
      </p:sp>
      <p:pic>
        <p:nvPicPr>
          <p:cNvPr id="8" name="Picture 7" descr="big_columns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862247" y="1780000"/>
            <a:ext cx="8467200" cy="432000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48640" y="502920"/>
            <a:ext cx="640080" cy="64008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400" b="1" i="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440000"/>
            <a:ext cx="9500000" cy="36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50" b="1" i="0">
                <a:solidFill>
                  <a:srgbClr val="C88A2E"/>
                </a:solidFill>
              </a:rPr>
              <a:t>4. KIỂM SOÁT CHẤT LƯỢNG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760000"/>
            <a:ext cx="103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4E3D"/>
                </a:solidFill>
              </a:rPr>
              <a:t>Sơn tàu biển vs sơn trang trí — theo tiêu chí KCS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80000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 i="0">
                <a:solidFill>
                  <a:srgbClr val="6E7F77"/>
                </a:solidFill>
              </a:rPr>
              <a:t>Báo cáo thực tập  ·  Công ty TNHH Sơn Hải Vân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00000" y="6473952"/>
            <a:ext cx="6500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 i="0">
                <a:solidFill>
                  <a:srgbClr val="6E7F77"/>
                </a:solidFill>
              </a:rPr>
              <a:t>22</a:t>
            </a:r>
          </a:p>
        </p:txBody>
      </p:sp>
      <p:pic>
        <p:nvPicPr>
          <p:cNvPr id="8" name="Picture 7" descr="big_radar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963035" y="1780000"/>
            <a:ext cx="4265625" cy="455000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48640" y="502920"/>
            <a:ext cx="640080" cy="64008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4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440000"/>
            <a:ext cx="9500000" cy="36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50" b="1" i="0">
                <a:solidFill>
                  <a:srgbClr val="C88A2E"/>
                </a:solidFill>
              </a:rPr>
              <a:t>3. THIẾT BỊ SẢN XUẤT CHÍNH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760000"/>
            <a:ext cx="103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4E3D"/>
                </a:solidFill>
              </a:rPr>
              <a:t>Máy đánh paste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80000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 i="0">
                <a:solidFill>
                  <a:srgbClr val="6E7F77"/>
                </a:solidFill>
              </a:rPr>
              <a:t>Báo cáo thực tập  ·  Công ty TNHH Sơn Hải Vân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00000" y="6473952"/>
            <a:ext cx="6500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 i="0">
                <a:solidFill>
                  <a:srgbClr val="6E7F77"/>
                </a:solidFill>
              </a:rPr>
              <a:t>16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700000" y="820000"/>
            <a:ext cx="1900000" cy="470000"/>
          </a:xfrm>
          <a:prstGeom prst="round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Mã: ĐP01B</a:t>
            </a:r>
          </a:p>
        </p:txBody>
      </p:sp>
      <p:pic>
        <p:nvPicPr>
          <p:cNvPr id="9" name="Picture 8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820000"/>
            <a:ext cx="4950000" cy="5658407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5900000" y="1820000"/>
            <a:ext cx="5750000" cy="1230000"/>
          </a:xfrm>
          <a:prstGeom prst="roundRect">
            <a:avLst/>
          </a:prstGeom>
          <a:solidFill>
            <a:srgbClr val="EE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900000" y="1820000"/>
            <a:ext cx="70000" cy="1230000"/>
          </a:xfrm>
          <a:prstGeom prst="roundRect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40000" y="1940000"/>
            <a:ext cx="5310000" cy="10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500" b="1" i="0">
                <a:solidFill>
                  <a:srgbClr val="1F4E3D"/>
                </a:solidFill>
              </a:rPr>
              <a:t>Cấu tạo</a:t>
            </a:r>
          </a:p>
          <a:p>
            <a:r>
              <a:rPr sz="1450" b="0" i="0">
                <a:solidFill>
                  <a:srgbClr val="34404A"/>
                </a:solidFill>
              </a:rPr>
              <a:t>Động cơ 5–20 HP, trục &amp; cánh khuấy inox 304, bồn chứa inox.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00000" y="3200000"/>
            <a:ext cx="5750000" cy="1230000"/>
          </a:xfrm>
          <a:prstGeom prst="roundRect">
            <a:avLst/>
          </a:prstGeom>
          <a:solidFill>
            <a:srgbClr val="EE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900000" y="3200000"/>
            <a:ext cx="70000" cy="1230000"/>
          </a:xfrm>
          <a:prstGeom prst="roundRect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40000" y="3320000"/>
            <a:ext cx="5310000" cy="10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500" b="1" i="0">
                <a:solidFill>
                  <a:srgbClr val="1F4E3D"/>
                </a:solidFill>
              </a:rPr>
              <a:t>Nguyên lý</a:t>
            </a:r>
          </a:p>
          <a:p>
            <a:r>
              <a:rPr sz="1450" b="0" i="0">
                <a:solidFill>
                  <a:srgbClr val="34404A"/>
                </a:solidFill>
              </a:rPr>
              <a:t>Quay 900–1200 v/p tạo lực cắt, phân tán bột màu / bột độn vào nhựa.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900000" y="4580000"/>
            <a:ext cx="5750000" cy="1230000"/>
          </a:xfrm>
          <a:prstGeom prst="roundRect">
            <a:avLst/>
          </a:prstGeom>
          <a:solidFill>
            <a:srgbClr val="EE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900000" y="4580000"/>
            <a:ext cx="70000" cy="1230000"/>
          </a:xfrm>
          <a:prstGeom prst="roundRect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140000" y="4700000"/>
            <a:ext cx="5310000" cy="10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500" b="1" i="0">
                <a:solidFill>
                  <a:srgbClr val="1F4E3D"/>
                </a:solidFill>
              </a:rPr>
              <a:t>Thao tác</a:t>
            </a:r>
          </a:p>
          <a:p>
            <a:r>
              <a:rPr sz="1450" b="0" i="0">
                <a:solidFill>
                  <a:srgbClr val="34404A"/>
                </a:solidFill>
              </a:rPr>
              <a:t>Hạ cánh khuấy ngập paste, tăng tốc dần, kiểm soát nhiệt độ mẻ.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48640" y="502920"/>
            <a:ext cx="640080" cy="64008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4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440000"/>
            <a:ext cx="9500000" cy="36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50" b="1" i="0">
                <a:solidFill>
                  <a:srgbClr val="C88A2E"/>
                </a:solidFill>
              </a:rPr>
              <a:t>3. THIẾT BỊ SẢN XUẤT CHÍNH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760000"/>
            <a:ext cx="103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4E3D"/>
                </a:solidFill>
              </a:rPr>
              <a:t>Máy nghiền mịn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80000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 i="0">
                <a:solidFill>
                  <a:srgbClr val="6E7F77"/>
                </a:solidFill>
              </a:rPr>
              <a:t>Báo cáo thực tập  ·  Công ty TNHH Sơn Hải Vân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00000" y="6473952"/>
            <a:ext cx="6500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 i="0">
                <a:solidFill>
                  <a:srgbClr val="6E7F77"/>
                </a:solidFill>
              </a:rPr>
              <a:t>17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700000" y="820000"/>
            <a:ext cx="1900000" cy="470000"/>
          </a:xfrm>
          <a:prstGeom prst="round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Mã: NM06</a:t>
            </a:r>
          </a:p>
        </p:txBody>
      </p:sp>
      <p:pic>
        <p:nvPicPr>
          <p:cNvPr id="9" name="Picture 8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50000" y="2009565"/>
            <a:ext cx="4900000" cy="382087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905000" y="2050000"/>
            <a:ext cx="30000" cy="2500000"/>
          </a:xfrm>
          <a:prstGeom prst="rect">
            <a:avLst/>
          </a:prstGeom>
          <a:solidFill>
            <a:srgbClr val="B9D8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00000" y="1900000"/>
            <a:ext cx="440000" cy="440000"/>
          </a:xfrm>
          <a:prstGeom prst="ellipse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7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00000" y="1840000"/>
            <a:ext cx="5200000" cy="11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50" b="1" i="0">
                <a:solidFill>
                  <a:srgbClr val="1F4E3D"/>
                </a:solidFill>
              </a:rPr>
              <a:t>Cấu tạo</a:t>
            </a:r>
          </a:p>
          <a:p>
            <a:r>
              <a:rPr sz="1450" b="0" i="0">
                <a:solidFill>
                  <a:srgbClr val="34404A"/>
                </a:solidFill>
              </a:rPr>
              <a:t>Động cơ 30–60 HP, rổ nghiền inox chứa bi sứ / thủy tinh.</a:t>
            </a:r>
          </a:p>
        </p:txBody>
      </p:sp>
      <p:sp>
        <p:nvSpPr>
          <p:cNvPr id="13" name="Oval 12"/>
          <p:cNvSpPr/>
          <p:nvPr/>
        </p:nvSpPr>
        <p:spPr>
          <a:xfrm>
            <a:off x="700000" y="3190000"/>
            <a:ext cx="440000" cy="440000"/>
          </a:xfrm>
          <a:prstGeom prst="ellipse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7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00000" y="3130000"/>
            <a:ext cx="5200000" cy="11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50" b="1" i="0">
                <a:solidFill>
                  <a:srgbClr val="1F4E3D"/>
                </a:solidFill>
              </a:rPr>
              <a:t>Nguyên lý</a:t>
            </a:r>
          </a:p>
          <a:p>
            <a:r>
              <a:rPr sz="1450" b="0" i="0">
                <a:solidFill>
                  <a:srgbClr val="34404A"/>
                </a:solidFill>
              </a:rPr>
              <a:t>Va đập và ma sát của bi nghiền, giảm kích thước hạt xuống 10–20 µm.</a:t>
            </a:r>
          </a:p>
        </p:txBody>
      </p:sp>
      <p:sp>
        <p:nvSpPr>
          <p:cNvPr id="15" name="Oval 14"/>
          <p:cNvSpPr/>
          <p:nvPr/>
        </p:nvSpPr>
        <p:spPr>
          <a:xfrm>
            <a:off x="700000" y="4480000"/>
            <a:ext cx="440000" cy="440000"/>
          </a:xfrm>
          <a:prstGeom prst="ellipse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7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00000" y="4420000"/>
            <a:ext cx="5200000" cy="11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50" b="1" i="0">
                <a:solidFill>
                  <a:srgbClr val="1F4E3D"/>
                </a:solidFill>
              </a:rPr>
              <a:t>Thao tác</a:t>
            </a:r>
          </a:p>
          <a:p>
            <a:r>
              <a:rPr sz="1450" b="0" i="0">
                <a:solidFill>
                  <a:srgbClr val="34404A"/>
                </a:solidFill>
              </a:rPr>
              <a:t>Tuần hoàn paste qua rổ nghiền đến khi đạt độ mịn Hegman chuẩn.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48640" y="502920"/>
            <a:ext cx="640080" cy="64008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4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440000"/>
            <a:ext cx="9500000" cy="36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50" b="1" i="0">
                <a:solidFill>
                  <a:srgbClr val="C88A2E"/>
                </a:solidFill>
              </a:rPr>
              <a:t>3. THIẾT BỊ SẢN XUẤT CHÍNH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760000"/>
            <a:ext cx="103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4E3D"/>
                </a:solidFill>
              </a:rPr>
              <a:t>Máy pha loãng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80000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 i="0">
                <a:solidFill>
                  <a:srgbClr val="6E7F77"/>
                </a:solidFill>
              </a:rPr>
              <a:t>Báo cáo thực tập  ·  Công ty TNHH Sơn Hải Vân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00000" y="6473952"/>
            <a:ext cx="6500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 i="0">
                <a:solidFill>
                  <a:srgbClr val="6E7F77"/>
                </a:solidFill>
              </a:rPr>
              <a:t>18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700000" y="820000"/>
            <a:ext cx="1900000" cy="470000"/>
          </a:xfrm>
          <a:prstGeom prst="round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Mã: PL01–03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620000" y="1900000"/>
            <a:ext cx="5030000" cy="3450000"/>
          </a:xfrm>
          <a:prstGeom prst="roundRect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20000" y="2080000"/>
            <a:ext cx="4630000" cy="346816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60000" y="1780000"/>
            <a:ext cx="5600000" cy="43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 i="0">
                <a:solidFill>
                  <a:srgbClr val="C88A2E"/>
                </a:solidFill>
              </a:rPr>
              <a:t>Thông số kỹ thuật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2320000"/>
            <a:ext cx="5750000" cy="1120000"/>
          </a:xfrm>
          <a:prstGeom prst="roundRect">
            <a:avLst/>
          </a:prstGeom>
          <a:solidFill>
            <a:srgbClr val="EE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8640" y="2410000"/>
            <a:ext cx="5270000" cy="95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50" b="1" i="0">
                <a:solidFill>
                  <a:srgbClr val="1F4E3D"/>
                </a:solidFill>
              </a:rPr>
              <a:t>Cấu tạo</a:t>
            </a:r>
          </a:p>
          <a:p>
            <a:r>
              <a:rPr sz="1400" b="0" i="0">
                <a:solidFill>
                  <a:srgbClr val="34404A"/>
                </a:solidFill>
              </a:rPr>
              <a:t>Bồn inox, cánh khuấy thủy lực 4 cánh, van xả đáy hình côn.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570000"/>
            <a:ext cx="5750000" cy="1120000"/>
          </a:xfrm>
          <a:prstGeom prst="roundRect">
            <a:avLst/>
          </a:prstGeom>
          <a:solidFill>
            <a:srgbClr val="E4EE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8640" y="3660000"/>
            <a:ext cx="5270000" cy="95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50" b="1" i="0">
                <a:solidFill>
                  <a:srgbClr val="1F4E3D"/>
                </a:solidFill>
              </a:rPr>
              <a:t>Nguyên lý</a:t>
            </a:r>
          </a:p>
          <a:p>
            <a:r>
              <a:rPr sz="1400" b="0" i="0">
                <a:solidFill>
                  <a:srgbClr val="34404A"/>
                </a:solidFill>
              </a:rPr>
              <a:t>Khuấy tạo dòng đối lưu, chỉnh độ nhớt bằng dung môi.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820000"/>
            <a:ext cx="5750000" cy="1120000"/>
          </a:xfrm>
          <a:prstGeom prst="roundRect">
            <a:avLst/>
          </a:prstGeom>
          <a:solidFill>
            <a:srgbClr val="EE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8640" y="4910000"/>
            <a:ext cx="5270000" cy="95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50" b="1" i="0">
                <a:solidFill>
                  <a:srgbClr val="1F4E3D"/>
                </a:solidFill>
              </a:rPr>
              <a:t>Thao tác</a:t>
            </a:r>
          </a:p>
          <a:p>
            <a:r>
              <a:rPr sz="1400" b="0" i="0">
                <a:solidFill>
                  <a:srgbClr val="34404A"/>
                </a:solidFill>
              </a:rPr>
              <a:t>Bổ sung dung môi từ từ, đo KU đến khi đạt thông số đích.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