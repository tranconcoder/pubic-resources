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eco_mol_white.svg"/><Relationship Id="rId7" Type="http://schemas.openxmlformats.org/officeDocument/2006/relationships/image" Target="../media/ic_divbg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c_company_w.svg"/><Relationship Id="rId6" Type="http://schemas.openxmlformats.org/officeDocument/2006/relationships/image" Target="../media/ic_deco_drip_white.svg"/><Relationship Id="rId7" Type="http://schemas.openxmlformats.org/officeDocument/2006/relationships/image" Target="../media/ic_divbg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c_brush_amber.svg"/><Relationship Id="rId9" Type="http://schemas.openxmlformats.org/officeDocument/2006/relationships/image" Target="../media/ic_factory_w.svg"/><Relationship Id="rId10" Type="http://schemas.openxmlformats.org/officeDocument/2006/relationships/image" Target="../media/ic_hex_pale.svg"/><Relationship Id="rId11" Type="http://schemas.openxmlformats.org/officeDocument/2006/relationships/image" Target="../media/ic_history_clock_w.svg"/><Relationship Id="rId12" Type="http://schemas.openxmlformats.org/officeDocument/2006/relationships/image" Target="../media/ic_swash_pale.svg"/><Relationship Id="rId13" Type="http://schemas.openxmlformats.org/officeDocument/2006/relationships/image" Target="../media/ic_target_w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6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ivbg.svg"/><Relationship Id="rId7" Type="http://schemas.openxmlformats.org/officeDocument/2006/relationships/image" Target="../media/ic_materials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7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8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c_brush_amber.svg"/><Relationship Id="rId6" Type="http://schemas.openxmlformats.org/officeDocument/2006/relationships/image" Target="../media/ic_hex_pale.svg"/><Relationship Id="rId7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ivbg.svg"/><Relationship Id="rId7" Type="http://schemas.openxmlformats.org/officeDocument/2006/relationships/image" Target="../media/ic_gear_proc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8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9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0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1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ivbg.svg"/><Relationship Id="rId7" Type="http://schemas.openxmlformats.org/officeDocument/2006/relationships/image" Target="../media/ic_quality_check_w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topwatch_w.svg"/><Relationship Id="rId9" Type="http://schemas.openxmlformats.org/officeDocument/2006/relationships/image" Target="../media/ic_swash_pale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3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swash_pale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4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5.png"/><Relationship Id="rId6" Type="http://schemas.openxmlformats.org/officeDocument/2006/relationships/image" Target="../media/image10.png"/><Relationship Id="rId7" Type="http://schemas.openxmlformats.org/officeDocument/2006/relationships/image" Target="../media/image33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microscope_w.svg"/><Relationship Id="rId12" Type="http://schemas.openxmlformats.org/officeDocument/2006/relationships/image" Target="../media/ic_quality_check_w.svg"/><Relationship Id="rId13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ivbg.svg"/><Relationship Id="rId7" Type="http://schemas.openxmlformats.org/officeDocument/2006/relationships/image" Target="../media/ic_warning_tri_w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ivbg.svg"/><Relationship Id="rId7" Type="http://schemas.openxmlformats.org/officeDocument/2006/relationships/image" Target="../media/ic_safety_shield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c_brush_amber.svg"/><Relationship Id="rId8" Type="http://schemas.openxmlformats.org/officeDocument/2006/relationships/image" Target="../media/ic_flame_w.svg"/><Relationship Id="rId9" Type="http://schemas.openxmlformats.org/officeDocument/2006/relationships/image" Target="../media/ic_gasmask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1.png"/><Relationship Id="rId6" Type="http://schemas.openxmlformats.org/officeDocument/2006/relationships/image" Target="../media/image9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smoke_air_w.svg"/><Relationship Id="rId11" Type="http://schemas.openxmlformats.org/officeDocument/2006/relationships/image" Target="../media/ic_solid_waste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ter_waste_w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c_deco_drip_white.svg"/><Relationship Id="rId6" Type="http://schemas.openxmlformats.org/officeDocument/2006/relationships/image" Target="../media/ic_deco_mol_white.svg"/><Relationship Id="rId7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5550000"/>
            <a:ext cx="720000" cy="96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1979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9400" y="2068400"/>
            <a:ext cx="268200" cy="268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67000" y="183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Tổng quan về công ty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2724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9400" y="2813400"/>
            <a:ext cx="268200" cy="268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67000" y="257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Nguyên vật liệu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3469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49400" y="3558400"/>
            <a:ext cx="268200" cy="268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7000" y="332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Quy trình công nghệ &amp; thiết bị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4214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9400" y="4303400"/>
            <a:ext cx="268200" cy="268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67000" y="406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Kiểm soát chất lượng (KCS)</a:t>
            </a:r>
          </a:p>
        </p:txBody>
      </p:sp>
      <p:sp>
        <p:nvSpPr>
          <p:cNvPr id="24" name="Oval 23"/>
          <p:cNvSpPr/>
          <p:nvPr/>
        </p:nvSpPr>
        <p:spPr>
          <a:xfrm>
            <a:off x="660000" y="4959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49400" y="5048400"/>
            <a:ext cx="268200" cy="268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7000" y="481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Những sự cố thường gặp</a:t>
            </a:r>
          </a:p>
        </p:txBody>
      </p:sp>
      <p:sp>
        <p:nvSpPr>
          <p:cNvPr id="27" name="Oval 26"/>
          <p:cNvSpPr/>
          <p:nvPr/>
        </p:nvSpPr>
        <p:spPr>
          <a:xfrm>
            <a:off x="660000" y="5704000"/>
            <a:ext cx="447000" cy="447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9400" y="5793400"/>
            <a:ext cx="268200" cy="268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7000" y="555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Sản xuất sơn công nghiệp &amp; tàu biển</a:t>
            </a:r>
          </a:p>
          <a:p>
            <a:r>
              <a:rPr sz="2000" b="0" i="0">
                <a:solidFill>
                  <a:srgbClr val="34404A"/>
                </a:solidFill>
              </a:rPr>
              <a:t>Chuyên dụng bảo vệ chống ăn mòn, chống cháy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Thành lập 2008 · sản xuất từ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 Hồ Chí Minh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Doanh nghiệp vừa (SME) · mô hình B2B</a:t>
            </a:r>
          </a:p>
          <a:p>
            <a:r>
              <a:rPr sz="2000" b="0" i="0">
                <a:solidFill>
                  <a:srgbClr val="34404A"/>
                </a:solidFill>
              </a:rPr>
              <a:t>Một nhà máy sản xuất đặt tại Long 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8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18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1109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1109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41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1109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52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1 ·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2 ·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3 ·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4 · 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5 ·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6 ·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opwatch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22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Độ bám dính (Pull-off)</a:t>
            </a:r>
          </a:p>
          <a:p>
            <a:r>
              <a:rPr sz="2000" b="0" i="0">
                <a:solidFill>
                  <a:srgbClr val="34404A"/>
                </a:solidFill>
              </a:rPr>
              <a:t>ISO 4624 / ASTM D4541 — 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Phun sương muối 1000 giờ</a:t>
            </a:r>
          </a:p>
          <a:p>
            <a:r>
              <a:rPr sz="2000" b="0" i="0">
                <a:solidFill>
                  <a:srgbClr val="34404A"/>
                </a:solidFill>
              </a:rPr>
              <a:t>NaCl 5% ở 35°C — mô phỏng khí hậu biển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Lão hóa nhanh QUV</a:t>
            </a:r>
          </a:p>
          <a:p>
            <a:r>
              <a:rPr sz="2000" b="0" i="0">
                <a:solidFill>
                  <a:srgbClr val="34404A"/>
                </a:solidFill>
              </a:rPr>
              <a:t>Chu trình UV-A / UV-B — phấn hóa, phai màu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sơn (MPa)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Kiểm tra độ mịn hạt sau nghiền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 của màng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56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2692000"/>
            <a:ext cx="396000" cy="39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48640" y="183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Sốc nhựa — vón cục, kết tủa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dung môi mới có chỉ số KB thấp</a:t>
            </a:r>
          </a:p>
          <a:p>
            <a:r>
              <a:rPr sz="2000" b="0" i="0">
                <a:solidFill>
                  <a:srgbClr val="34404A"/>
                </a:solidFill>
              </a:rPr>
              <a:t>Xử lý: châm dung môi phân cực + khuấy nghiền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18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640" y="491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5042000"/>
            <a:ext cx="396000" cy="39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48640" y="418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Chảy xệ màng khi thi công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dung môi bay hơi chậm, KB lệch</a:t>
            </a:r>
          </a:p>
          <a:p>
            <a:r>
              <a:rPr sz="2000" b="0" i="0">
                <a:solidFill>
                  <a:srgbClr val="34404A"/>
                </a:solidFill>
              </a:rPr>
              <a:t>Xử lý: hiệu chỉnh hệ dung môi, kiểm độ nhớt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56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2692000"/>
            <a:ext cx="396000" cy="39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48640" y="183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Lắng cứng đáy bồn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độ hút dầu bột mới vượt PVC</a:t>
            </a:r>
          </a:p>
          <a:p>
            <a:r>
              <a:rPr sz="2000" b="0" i="0">
                <a:solidFill>
                  <a:srgbClr val="34404A"/>
                </a:solidFill>
              </a:rPr>
              <a:t>Xử lý: tính lại tỉ lệ, thêm chất chống lắng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18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640" y="4910000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0640" y="5042000"/>
            <a:ext cx="396000" cy="39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48640" y="4180000"/>
            <a:ext cx="9130000" cy="2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Mất bóng / nứt giòn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vượt PVC, thiếu nhựa liên kết</a:t>
            </a:r>
          </a:p>
          <a:p>
            <a:r>
              <a:rPr sz="2000" b="0" i="0">
                <a:solidFill>
                  <a:srgbClr val="34404A"/>
                </a:solidFill>
              </a:rPr>
              <a:t>Xử lý: cân đối PVC, tăng chất tạo màng dẻo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0000" y="4820000"/>
            <a:ext cx="880000" cy="118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168333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oke_air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0640" y="2300333"/>
            <a:ext cx="396000" cy="39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48640" y="1830000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Thu qua chụp hút → than hoạt tính / buồng đốt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640" y="3734999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ater_w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80640" y="3866999"/>
            <a:ext cx="396000" cy="39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48640" y="3396666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5301665"/>
            <a:ext cx="660000" cy="6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lid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0640" y="5433665"/>
            <a:ext cx="396000" cy="39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848640" y="4963332"/>
            <a:ext cx="913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hợp đồng đơn vị xử lý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pic>
        <p:nvPicPr>
          <p:cNvPr id="6" name="Picture 5" descr="deco_drip_whit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900000"/>
            <a:ext cx="1000000" cy="133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